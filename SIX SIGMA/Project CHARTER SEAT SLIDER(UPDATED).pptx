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3.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Lst>
  <p:notesMasterIdLst>
    <p:notesMasterId r:id="rId35"/>
  </p:notesMasterIdLst>
  <p:handoutMasterIdLst>
    <p:handoutMasterId r:id="rId36"/>
  </p:handoutMasterIdLst>
  <p:sldIdLst>
    <p:sldId id="257" r:id="rId5"/>
    <p:sldId id="258" r:id="rId6"/>
    <p:sldId id="260" r:id="rId7"/>
    <p:sldId id="324" r:id="rId8"/>
    <p:sldId id="334" r:id="rId9"/>
    <p:sldId id="331" r:id="rId10"/>
    <p:sldId id="335" r:id="rId11"/>
    <p:sldId id="332" r:id="rId12"/>
    <p:sldId id="336" r:id="rId13"/>
    <p:sldId id="1638" r:id="rId14"/>
    <p:sldId id="337" r:id="rId15"/>
    <p:sldId id="338" r:id="rId16"/>
    <p:sldId id="340" r:id="rId17"/>
    <p:sldId id="341" r:id="rId18"/>
    <p:sldId id="342" r:id="rId19"/>
    <p:sldId id="343" r:id="rId20"/>
    <p:sldId id="1639" r:id="rId21"/>
    <p:sldId id="1637" r:id="rId22"/>
    <p:sldId id="320" r:id="rId23"/>
    <p:sldId id="1640" r:id="rId24"/>
    <p:sldId id="1641" r:id="rId25"/>
    <p:sldId id="1643" r:id="rId26"/>
    <p:sldId id="1644" r:id="rId27"/>
    <p:sldId id="1649" r:id="rId28"/>
    <p:sldId id="1645" r:id="rId29"/>
    <p:sldId id="1642" r:id="rId30"/>
    <p:sldId id="1647" r:id="rId31"/>
    <p:sldId id="1646" r:id="rId32"/>
    <p:sldId id="1650" r:id="rId33"/>
    <p:sldId id="289" r:id="rId34"/>
  </p:sldIdLst>
  <p:sldSz cx="9144000" cy="6858000" type="screen4x3"/>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3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000099"/>
    <a:srgbClr val="0000FF"/>
    <a:srgbClr val="F09600"/>
    <a:srgbClr val="00FFFF"/>
    <a:srgbClr val="ABFFFF"/>
    <a:srgbClr val="79FFFF"/>
    <a:srgbClr val="6A6A6A"/>
    <a:srgbClr val="33B7DF"/>
    <a:srgbClr val="66C9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364" autoAdjust="0"/>
  </p:normalViewPr>
  <p:slideViewPr>
    <p:cSldViewPr snapToGrid="0" snapToObjects="1" showGuides="1">
      <p:cViewPr varScale="1">
        <p:scale>
          <a:sx n="63" d="100"/>
          <a:sy n="63" d="100"/>
        </p:scale>
        <p:origin x="1464" y="56"/>
      </p:cViewPr>
      <p:guideLst>
        <p:guide orient="horz" pos="2160"/>
        <p:guide pos="2835"/>
      </p:guideLst>
    </p:cSldViewPr>
  </p:slideViewPr>
  <p:outlineViewPr>
    <p:cViewPr>
      <p:scale>
        <a:sx n="33" d="100"/>
        <a:sy n="33" d="100"/>
      </p:scale>
      <p:origin x="0" y="-66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1" d="100"/>
          <a:sy n="81" d="100"/>
        </p:scale>
        <p:origin x="3990"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roduction14\Desktop\ball%20guide%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roduction14\Desktop\ball%20guide%20data.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roduction14\Desktop\ball%20guide%20data.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roduction14\Desktop\ball%20guide%20data.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a:t>5.4 MM BALL GUIDE</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04838145231846"/>
          <c:y val="0.17171296296296296"/>
          <c:w val="0.78007174103237098"/>
          <c:h val="0.54540937591134442"/>
        </c:manualLayout>
      </c:layout>
      <c:barChart>
        <c:barDir val="col"/>
        <c:grouping val="clustered"/>
        <c:varyColors val="0"/>
        <c:ser>
          <c:idx val="0"/>
          <c:order val="0"/>
          <c:tx>
            <c:strRef>
              <c:f>Sheet1!$B$1</c:f>
              <c:strCache>
                <c:ptCount val="1"/>
                <c:pt idx="0">
                  <c:v>5.4 MM CONSUMPTION %</c:v>
                </c:pt>
              </c:strCache>
            </c:strRef>
          </c:tx>
          <c:spPr>
            <a:solidFill>
              <a:srgbClr val="92D050"/>
            </a:solidFill>
            <a:ln>
              <a:solidFill>
                <a:schemeClr val="tx1"/>
              </a:solid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mmm\-yy</c:formatCode>
                <c:ptCount val="8"/>
                <c:pt idx="0">
                  <c:v>45383</c:v>
                </c:pt>
                <c:pt idx="1">
                  <c:v>45413</c:v>
                </c:pt>
                <c:pt idx="2">
                  <c:v>45444</c:v>
                </c:pt>
                <c:pt idx="3">
                  <c:v>45474</c:v>
                </c:pt>
                <c:pt idx="4">
                  <c:v>45505</c:v>
                </c:pt>
                <c:pt idx="5">
                  <c:v>45536</c:v>
                </c:pt>
                <c:pt idx="6">
                  <c:v>45566</c:v>
                </c:pt>
                <c:pt idx="7">
                  <c:v>45597</c:v>
                </c:pt>
              </c:numCache>
            </c:numRef>
          </c:cat>
          <c:val>
            <c:numRef>
              <c:f>Sheet1!$B$2:$B$9</c:f>
              <c:numCache>
                <c:formatCode>0.0%</c:formatCode>
                <c:ptCount val="8"/>
                <c:pt idx="0">
                  <c:v>0.41899999999999998</c:v>
                </c:pt>
                <c:pt idx="1">
                  <c:v>0.54700000000000004</c:v>
                </c:pt>
                <c:pt idx="2">
                  <c:v>0.67500000000000004</c:v>
                </c:pt>
                <c:pt idx="3">
                  <c:v>0.189</c:v>
                </c:pt>
                <c:pt idx="4">
                  <c:v>0.28299999999999997</c:v>
                </c:pt>
                <c:pt idx="5">
                  <c:v>0.253</c:v>
                </c:pt>
                <c:pt idx="6">
                  <c:v>0.47199999999999998</c:v>
                </c:pt>
                <c:pt idx="7">
                  <c:v>0.34200000000000003</c:v>
                </c:pt>
              </c:numCache>
            </c:numRef>
          </c:val>
          <c:extLst>
            <c:ext xmlns:c16="http://schemas.microsoft.com/office/drawing/2014/chart" uri="{C3380CC4-5D6E-409C-BE32-E72D297353CC}">
              <c16:uniqueId val="{00000000-40DA-4083-96C4-B5CA8AFD7A41}"/>
            </c:ext>
          </c:extLst>
        </c:ser>
        <c:dLbls>
          <c:showLegendKey val="0"/>
          <c:showVal val="0"/>
          <c:showCatName val="0"/>
          <c:showSerName val="0"/>
          <c:showPercent val="0"/>
          <c:showBubbleSize val="0"/>
        </c:dLbls>
        <c:gapWidth val="219"/>
        <c:overlap val="-27"/>
        <c:axId val="309705232"/>
        <c:axId val="309704752"/>
      </c:barChart>
      <c:dateAx>
        <c:axId val="309705232"/>
        <c:scaling>
          <c:orientation val="minMax"/>
        </c:scaling>
        <c:delete val="0"/>
        <c:axPos val="b"/>
        <c:title>
          <c:tx>
            <c:rich>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r>
                  <a:rPr lang="en-US" dirty="0"/>
                  <a:t>MONTH</a:t>
                </a:r>
              </a:p>
            </c:rich>
          </c:tx>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309704752"/>
        <c:crosses val="autoZero"/>
        <c:auto val="1"/>
        <c:lblOffset val="100"/>
        <c:baseTimeUnit val="months"/>
      </c:dateAx>
      <c:valAx>
        <c:axId val="309704752"/>
        <c:scaling>
          <c:orientation val="minMax"/>
          <c:max val="1"/>
        </c:scaling>
        <c:delete val="0"/>
        <c:axPos val="l"/>
        <c:title>
          <c:tx>
            <c:rich>
              <a:bodyPr rot="-54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r>
                  <a:rPr lang="en-US" dirty="0"/>
                  <a:t>CONSUMPTION %</a:t>
                </a:r>
              </a:p>
            </c:rich>
          </c:tx>
          <c:overlay val="0"/>
          <c:spPr>
            <a:noFill/>
            <a:ln>
              <a:noFill/>
            </a:ln>
            <a:effectLst/>
          </c:spPr>
          <c:txPr>
            <a:bodyPr rot="-54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309705232"/>
        <c:crosses val="autoZero"/>
        <c:crossBetween val="between"/>
      </c:valAx>
      <c:spPr>
        <a:noFill/>
        <a:ln>
          <a:solidFill>
            <a:schemeClr val="tx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sz="105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600" b="0" i="0" u="none" strike="noStrike" kern="1200" spc="0" baseline="0">
                <a:solidFill>
                  <a:prstClr val="black">
                    <a:lumMod val="65000"/>
                    <a:lumOff val="35000"/>
                  </a:prstClr>
                </a:solidFill>
                <a:latin typeface="+mn-lt"/>
                <a:ea typeface="+mn-ea"/>
                <a:cs typeface="+mn-cs"/>
              </a:defRPr>
            </a:pPr>
            <a:r>
              <a:rPr lang="en-US" sz="1600" b="0" i="0" u="none" strike="noStrike" kern="1200" spc="0" baseline="0" dirty="0">
                <a:solidFill>
                  <a:prstClr val="black">
                    <a:lumMod val="65000"/>
                    <a:lumOff val="35000"/>
                  </a:prstClr>
                </a:solidFill>
                <a:latin typeface="+mn-lt"/>
                <a:ea typeface="+mn-ea"/>
                <a:cs typeface="+mn-cs"/>
              </a:rPr>
              <a:t>5.5 MM BALL GUIDE</a:t>
            </a:r>
          </a:p>
        </c:rich>
      </c:tx>
      <c:overlay val="0"/>
      <c:spPr>
        <a:noFill/>
        <a:ln>
          <a:noFill/>
        </a:ln>
        <a:effectLst/>
      </c:spPr>
      <c:txPr>
        <a:bodyPr rot="0" spcFirstLastPara="1" vertOverflow="ellipsis" vert="horz" wrap="square" anchor="ctr" anchorCtr="1"/>
        <a:lstStyle/>
        <a:p>
          <a:pPr algn="ctr" rtl="0">
            <a:defRPr lang="en-US" sz="16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0.1504838145231846"/>
          <c:y val="0.17171296296296296"/>
          <c:w val="0.78007174103237098"/>
          <c:h val="0.54540937591134442"/>
        </c:manualLayout>
      </c:layout>
      <c:barChart>
        <c:barDir val="col"/>
        <c:grouping val="clustered"/>
        <c:varyColors val="0"/>
        <c:ser>
          <c:idx val="0"/>
          <c:order val="0"/>
          <c:tx>
            <c:strRef>
              <c:f>Sheet1!$E$1</c:f>
              <c:strCache>
                <c:ptCount val="1"/>
                <c:pt idx="0">
                  <c:v>5.5 MM CONSUMPTION %</c:v>
                </c:pt>
              </c:strCache>
            </c:strRef>
          </c:tx>
          <c:spPr>
            <a:solidFill>
              <a:schemeClr val="bg1">
                <a:lumMod val="50000"/>
              </a:schemeClr>
            </a:solidFill>
            <a:ln>
              <a:solidFill>
                <a:schemeClr val="tx1"/>
              </a:solidFill>
            </a:ln>
            <a:effectLst/>
          </c:spPr>
          <c:invertIfNegative val="0"/>
          <c:dLbls>
            <c:spPr>
              <a:noFill/>
              <a:ln>
                <a:noFill/>
              </a:ln>
              <a:effectLst/>
            </c:spPr>
            <c:txPr>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mmm\-yy</c:formatCode>
                <c:ptCount val="8"/>
                <c:pt idx="0">
                  <c:v>45383</c:v>
                </c:pt>
                <c:pt idx="1">
                  <c:v>45413</c:v>
                </c:pt>
                <c:pt idx="2">
                  <c:v>45444</c:v>
                </c:pt>
                <c:pt idx="3">
                  <c:v>45474</c:v>
                </c:pt>
                <c:pt idx="4">
                  <c:v>45505</c:v>
                </c:pt>
                <c:pt idx="5">
                  <c:v>45536</c:v>
                </c:pt>
                <c:pt idx="6">
                  <c:v>45566</c:v>
                </c:pt>
                <c:pt idx="7">
                  <c:v>45597</c:v>
                </c:pt>
              </c:numCache>
            </c:numRef>
          </c:cat>
          <c:val>
            <c:numRef>
              <c:f>Sheet1!$E$2:$E$9</c:f>
              <c:numCache>
                <c:formatCode>0.0%</c:formatCode>
                <c:ptCount val="8"/>
                <c:pt idx="0">
                  <c:v>0.371</c:v>
                </c:pt>
                <c:pt idx="1">
                  <c:v>0.25700000000000001</c:v>
                </c:pt>
                <c:pt idx="2">
                  <c:v>0.13500000000000001</c:v>
                </c:pt>
                <c:pt idx="3">
                  <c:v>0.71699999999999997</c:v>
                </c:pt>
                <c:pt idx="4">
                  <c:v>0.56699999999999995</c:v>
                </c:pt>
                <c:pt idx="5">
                  <c:v>0.56299999999999994</c:v>
                </c:pt>
                <c:pt idx="6">
                  <c:v>0.47499999999999998</c:v>
                </c:pt>
                <c:pt idx="7">
                  <c:v>0.50800000000000001</c:v>
                </c:pt>
              </c:numCache>
            </c:numRef>
          </c:val>
          <c:extLst>
            <c:ext xmlns:c16="http://schemas.microsoft.com/office/drawing/2014/chart" uri="{C3380CC4-5D6E-409C-BE32-E72D297353CC}">
              <c16:uniqueId val="{00000000-4E38-4630-9425-A6BFF72E83C7}"/>
            </c:ext>
          </c:extLst>
        </c:ser>
        <c:dLbls>
          <c:dLblPos val="outEnd"/>
          <c:showLegendKey val="0"/>
          <c:showVal val="1"/>
          <c:showCatName val="0"/>
          <c:showSerName val="0"/>
          <c:showPercent val="0"/>
          <c:showBubbleSize val="0"/>
        </c:dLbls>
        <c:gapWidth val="219"/>
        <c:overlap val="-27"/>
        <c:axId val="309705232"/>
        <c:axId val="309704752"/>
      </c:barChart>
      <c:dateAx>
        <c:axId val="309705232"/>
        <c:scaling>
          <c:orientation val="minMax"/>
        </c:scaling>
        <c:delete val="0"/>
        <c:axPos val="b"/>
        <c:title>
          <c:tx>
            <c:rich>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r>
                  <a:rPr lang="en-US" dirty="0"/>
                  <a:t>MONTH</a:t>
                </a:r>
              </a:p>
            </c:rich>
          </c:tx>
          <c:overlay val="0"/>
          <c:spPr>
            <a:noFill/>
            <a:ln>
              <a:noFill/>
            </a:ln>
            <a:effectLst/>
          </c:spPr>
          <c:txPr>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crossAx val="309704752"/>
        <c:crosses val="autoZero"/>
        <c:auto val="1"/>
        <c:lblOffset val="100"/>
        <c:baseTimeUnit val="months"/>
      </c:dateAx>
      <c:valAx>
        <c:axId val="309704752"/>
        <c:scaling>
          <c:orientation val="minMax"/>
          <c:max val="1"/>
        </c:scaling>
        <c:delete val="0"/>
        <c:axPos val="l"/>
        <c:title>
          <c:tx>
            <c:rich>
              <a:bodyPr rot="-54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r>
                  <a:rPr lang="en-US" dirty="0"/>
                  <a:t>CONSUMPTION %</a:t>
                </a:r>
              </a:p>
            </c:rich>
          </c:tx>
          <c:overlay val="0"/>
          <c:spPr>
            <a:noFill/>
            <a:ln>
              <a:noFill/>
            </a:ln>
            <a:effectLst/>
          </c:spPr>
          <c:txPr>
            <a:bodyPr rot="-54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crossAx val="309705232"/>
        <c:crosses val="autoZero"/>
        <c:crossBetween val="between"/>
      </c:valAx>
      <c:spPr>
        <a:noFill/>
        <a:ln>
          <a:solidFill>
            <a:schemeClr val="tx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lang="en-US" sz="1050" b="0" i="0" u="none" strike="noStrike" kern="1200" baseline="0">
          <a:solidFill>
            <a:schemeClr val="tx1"/>
          </a:solidFill>
          <a:latin typeface="+mn-lt"/>
          <a:ea typeface="+mn-ea"/>
          <a:cs typeface="+mn-cs"/>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600" b="0" i="0" u="none" strike="noStrike" kern="1200" spc="0" baseline="0">
                <a:solidFill>
                  <a:prstClr val="black">
                    <a:lumMod val="65000"/>
                    <a:lumOff val="35000"/>
                  </a:prstClr>
                </a:solidFill>
                <a:latin typeface="+mn-lt"/>
                <a:ea typeface="+mn-ea"/>
                <a:cs typeface="+mn-cs"/>
              </a:defRPr>
            </a:pPr>
            <a:r>
              <a:rPr lang="en-US" sz="1600" b="0" i="0" u="none" strike="noStrike" kern="1200" spc="0" baseline="0" dirty="0">
                <a:solidFill>
                  <a:prstClr val="black">
                    <a:lumMod val="65000"/>
                    <a:lumOff val="35000"/>
                  </a:prstClr>
                </a:solidFill>
                <a:latin typeface="+mn-lt"/>
                <a:ea typeface="+mn-ea"/>
                <a:cs typeface="+mn-cs"/>
              </a:rPr>
              <a:t>5.6 MM BALL GUIDE</a:t>
            </a:r>
          </a:p>
        </c:rich>
      </c:tx>
      <c:overlay val="0"/>
      <c:spPr>
        <a:noFill/>
        <a:ln>
          <a:noFill/>
        </a:ln>
        <a:effectLst/>
      </c:spPr>
      <c:txPr>
        <a:bodyPr rot="0" spcFirstLastPara="1" vertOverflow="ellipsis" vert="horz" wrap="square" anchor="ctr" anchorCtr="1"/>
        <a:lstStyle/>
        <a:p>
          <a:pPr algn="ctr" rtl="0">
            <a:defRPr lang="en-US" sz="16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0.1504838145231846"/>
          <c:y val="0.17171296296296296"/>
          <c:w val="0.78007174103237098"/>
          <c:h val="0.54540937591134442"/>
        </c:manualLayout>
      </c:layout>
      <c:barChart>
        <c:barDir val="col"/>
        <c:grouping val="clustered"/>
        <c:varyColors val="0"/>
        <c:ser>
          <c:idx val="0"/>
          <c:order val="0"/>
          <c:tx>
            <c:strRef>
              <c:f>Sheet1!$E$1</c:f>
              <c:strCache>
                <c:ptCount val="1"/>
                <c:pt idx="0">
                  <c:v>5.5 MM CONSUMPTION %</c:v>
                </c:pt>
              </c:strCache>
            </c:strRef>
          </c:tx>
          <c:spPr>
            <a:solidFill>
              <a:srgbClr val="FF0000"/>
            </a:solidFill>
            <a:ln>
              <a:solidFill>
                <a:schemeClr val="tx1"/>
              </a:solidFill>
            </a:ln>
            <a:effectLst/>
          </c:spPr>
          <c:invertIfNegative val="0"/>
          <c:dLbls>
            <c:spPr>
              <a:noFill/>
              <a:ln>
                <a:noFill/>
              </a:ln>
              <a:effectLst/>
            </c:spPr>
            <c:txPr>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mmm\-yy</c:formatCode>
                <c:ptCount val="8"/>
                <c:pt idx="0">
                  <c:v>45383</c:v>
                </c:pt>
                <c:pt idx="1">
                  <c:v>45413</c:v>
                </c:pt>
                <c:pt idx="2">
                  <c:v>45444</c:v>
                </c:pt>
                <c:pt idx="3">
                  <c:v>45474</c:v>
                </c:pt>
                <c:pt idx="4">
                  <c:v>45505</c:v>
                </c:pt>
                <c:pt idx="5">
                  <c:v>45536</c:v>
                </c:pt>
                <c:pt idx="6">
                  <c:v>45566</c:v>
                </c:pt>
                <c:pt idx="7">
                  <c:v>45597</c:v>
                </c:pt>
              </c:numCache>
            </c:numRef>
          </c:cat>
          <c:val>
            <c:numRef>
              <c:f>Sheet1!$H$2:$H$9</c:f>
              <c:numCache>
                <c:formatCode>0.0%</c:formatCode>
                <c:ptCount val="8"/>
                <c:pt idx="0">
                  <c:v>0.21</c:v>
                </c:pt>
                <c:pt idx="1">
                  <c:v>0.19500000000000001</c:v>
                </c:pt>
                <c:pt idx="2">
                  <c:v>0.19</c:v>
                </c:pt>
                <c:pt idx="3">
                  <c:v>9.4E-2</c:v>
                </c:pt>
                <c:pt idx="4">
                  <c:v>0.15</c:v>
                </c:pt>
                <c:pt idx="5">
                  <c:v>0.184</c:v>
                </c:pt>
                <c:pt idx="6">
                  <c:v>5.2999999999999999E-2</c:v>
                </c:pt>
                <c:pt idx="7">
                  <c:v>0.15</c:v>
                </c:pt>
              </c:numCache>
            </c:numRef>
          </c:val>
          <c:extLst>
            <c:ext xmlns:c16="http://schemas.microsoft.com/office/drawing/2014/chart" uri="{C3380CC4-5D6E-409C-BE32-E72D297353CC}">
              <c16:uniqueId val="{00000000-E3BA-482C-BE08-0108A33B5BFD}"/>
            </c:ext>
          </c:extLst>
        </c:ser>
        <c:dLbls>
          <c:dLblPos val="outEnd"/>
          <c:showLegendKey val="0"/>
          <c:showVal val="1"/>
          <c:showCatName val="0"/>
          <c:showSerName val="0"/>
          <c:showPercent val="0"/>
          <c:showBubbleSize val="0"/>
        </c:dLbls>
        <c:gapWidth val="219"/>
        <c:overlap val="-27"/>
        <c:axId val="309705232"/>
        <c:axId val="309704752"/>
      </c:barChart>
      <c:dateAx>
        <c:axId val="309705232"/>
        <c:scaling>
          <c:orientation val="minMax"/>
        </c:scaling>
        <c:delete val="0"/>
        <c:axPos val="b"/>
        <c:title>
          <c:tx>
            <c:rich>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r>
                  <a:rPr lang="en-US" dirty="0"/>
                  <a:t>MONTH</a:t>
                </a:r>
              </a:p>
            </c:rich>
          </c:tx>
          <c:overlay val="0"/>
          <c:spPr>
            <a:noFill/>
            <a:ln>
              <a:noFill/>
            </a:ln>
            <a:effectLst/>
          </c:spPr>
          <c:txPr>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crossAx val="309704752"/>
        <c:crosses val="autoZero"/>
        <c:auto val="1"/>
        <c:lblOffset val="100"/>
        <c:baseTimeUnit val="months"/>
      </c:dateAx>
      <c:valAx>
        <c:axId val="309704752"/>
        <c:scaling>
          <c:orientation val="minMax"/>
          <c:max val="1"/>
        </c:scaling>
        <c:delete val="0"/>
        <c:axPos val="l"/>
        <c:title>
          <c:tx>
            <c:rich>
              <a:bodyPr rot="-54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r>
                  <a:rPr lang="en-US" dirty="0"/>
                  <a:t>CONSUMPTION %</a:t>
                </a:r>
              </a:p>
            </c:rich>
          </c:tx>
          <c:overlay val="0"/>
          <c:spPr>
            <a:noFill/>
            <a:ln>
              <a:noFill/>
            </a:ln>
            <a:effectLst/>
          </c:spPr>
          <c:txPr>
            <a:bodyPr rot="-54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crossAx val="309705232"/>
        <c:crosses val="autoZero"/>
        <c:crossBetween val="between"/>
      </c:valAx>
      <c:spPr>
        <a:noFill/>
        <a:ln>
          <a:solidFill>
            <a:schemeClr val="tx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lang="en-US" sz="1050" b="0" i="0" u="none" strike="noStrike" kern="1200" baseline="0">
          <a:solidFill>
            <a:schemeClr val="tx1"/>
          </a:solidFill>
          <a:latin typeface="+mn-lt"/>
          <a:ea typeface="+mn-ea"/>
          <a:cs typeface="+mn-cs"/>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600" b="0" i="0" u="none" strike="noStrike" kern="1200" spc="0" baseline="0">
                <a:solidFill>
                  <a:prstClr val="black">
                    <a:lumMod val="65000"/>
                    <a:lumOff val="35000"/>
                  </a:prstClr>
                </a:solidFill>
                <a:latin typeface="+mn-lt"/>
                <a:ea typeface="+mn-ea"/>
                <a:cs typeface="+mn-cs"/>
              </a:defRPr>
            </a:pPr>
            <a:r>
              <a:rPr lang="en-US" sz="1600" b="0" i="0" u="none" strike="noStrike" kern="1200" spc="0" baseline="0" dirty="0">
                <a:solidFill>
                  <a:prstClr val="black">
                    <a:lumMod val="65000"/>
                    <a:lumOff val="35000"/>
                  </a:prstClr>
                </a:solidFill>
                <a:latin typeface="+mn-lt"/>
                <a:ea typeface="+mn-ea"/>
                <a:cs typeface="+mn-cs"/>
              </a:rPr>
              <a:t>5.7 MM BALL GUIDE</a:t>
            </a:r>
          </a:p>
        </c:rich>
      </c:tx>
      <c:overlay val="0"/>
      <c:spPr>
        <a:noFill/>
        <a:ln>
          <a:noFill/>
        </a:ln>
        <a:effectLst/>
      </c:spPr>
      <c:txPr>
        <a:bodyPr rot="0" spcFirstLastPara="1" vertOverflow="ellipsis" vert="horz" wrap="square" anchor="ctr" anchorCtr="1"/>
        <a:lstStyle/>
        <a:p>
          <a:pPr algn="ctr" rtl="0">
            <a:defRPr lang="en-US" sz="16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0.1504838145231846"/>
          <c:y val="0.17171296296296296"/>
          <c:w val="0.78007174103237098"/>
          <c:h val="0.54540937591134442"/>
        </c:manualLayout>
      </c:layout>
      <c:barChart>
        <c:barDir val="col"/>
        <c:grouping val="clustered"/>
        <c:varyColors val="0"/>
        <c:ser>
          <c:idx val="0"/>
          <c:order val="0"/>
          <c:tx>
            <c:strRef>
              <c:f>Sheet1!$L$1</c:f>
              <c:strCache>
                <c:ptCount val="1"/>
                <c:pt idx="0">
                  <c:v>5.7 MM CONSUMPTION %</c:v>
                </c:pt>
              </c:strCache>
            </c:strRef>
          </c:tx>
          <c:spPr>
            <a:solidFill>
              <a:schemeClr val="accent1"/>
            </a:solidFill>
            <a:ln>
              <a:noFill/>
            </a:ln>
            <a:effectLst/>
          </c:spPr>
          <c:invertIfNegative val="0"/>
          <c:dLbls>
            <c:spPr>
              <a:solidFill>
                <a:srgbClr val="0070C0"/>
              </a:solidFill>
              <a:ln>
                <a:solidFill>
                  <a:schemeClr val="tx1"/>
                </a:solidFill>
              </a:ln>
              <a:effectLst/>
            </c:spPr>
            <c:txPr>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mmm\-yy</c:formatCode>
                <c:ptCount val="8"/>
                <c:pt idx="0">
                  <c:v>45383</c:v>
                </c:pt>
                <c:pt idx="1">
                  <c:v>45413</c:v>
                </c:pt>
                <c:pt idx="2">
                  <c:v>45444</c:v>
                </c:pt>
                <c:pt idx="3">
                  <c:v>45474</c:v>
                </c:pt>
                <c:pt idx="4">
                  <c:v>45505</c:v>
                </c:pt>
                <c:pt idx="5">
                  <c:v>45536</c:v>
                </c:pt>
                <c:pt idx="6">
                  <c:v>45566</c:v>
                </c:pt>
                <c:pt idx="7">
                  <c:v>45597</c:v>
                </c:pt>
              </c:numCache>
            </c:numRef>
          </c:cat>
          <c:val>
            <c:numRef>
              <c:f>Sheet1!$L$2:$L$9</c:f>
              <c:numCache>
                <c:formatCode>0.0%</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0-3C44-442E-8443-326C3CA747AB}"/>
            </c:ext>
          </c:extLst>
        </c:ser>
        <c:dLbls>
          <c:dLblPos val="outEnd"/>
          <c:showLegendKey val="0"/>
          <c:showVal val="1"/>
          <c:showCatName val="0"/>
          <c:showSerName val="0"/>
          <c:showPercent val="0"/>
          <c:showBubbleSize val="0"/>
        </c:dLbls>
        <c:gapWidth val="219"/>
        <c:overlap val="-27"/>
        <c:axId val="309705232"/>
        <c:axId val="309704752"/>
      </c:barChart>
      <c:dateAx>
        <c:axId val="309705232"/>
        <c:scaling>
          <c:orientation val="minMax"/>
        </c:scaling>
        <c:delete val="0"/>
        <c:axPos val="b"/>
        <c:title>
          <c:tx>
            <c:rich>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r>
                  <a:rPr lang="en-US" dirty="0"/>
                  <a:t>MONTH</a:t>
                </a:r>
              </a:p>
            </c:rich>
          </c:tx>
          <c:overlay val="0"/>
          <c:spPr>
            <a:noFill/>
            <a:ln>
              <a:noFill/>
            </a:ln>
            <a:effectLst/>
          </c:spPr>
          <c:txPr>
            <a:bodyPr rot="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crossAx val="309704752"/>
        <c:crosses val="autoZero"/>
        <c:auto val="1"/>
        <c:lblOffset val="100"/>
        <c:baseTimeUnit val="months"/>
      </c:dateAx>
      <c:valAx>
        <c:axId val="309704752"/>
        <c:scaling>
          <c:orientation val="minMax"/>
          <c:max val="1"/>
        </c:scaling>
        <c:delete val="0"/>
        <c:axPos val="l"/>
        <c:title>
          <c:tx>
            <c:rich>
              <a:bodyPr rot="-54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r>
                  <a:rPr lang="en-US" dirty="0"/>
                  <a:t>CONSUMPTION %</a:t>
                </a:r>
              </a:p>
            </c:rich>
          </c:tx>
          <c:overlay val="0"/>
          <c:spPr>
            <a:noFill/>
            <a:ln>
              <a:noFill/>
            </a:ln>
            <a:effectLst/>
          </c:spPr>
          <c:txPr>
            <a:bodyPr rot="-54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en-US" sz="1050" b="0" i="0" u="none" strike="noStrike" kern="1200" baseline="0">
                <a:solidFill>
                  <a:schemeClr val="tx1"/>
                </a:solidFill>
                <a:latin typeface="+mn-lt"/>
                <a:ea typeface="+mn-ea"/>
                <a:cs typeface="+mn-cs"/>
              </a:defRPr>
            </a:pPr>
            <a:endParaRPr lang="en-US"/>
          </a:p>
        </c:txPr>
        <c:crossAx val="309705232"/>
        <c:crosses val="autoZero"/>
        <c:crossBetween val="between"/>
      </c:valAx>
      <c:spPr>
        <a:noFill/>
        <a:ln>
          <a:solidFill>
            <a:schemeClr val="tx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lang="en-US" sz="1050" b="0" i="0" u="none" strike="noStrike" kern="1200" baseline="0">
          <a:solidFill>
            <a:schemeClr val="tx1"/>
          </a:solidFill>
          <a:latin typeface="+mn-lt"/>
          <a:ea typeface="+mn-ea"/>
          <a:cs typeface="+mn-cs"/>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0.76485</cdr:x>
      <cdr:y>0.03889</cdr:y>
    </cdr:from>
    <cdr:to>
      <cdr:x>0.96485</cdr:x>
      <cdr:y>0.12222</cdr:y>
    </cdr:to>
    <cdr:sp macro="" textlink="">
      <cdr:nvSpPr>
        <cdr:cNvPr id="2" name="Rectangle 1">
          <a:extLst xmlns:a="http://schemas.openxmlformats.org/drawingml/2006/main">
            <a:ext uri="{FF2B5EF4-FFF2-40B4-BE49-F238E27FC236}">
              <a16:creationId xmlns:a16="http://schemas.microsoft.com/office/drawing/2014/main" id="{76963739-2393-7092-CDD2-CD094A07C8C9}"/>
            </a:ext>
          </a:extLst>
        </cdr:cNvPr>
        <cdr:cNvSpPr/>
      </cdr:nvSpPr>
      <cdr:spPr>
        <a:xfrm xmlns:a="http://schemas.openxmlformats.org/drawingml/2006/main">
          <a:off x="3205480" y="106680"/>
          <a:ext cx="838200" cy="228600"/>
        </a:xfrm>
        <a:prstGeom xmlns:a="http://schemas.openxmlformats.org/drawingml/2006/main" prst="rect">
          <a:avLst/>
        </a:prstGeom>
        <a:solidFill xmlns:a="http://schemas.openxmlformats.org/drawingml/2006/main">
          <a:schemeClr val="bg1">
            <a:lumMod val="50000"/>
          </a:schemeClr>
        </a:solidFill>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0.75121</cdr:x>
      <cdr:y>0.03299</cdr:y>
    </cdr:from>
    <cdr:to>
      <cdr:x>0.95121</cdr:x>
      <cdr:y>0.11632</cdr:y>
    </cdr:to>
    <cdr:sp macro="" textlink="">
      <cdr:nvSpPr>
        <cdr:cNvPr id="2" name="Rectangle 1">
          <a:extLst xmlns:a="http://schemas.openxmlformats.org/drawingml/2006/main">
            <a:ext uri="{FF2B5EF4-FFF2-40B4-BE49-F238E27FC236}">
              <a16:creationId xmlns:a16="http://schemas.microsoft.com/office/drawing/2014/main" id="{76963739-2393-7092-CDD2-CD094A07C8C9}"/>
            </a:ext>
          </a:extLst>
        </cdr:cNvPr>
        <cdr:cNvSpPr/>
      </cdr:nvSpPr>
      <cdr:spPr>
        <a:xfrm xmlns:a="http://schemas.openxmlformats.org/drawingml/2006/main">
          <a:off x="3148328" y="90488"/>
          <a:ext cx="838200" cy="228600"/>
        </a:xfrm>
        <a:prstGeom xmlns:a="http://schemas.openxmlformats.org/drawingml/2006/main" prst="rect">
          <a:avLst/>
        </a:prstGeom>
        <a:solidFill xmlns:a="http://schemas.openxmlformats.org/drawingml/2006/main">
          <a:srgbClr val="FF0000"/>
        </a:solidFill>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0.76485</cdr:x>
      <cdr:y>0.03436</cdr:y>
    </cdr:from>
    <cdr:to>
      <cdr:x>0.96485</cdr:x>
      <cdr:y>0.11745</cdr:y>
    </cdr:to>
    <cdr:sp macro="" textlink="">
      <cdr:nvSpPr>
        <cdr:cNvPr id="2" name="Rectangle 1">
          <a:extLst xmlns:a="http://schemas.openxmlformats.org/drawingml/2006/main">
            <a:ext uri="{FF2B5EF4-FFF2-40B4-BE49-F238E27FC236}">
              <a16:creationId xmlns:a16="http://schemas.microsoft.com/office/drawing/2014/main" id="{6008FE4E-79ED-C702-D4BF-E5F1B80A9CC8}"/>
            </a:ext>
          </a:extLst>
        </cdr:cNvPr>
        <cdr:cNvSpPr/>
      </cdr:nvSpPr>
      <cdr:spPr>
        <a:xfrm xmlns:a="http://schemas.openxmlformats.org/drawingml/2006/main">
          <a:off x="3205480" y="94529"/>
          <a:ext cx="838200" cy="228600"/>
        </a:xfrm>
        <a:prstGeom xmlns:a="http://schemas.openxmlformats.org/drawingml/2006/main" prst="rect">
          <a:avLst/>
        </a:prstGeom>
        <a:solidFill xmlns:a="http://schemas.openxmlformats.org/drawingml/2006/main">
          <a:srgbClr val="0070C0"/>
        </a:solidFill>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indent="0" algn="l" defTabSz="914400" rtl="0" eaLnBrk="1" latinLnBrk="0" hangingPunct="1">
            <a:defRPr sz="1800" kern="1200">
              <a:solidFill>
                <a:schemeClr val="lt1"/>
              </a:solidFill>
              <a:latin typeface="+mn-lt"/>
              <a:ea typeface="+mn-ea"/>
              <a:cs typeface="+mn-cs"/>
            </a:defRPr>
          </a:lvl1pPr>
          <a:lvl2pPr marL="457200" indent="0" algn="l" defTabSz="914400" rtl="0" eaLnBrk="1" latinLnBrk="0" hangingPunct="1">
            <a:defRPr sz="1800" kern="1200">
              <a:solidFill>
                <a:schemeClr val="lt1"/>
              </a:solidFill>
              <a:latin typeface="+mn-lt"/>
              <a:ea typeface="+mn-ea"/>
              <a:cs typeface="+mn-cs"/>
            </a:defRPr>
          </a:lvl2pPr>
          <a:lvl3pPr marL="914400" indent="0" algn="l" defTabSz="914400" rtl="0" eaLnBrk="1" latinLnBrk="0" hangingPunct="1">
            <a:defRPr sz="1800" kern="1200">
              <a:solidFill>
                <a:schemeClr val="lt1"/>
              </a:solidFill>
              <a:latin typeface="+mn-lt"/>
              <a:ea typeface="+mn-ea"/>
              <a:cs typeface="+mn-cs"/>
            </a:defRPr>
          </a:lvl3pPr>
          <a:lvl4pPr marL="1371600" indent="0" algn="l" defTabSz="914400" rtl="0" eaLnBrk="1" latinLnBrk="0" hangingPunct="1">
            <a:defRPr sz="1800" kern="1200">
              <a:solidFill>
                <a:schemeClr val="lt1"/>
              </a:solidFill>
              <a:latin typeface="+mn-lt"/>
              <a:ea typeface="+mn-ea"/>
              <a:cs typeface="+mn-cs"/>
            </a:defRPr>
          </a:lvl4pPr>
          <a:lvl5pPr marL="1828800" indent="0" algn="l" defTabSz="914400" rtl="0" eaLnBrk="1" latinLnBrk="0" hangingPunct="1">
            <a:defRPr sz="1800" kern="1200">
              <a:solidFill>
                <a:schemeClr val="lt1"/>
              </a:solidFill>
              <a:latin typeface="+mn-lt"/>
              <a:ea typeface="+mn-ea"/>
              <a:cs typeface="+mn-cs"/>
            </a:defRPr>
          </a:lvl5pPr>
          <a:lvl6pPr marL="2286000" indent="0" algn="l" defTabSz="914400" rtl="0" eaLnBrk="1" latinLnBrk="0" hangingPunct="1">
            <a:defRPr sz="1800" kern="1200">
              <a:solidFill>
                <a:schemeClr val="lt1"/>
              </a:solidFill>
              <a:latin typeface="+mn-lt"/>
              <a:ea typeface="+mn-ea"/>
              <a:cs typeface="+mn-cs"/>
            </a:defRPr>
          </a:lvl6pPr>
          <a:lvl7pPr marL="2743200" indent="0" algn="l" defTabSz="914400" rtl="0" eaLnBrk="1" latinLnBrk="0" hangingPunct="1">
            <a:defRPr sz="1800" kern="1200">
              <a:solidFill>
                <a:schemeClr val="lt1"/>
              </a:solidFill>
              <a:latin typeface="+mn-lt"/>
              <a:ea typeface="+mn-ea"/>
              <a:cs typeface="+mn-cs"/>
            </a:defRPr>
          </a:lvl7pPr>
          <a:lvl8pPr marL="3200400" indent="0" algn="l" defTabSz="914400" rtl="0" eaLnBrk="1" latinLnBrk="0" hangingPunct="1">
            <a:defRPr sz="1800" kern="1200">
              <a:solidFill>
                <a:schemeClr val="lt1"/>
              </a:solidFill>
              <a:latin typeface="+mn-lt"/>
              <a:ea typeface="+mn-ea"/>
              <a:cs typeface="+mn-cs"/>
            </a:defRPr>
          </a:lvl8pPr>
          <a:lvl9pPr marL="3657600" indent="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BFB96CBE-33DF-4895-AA96-1CB2A6CF2AEB}" type="datetimeFigureOut">
              <a:rPr kumimoji="1" lang="ja-JP" altLang="en-US" smtClean="0"/>
              <a:t>2025/8/23</a:t>
            </a:fld>
            <a:endParaRPr kumimoji="1" lang="ja-JP" altLang="en-US"/>
          </a:p>
        </p:txBody>
      </p:sp>
      <p:sp>
        <p:nvSpPr>
          <p:cNvPr id="4" name="フッター プレースホルダー 3"/>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74D727EA-8EC9-4DCB-9C56-99E43C7D8744}" type="slidenum">
              <a:rPr kumimoji="1" lang="ja-JP" altLang="en-US" smtClean="0"/>
              <a:t>‹#›</a:t>
            </a:fld>
            <a:endParaRPr kumimoji="1" lang="ja-JP" altLang="en-US"/>
          </a:p>
        </p:txBody>
      </p:sp>
    </p:spTree>
    <p:extLst>
      <p:ext uri="{BB962C8B-B14F-4D97-AF65-F5344CB8AC3E}">
        <p14:creationId xmlns:p14="http://schemas.microsoft.com/office/powerpoint/2010/main" val="217869502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BFBBB565-2138-EA46-B8C4-21968C3C151D}" type="datetimeFigureOut">
              <a:rPr kumimoji="1" lang="ja-JP" altLang="en-US" smtClean="0"/>
              <a:t>2025/8/23</a:t>
            </a:fld>
            <a:endParaRPr kumimoji="1" lang="ja-JP" altLang="en-US"/>
          </a:p>
        </p:txBody>
      </p:sp>
      <p:sp>
        <p:nvSpPr>
          <p:cNvPr id="4" name="スライド イメージ プレースホルダー 3"/>
          <p:cNvSpPr>
            <a:spLocks noGrp="1" noRot="1" noChangeAspect="1"/>
          </p:cNvSpPr>
          <p:nvPr>
            <p:ph type="sldImg" idx="2"/>
          </p:nvPr>
        </p:nvSpPr>
        <p:spPr>
          <a:xfrm>
            <a:off x="1166813" y="1243013"/>
            <a:ext cx="4473575"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04A26345-BB63-6546-B930-E2175619349F}" type="slidenum">
              <a:rPr kumimoji="1" lang="ja-JP" altLang="en-US" smtClean="0"/>
              <a:t>‹#›</a:t>
            </a:fld>
            <a:endParaRPr kumimoji="1" lang="ja-JP" altLang="en-US"/>
          </a:p>
        </p:txBody>
      </p:sp>
    </p:spTree>
    <p:extLst>
      <p:ext uri="{BB962C8B-B14F-4D97-AF65-F5344CB8AC3E}">
        <p14:creationId xmlns:p14="http://schemas.microsoft.com/office/powerpoint/2010/main" val="5110324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11AB08-AA0C-494A-9CBE-C5E2A3C1AD17}" type="slidenum">
              <a:rPr lang="en-US" smtClean="0"/>
              <a:t>1</a:t>
            </a:fld>
            <a:endParaRPr lang="en-US" dirty="0"/>
          </a:p>
        </p:txBody>
      </p:sp>
    </p:spTree>
    <p:extLst>
      <p:ext uri="{BB962C8B-B14F-4D97-AF65-F5344CB8AC3E}">
        <p14:creationId xmlns:p14="http://schemas.microsoft.com/office/powerpoint/2010/main" val="2666353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A11AB08-AA0C-494A-9CBE-C5E2A3C1AD17}" type="slidenum">
              <a:rPr lang="en-US" smtClean="0"/>
              <a:t>3</a:t>
            </a:fld>
            <a:endParaRPr lang="en-US" dirty="0"/>
          </a:p>
        </p:txBody>
      </p:sp>
    </p:spTree>
    <p:extLst>
      <p:ext uri="{BB962C8B-B14F-4D97-AF65-F5344CB8AC3E}">
        <p14:creationId xmlns:p14="http://schemas.microsoft.com/office/powerpoint/2010/main" val="1396749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0ACF-866B-1C1F-C2EE-DBF221605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CD675-A297-311F-CC89-9190AAB2F286}"/>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34D88CF6-809C-AB79-EB6F-8B62664766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9F0143C-E091-F455-33E9-5AD1C5CD2B75}"/>
              </a:ext>
            </a:extLst>
          </p:cNvPr>
          <p:cNvSpPr>
            <a:spLocks noGrp="1"/>
          </p:cNvSpPr>
          <p:nvPr>
            <p:ph type="sldNum" sz="quarter" idx="10"/>
          </p:nvPr>
        </p:nvSpPr>
        <p:spPr/>
        <p:txBody>
          <a:bodyPr/>
          <a:lstStyle/>
          <a:p>
            <a:fld id="{DA11AB08-AA0C-494A-9CBE-C5E2A3C1AD17}" type="slidenum">
              <a:rPr lang="en-US" smtClean="0"/>
              <a:t>5</a:t>
            </a:fld>
            <a:endParaRPr lang="en-US" dirty="0"/>
          </a:p>
        </p:txBody>
      </p:sp>
    </p:spTree>
    <p:extLst>
      <p:ext uri="{BB962C8B-B14F-4D97-AF65-F5344CB8AC3E}">
        <p14:creationId xmlns:p14="http://schemas.microsoft.com/office/powerpoint/2010/main" val="1694291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1E0FF-D070-8A8E-34D2-9E40656A0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C34E3-C9EC-C995-CA22-8D4F5B740E88}"/>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3ACE8E54-2971-E5F5-13A7-060350330A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7A1084-4110-FD7A-E0FE-A2168959567B}"/>
              </a:ext>
            </a:extLst>
          </p:cNvPr>
          <p:cNvSpPr>
            <a:spLocks noGrp="1"/>
          </p:cNvSpPr>
          <p:nvPr>
            <p:ph type="sldNum" sz="quarter" idx="10"/>
          </p:nvPr>
        </p:nvSpPr>
        <p:spPr/>
        <p:txBody>
          <a:bodyPr/>
          <a:lstStyle/>
          <a:p>
            <a:fld id="{DA11AB08-AA0C-494A-9CBE-C5E2A3C1AD17}" type="slidenum">
              <a:rPr lang="en-US" smtClean="0"/>
              <a:t>7</a:t>
            </a:fld>
            <a:endParaRPr lang="en-US" dirty="0"/>
          </a:p>
        </p:txBody>
      </p:sp>
    </p:spTree>
    <p:extLst>
      <p:ext uri="{BB962C8B-B14F-4D97-AF65-F5344CB8AC3E}">
        <p14:creationId xmlns:p14="http://schemas.microsoft.com/office/powerpoint/2010/main" val="952742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31C3-46BB-C221-2D63-B9C0A9227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F4E43-C2B3-2442-0B39-EDFFBF8F867D}"/>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FED31C94-6606-2A78-39C3-A9769514C9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46557C-C71E-614B-A243-EA864026B01F}"/>
              </a:ext>
            </a:extLst>
          </p:cNvPr>
          <p:cNvSpPr>
            <a:spLocks noGrp="1"/>
          </p:cNvSpPr>
          <p:nvPr>
            <p:ph type="sldNum" sz="quarter" idx="10"/>
          </p:nvPr>
        </p:nvSpPr>
        <p:spPr/>
        <p:txBody>
          <a:bodyPr/>
          <a:lstStyle/>
          <a:p>
            <a:fld id="{DA11AB08-AA0C-494A-9CBE-C5E2A3C1AD17}" type="slidenum">
              <a:rPr lang="en-US" smtClean="0"/>
              <a:t>9</a:t>
            </a:fld>
            <a:endParaRPr lang="en-US" dirty="0"/>
          </a:p>
        </p:txBody>
      </p:sp>
    </p:spTree>
    <p:extLst>
      <p:ext uri="{BB962C8B-B14F-4D97-AF65-F5344CB8AC3E}">
        <p14:creationId xmlns:p14="http://schemas.microsoft.com/office/powerpoint/2010/main" val="29160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4B4B9-C0D0-3133-B8EE-C7834A91F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E5404-DBF9-F530-1C36-42390B431C13}"/>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11BC952B-E3F5-4DE3-6DBB-705905E6C5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185D20-AAA3-D3FA-91E0-25BDC1E42540}"/>
              </a:ext>
            </a:extLst>
          </p:cNvPr>
          <p:cNvSpPr>
            <a:spLocks noGrp="1"/>
          </p:cNvSpPr>
          <p:nvPr>
            <p:ph type="sldNum" sz="quarter" idx="10"/>
          </p:nvPr>
        </p:nvSpPr>
        <p:spPr/>
        <p:txBody>
          <a:bodyPr/>
          <a:lstStyle/>
          <a:p>
            <a:fld id="{DA11AB08-AA0C-494A-9CBE-C5E2A3C1AD17}" type="slidenum">
              <a:rPr lang="en-US" smtClean="0"/>
              <a:t>10</a:t>
            </a:fld>
            <a:endParaRPr lang="en-US" dirty="0"/>
          </a:p>
        </p:txBody>
      </p:sp>
    </p:spTree>
    <p:extLst>
      <p:ext uri="{BB962C8B-B14F-4D97-AF65-F5344CB8AC3E}">
        <p14:creationId xmlns:p14="http://schemas.microsoft.com/office/powerpoint/2010/main" val="1184952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864D-E16C-2841-4D2D-EB1B74BA9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977D4-DC2C-B8AA-E3B2-F05D5F67F041}"/>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F1889F5C-C9AF-65B7-27D9-248F069FA8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1084FA7-FF4C-B5E9-9E35-FC3AA2EDA83A}"/>
              </a:ext>
            </a:extLst>
          </p:cNvPr>
          <p:cNvSpPr>
            <a:spLocks noGrp="1"/>
          </p:cNvSpPr>
          <p:nvPr>
            <p:ph type="sldNum" sz="quarter" idx="10"/>
          </p:nvPr>
        </p:nvSpPr>
        <p:spPr/>
        <p:txBody>
          <a:bodyPr/>
          <a:lstStyle/>
          <a:p>
            <a:fld id="{DA11AB08-AA0C-494A-9CBE-C5E2A3C1AD17}" type="slidenum">
              <a:rPr lang="en-US" smtClean="0"/>
              <a:t>12</a:t>
            </a:fld>
            <a:endParaRPr lang="en-US" dirty="0"/>
          </a:p>
        </p:txBody>
      </p:sp>
    </p:spTree>
    <p:extLst>
      <p:ext uri="{BB962C8B-B14F-4D97-AF65-F5344CB8AC3E}">
        <p14:creationId xmlns:p14="http://schemas.microsoft.com/office/powerpoint/2010/main" val="2248936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1689-B14A-2B26-D61E-534B175E6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75A00-6247-E02B-6814-49399E23E1A3}"/>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4C8A22AE-8A8A-36BA-DB39-53807042057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4DCD83-16AD-B64D-2DA5-499A953B8FE5}"/>
              </a:ext>
            </a:extLst>
          </p:cNvPr>
          <p:cNvSpPr>
            <a:spLocks noGrp="1"/>
          </p:cNvSpPr>
          <p:nvPr>
            <p:ph type="sldNum" sz="quarter" idx="10"/>
          </p:nvPr>
        </p:nvSpPr>
        <p:spPr/>
        <p:txBody>
          <a:bodyPr/>
          <a:lstStyle/>
          <a:p>
            <a:fld id="{DA11AB08-AA0C-494A-9CBE-C5E2A3C1AD17}" type="slidenum">
              <a:rPr lang="en-US" smtClean="0"/>
              <a:t>14</a:t>
            </a:fld>
            <a:endParaRPr lang="en-US" dirty="0"/>
          </a:p>
        </p:txBody>
      </p:sp>
    </p:spTree>
    <p:extLst>
      <p:ext uri="{BB962C8B-B14F-4D97-AF65-F5344CB8AC3E}">
        <p14:creationId xmlns:p14="http://schemas.microsoft.com/office/powerpoint/2010/main" val="3733915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11AB08-AA0C-494A-9CBE-C5E2A3C1AD17}" type="slidenum">
              <a:rPr lang="en-US" smtClean="0"/>
              <a:t>15</a:t>
            </a:fld>
            <a:endParaRPr lang="en-US" dirty="0"/>
          </a:p>
        </p:txBody>
      </p:sp>
    </p:spTree>
    <p:extLst>
      <p:ext uri="{BB962C8B-B14F-4D97-AF65-F5344CB8AC3E}">
        <p14:creationId xmlns:p14="http://schemas.microsoft.com/office/powerpoint/2010/main" val="449743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555B7-F0CD-DD7E-4100-01B0D85E9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68225-F55C-940D-1E11-375DB632227E}"/>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B819421D-BC5D-019C-0266-BBC150E0CB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A0C74A-518C-6877-61DB-D3BCBAB06862}"/>
              </a:ext>
            </a:extLst>
          </p:cNvPr>
          <p:cNvSpPr>
            <a:spLocks noGrp="1"/>
          </p:cNvSpPr>
          <p:nvPr>
            <p:ph type="sldNum" sz="quarter" idx="10"/>
          </p:nvPr>
        </p:nvSpPr>
        <p:spPr/>
        <p:txBody>
          <a:bodyPr/>
          <a:lstStyle/>
          <a:p>
            <a:fld id="{DA11AB08-AA0C-494A-9CBE-C5E2A3C1AD17}" type="slidenum">
              <a:rPr lang="en-US" smtClean="0"/>
              <a:t>16</a:t>
            </a:fld>
            <a:endParaRPr lang="en-US" dirty="0"/>
          </a:p>
        </p:txBody>
      </p:sp>
    </p:spTree>
    <p:extLst>
      <p:ext uri="{BB962C8B-B14F-4D97-AF65-F5344CB8AC3E}">
        <p14:creationId xmlns:p14="http://schemas.microsoft.com/office/powerpoint/2010/main" val="15688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FF148-BB13-FECC-0ACC-F93AD9B36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B391A-431D-49C4-6B94-DC2B8E1E3623}"/>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ADABFFFF-D02C-54CC-EA1F-F5E62C0881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7B9114-5610-A8AA-3347-2E47228A607C}"/>
              </a:ext>
            </a:extLst>
          </p:cNvPr>
          <p:cNvSpPr>
            <a:spLocks noGrp="1"/>
          </p:cNvSpPr>
          <p:nvPr>
            <p:ph type="sldNum" sz="quarter" idx="10"/>
          </p:nvPr>
        </p:nvSpPr>
        <p:spPr/>
        <p:txBody>
          <a:bodyPr/>
          <a:lstStyle/>
          <a:p>
            <a:fld id="{DA11AB08-AA0C-494A-9CBE-C5E2A3C1AD17}" type="slidenum">
              <a:rPr lang="en-US" smtClean="0"/>
              <a:t>17</a:t>
            </a:fld>
            <a:endParaRPr lang="en-US" dirty="0"/>
          </a:p>
        </p:txBody>
      </p:sp>
    </p:spTree>
    <p:extLst>
      <p:ext uri="{BB962C8B-B14F-4D97-AF65-F5344CB8AC3E}">
        <p14:creationId xmlns:p14="http://schemas.microsoft.com/office/powerpoint/2010/main" val="92676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58059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47401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101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076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68507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9621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88223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76698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48295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99843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29391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本文ページ">
    <p:spTree>
      <p:nvGrpSpPr>
        <p:cNvPr id="1" name=""/>
        <p:cNvGrpSpPr/>
        <p:nvPr/>
      </p:nvGrpSpPr>
      <p:grpSpPr>
        <a:xfrm>
          <a:off x="0" y="0"/>
          <a:ext cx="0" cy="0"/>
          <a:chOff x="0" y="0"/>
          <a:chExt cx="0" cy="0"/>
        </a:xfrm>
      </p:grpSpPr>
      <p:sp>
        <p:nvSpPr>
          <p:cNvPr id="20" name="Title 1"/>
          <p:cNvSpPr>
            <a:spLocks noGrp="1"/>
          </p:cNvSpPr>
          <p:nvPr>
            <p:ph type="ctrTitle" hasCustomPrompt="1"/>
          </p:nvPr>
        </p:nvSpPr>
        <p:spPr>
          <a:xfrm>
            <a:off x="450001" y="360002"/>
            <a:ext cx="8244000" cy="346249"/>
          </a:xfrm>
          <a:prstGeom prst="rect">
            <a:avLst/>
          </a:prstGeom>
        </p:spPr>
        <p:txBody>
          <a:bodyPr wrap="square" lIns="0" tIns="0" rIns="0" bIns="0" anchor="t">
            <a:spAutoFit/>
          </a:bodyPr>
          <a:lstStyle>
            <a:lvl1pPr algn="l">
              <a:lnSpc>
                <a:spcPct val="100000"/>
              </a:lnSpc>
              <a:defRPr sz="2250" b="1" i="0">
                <a:latin typeface="+mn-ea"/>
                <a:ea typeface="+mn-ea"/>
                <a:cs typeface="ヒラギノ角ゴ Pro W6" panose="020B0600000000000000" pitchFamily="34" charset="-128"/>
              </a:defRPr>
            </a:lvl1pPr>
          </a:lstStyle>
          <a:p>
            <a:r>
              <a:rPr lang="ja-JP" altLang="en-US" dirty="0"/>
              <a:t>タイトル</a:t>
            </a:r>
            <a:endParaRPr lang="en-US" dirty="0"/>
          </a:p>
        </p:txBody>
      </p:sp>
      <p:cxnSp>
        <p:nvCxnSpPr>
          <p:cNvPr id="21" name="直線コネクタ 20"/>
          <p:cNvCxnSpPr/>
          <p:nvPr userDrawn="1"/>
        </p:nvCxnSpPr>
        <p:spPr>
          <a:xfrm>
            <a:off x="450001" y="990000"/>
            <a:ext cx="8247600"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Text Placeholder 2"/>
          <p:cNvSpPr>
            <a:spLocks noGrp="1"/>
          </p:cNvSpPr>
          <p:nvPr>
            <p:ph type="body" idx="10" hasCustomPrompt="1"/>
          </p:nvPr>
        </p:nvSpPr>
        <p:spPr>
          <a:xfrm>
            <a:off x="450001" y="1180511"/>
            <a:ext cx="8244000" cy="623248"/>
          </a:xfrm>
          <a:prstGeom prst="rect">
            <a:avLst/>
          </a:prstGeom>
        </p:spPr>
        <p:txBody>
          <a:bodyPr wrap="square" lIns="0" tIns="0" rIns="0" bIns="0" anchor="t">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350" b="0" i="0">
                <a:solidFill>
                  <a:schemeClr val="tx1"/>
                </a:solidFill>
                <a:latin typeface="+mn-ea"/>
                <a:ea typeface="+mn-ea"/>
                <a:cs typeface="Hiragino Kaku Gothic Pro W6" charset="-128"/>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dirty="0"/>
              <a:t>この文章はダミーです。文字の大きさ、量、字間、行間等を確認するために入れています。この文章はダミーです。文字の大きさ、量、字間、行間等を確認するために入れています。この文章はダミーです。文字の大きさ、量、字間、行間等を確認するために入れています。</a:t>
            </a:r>
            <a:endParaRPr lang="en-US" altLang="ja-JP" dirty="0"/>
          </a:p>
        </p:txBody>
      </p:sp>
    </p:spTree>
    <p:extLst>
      <p:ext uri="{BB962C8B-B14F-4D97-AF65-F5344CB8AC3E}">
        <p14:creationId xmlns:p14="http://schemas.microsoft.com/office/powerpoint/2010/main" val="230849455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正方形/長方形 2"/>
          <p:cNvSpPr/>
          <p:nvPr userDrawn="1"/>
        </p:nvSpPr>
        <p:spPr>
          <a:xfrm>
            <a:off x="0" y="0"/>
            <a:ext cx="9144000" cy="45900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100" b="1" dirty="0">
                <a:solidFill>
                  <a:schemeClr val="tx2"/>
                </a:solidFill>
              </a:rPr>
              <a:t>テーマに合った写真を入れてください</a:t>
            </a:r>
            <a:endParaRPr kumimoji="1" lang="en-US" altLang="ja-JP" sz="2100" b="1" dirty="0">
              <a:solidFill>
                <a:schemeClr val="tx2"/>
              </a:solidFill>
            </a:endParaRPr>
          </a:p>
          <a:p>
            <a:pPr algn="ctr"/>
            <a:r>
              <a:rPr kumimoji="1" lang="ja-JP" altLang="en-US" sz="1800" b="0" dirty="0">
                <a:solidFill>
                  <a:schemeClr val="tx2"/>
                </a:solidFill>
              </a:rPr>
              <a:t>（スライドマスターより編集可）</a:t>
            </a:r>
            <a:endParaRPr kumimoji="1" lang="ja-JP" altLang="en-US" sz="2100" b="0" dirty="0">
              <a:solidFill>
                <a:schemeClr val="tx2"/>
              </a:solidFill>
            </a:endParaRPr>
          </a:p>
        </p:txBody>
      </p:sp>
      <p:sp>
        <p:nvSpPr>
          <p:cNvPr id="2" name="Title 1"/>
          <p:cNvSpPr>
            <a:spLocks noGrp="1"/>
          </p:cNvSpPr>
          <p:nvPr userDrawn="1">
            <p:ph type="ctrTitle" hasCustomPrompt="1"/>
          </p:nvPr>
        </p:nvSpPr>
        <p:spPr>
          <a:xfrm>
            <a:off x="450000" y="4943472"/>
            <a:ext cx="8244000" cy="692497"/>
          </a:xfrm>
          <a:prstGeom prst="rect">
            <a:avLst/>
          </a:prstGeom>
        </p:spPr>
        <p:txBody>
          <a:bodyPr wrap="square" lIns="0" tIns="0" rIns="0" bIns="0" anchor="ctr">
            <a:spAutoFit/>
          </a:bodyPr>
          <a:lstStyle>
            <a:lvl1pPr algn="l">
              <a:lnSpc>
                <a:spcPct val="100000"/>
              </a:lnSpc>
              <a:defRPr sz="2250" b="1" i="0">
                <a:latin typeface="+mj-ea"/>
                <a:ea typeface="+mj-ea"/>
                <a:cs typeface="ヒラギノ角ゴ Pro W6" panose="020B0600000000000000" pitchFamily="34" charset="-128"/>
              </a:defRPr>
            </a:lvl1pPr>
          </a:lstStyle>
          <a:p>
            <a:r>
              <a:rPr lang="ja-JP" altLang="en-US" dirty="0"/>
              <a:t>プレゼンテーションタイトル</a:t>
            </a:r>
            <a:br>
              <a:rPr lang="en-US" altLang="ja-JP" dirty="0"/>
            </a:br>
            <a:r>
              <a:rPr lang="ja-JP" altLang="en-US" dirty="0"/>
              <a:t>プレゼンテーションタイトル</a:t>
            </a:r>
            <a:endParaRPr lang="en-US" dirty="0"/>
          </a:p>
        </p:txBody>
      </p:sp>
      <p:sp>
        <p:nvSpPr>
          <p:cNvPr id="6" name="Subtitle 2"/>
          <p:cNvSpPr>
            <a:spLocks noGrp="1"/>
          </p:cNvSpPr>
          <p:nvPr>
            <p:ph type="subTitle" idx="1" hasCustomPrompt="1"/>
          </p:nvPr>
        </p:nvSpPr>
        <p:spPr>
          <a:xfrm>
            <a:off x="450000" y="5957466"/>
            <a:ext cx="8244000" cy="184666"/>
          </a:xfrm>
          <a:prstGeom prst="rect">
            <a:avLst/>
          </a:prstGeom>
        </p:spPr>
        <p:txBody>
          <a:bodyPr wrap="square" lIns="0" tIns="0" rIns="0" bIns="0" anchor="t">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1" i="0" baseline="0">
                <a:latin typeface="+mj-ea"/>
                <a:ea typeface="+mj-ea"/>
                <a:cs typeface="Hiragino Kaku Gothic Pro W6" charset="-128"/>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ltLang="ja-JP" dirty="0"/>
              <a:t>YYYY.MM.DD</a:t>
            </a:r>
            <a:r>
              <a:rPr lang="ja-JP" altLang="en-US" dirty="0"/>
              <a:t> トヨタ紡織</a:t>
            </a:r>
            <a:r>
              <a:rPr lang="en-US" altLang="ja-JP" dirty="0"/>
              <a:t>(</a:t>
            </a:r>
            <a:r>
              <a:rPr lang="ja-JP" altLang="en-US" dirty="0"/>
              <a:t>株</a:t>
            </a:r>
            <a:r>
              <a:rPr lang="en-US" altLang="ja-JP" dirty="0"/>
              <a:t>)</a:t>
            </a:r>
            <a:r>
              <a:rPr lang="ja-JP" altLang="en-US" dirty="0"/>
              <a:t> 部署名 名前</a:t>
            </a:r>
            <a:endParaRPr lang="en-US" altLang="ja-JP" dirty="0"/>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中扉ページ">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450000" y="2921171"/>
            <a:ext cx="8244000" cy="761747"/>
          </a:xfrm>
          <a:prstGeom prst="rect">
            <a:avLst/>
          </a:prstGeom>
        </p:spPr>
        <p:txBody>
          <a:bodyPr wrap="square" lIns="0" tIns="0" rIns="0" bIns="0" anchor="t">
            <a:spAutoFit/>
          </a:bodyPr>
          <a:lstStyle>
            <a:lvl1pPr algn="l">
              <a:lnSpc>
                <a:spcPct val="100000"/>
              </a:lnSpc>
              <a:defRPr sz="4950" b="1" i="0">
                <a:latin typeface="+mn-ea"/>
                <a:ea typeface="+mn-ea"/>
                <a:cs typeface="ヒラギノ角ゴ Pro W6" panose="020B0600000000000000" pitchFamily="34" charset="-128"/>
              </a:defRPr>
            </a:lvl1pPr>
          </a:lstStyle>
          <a:p>
            <a:r>
              <a:rPr lang="ja-JP" altLang="en-US" dirty="0"/>
              <a:t>中扉 タイトル</a:t>
            </a:r>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1941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見出し2行">
    <p:spTree>
      <p:nvGrpSpPr>
        <p:cNvPr id="1" name=""/>
        <p:cNvGrpSpPr/>
        <p:nvPr/>
      </p:nvGrpSpPr>
      <p:grpSpPr>
        <a:xfrm>
          <a:off x="0" y="0"/>
          <a:ext cx="0" cy="0"/>
          <a:chOff x="0" y="0"/>
          <a:chExt cx="0" cy="0"/>
        </a:xfrm>
      </p:grpSpPr>
      <p:sp>
        <p:nvSpPr>
          <p:cNvPr id="25" name="テキスト プレースホルダー 2">
            <a:extLst>
              <a:ext uri="{FF2B5EF4-FFF2-40B4-BE49-F238E27FC236}">
                <a16:creationId xmlns:a16="http://schemas.microsoft.com/office/drawing/2014/main" id="{D42A23B6-0D29-974B-B01F-037DD6CAC3D6}"/>
              </a:ext>
            </a:extLst>
          </p:cNvPr>
          <p:cNvSpPr>
            <a:spLocks noGrp="1"/>
          </p:cNvSpPr>
          <p:nvPr>
            <p:ph type="body" sz="quarter" idx="19" hasCustomPrompt="1"/>
          </p:nvPr>
        </p:nvSpPr>
        <p:spPr>
          <a:xfrm>
            <a:off x="332308" y="306000"/>
            <a:ext cx="8480492" cy="612000"/>
          </a:xfrm>
          <a:prstGeom prst="rect">
            <a:avLst/>
          </a:prstGeom>
        </p:spPr>
        <p:txBody>
          <a:bodyPr anchor="t" anchorCtr="0"/>
          <a:lstStyle>
            <a:lvl1pPr marL="0" marR="0" indent="0" algn="l" defTabSz="685783" rtl="0" eaLnBrk="1" fontAlgn="auto" latinLnBrk="0" hangingPunct="1">
              <a:lnSpc>
                <a:spcPct val="100000"/>
              </a:lnSpc>
              <a:spcBef>
                <a:spcPts val="0"/>
              </a:spcBef>
              <a:spcAft>
                <a:spcPts val="0"/>
              </a:spcAft>
              <a:buClrTx/>
              <a:buSzTx/>
              <a:buFontTx/>
              <a:buNone/>
              <a:tabLst/>
              <a:defRPr kumimoji="1" lang="ja-JP" altLang="en-US" sz="1500" b="1"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defRPr>
            </a:lvl1pPr>
            <a:lvl2pPr marL="342891" indent="0">
              <a:spcBef>
                <a:spcPts val="375"/>
              </a:spcBef>
              <a:buNone/>
              <a:defRPr sz="1200">
                <a:latin typeface="メイリオ" panose="020B0604030504040204" pitchFamily="50" charset="-128"/>
                <a:ea typeface="メイリオ" panose="020B0604030504040204" pitchFamily="50" charset="-128"/>
                <a:cs typeface="メイリオ" panose="020B0604030504040204" pitchFamily="50" charset="-128"/>
              </a:defRPr>
            </a:lvl2pPr>
            <a:lvl3pPr marL="685783" indent="0">
              <a:spcBef>
                <a:spcPts val="375"/>
              </a:spcBef>
              <a:buNone/>
              <a:defRPr sz="900">
                <a:latin typeface="メイリオ" panose="020B0604030504040204" pitchFamily="50" charset="-128"/>
                <a:ea typeface="メイリオ" panose="020B0604030504040204" pitchFamily="50" charset="-128"/>
                <a:cs typeface="メイリオ" panose="020B0604030504040204" pitchFamily="50" charset="-128"/>
              </a:defRPr>
            </a:lvl3pPr>
            <a:lvl4pPr marL="1028674" indent="0">
              <a:spcBef>
                <a:spcPts val="375"/>
              </a:spcBef>
              <a:buNone/>
              <a:defRPr sz="788">
                <a:latin typeface="メイリオ" panose="020B0604030504040204" pitchFamily="50" charset="-128"/>
                <a:ea typeface="メイリオ" panose="020B0604030504040204" pitchFamily="50" charset="-128"/>
                <a:cs typeface="メイリオ" panose="020B0604030504040204" pitchFamily="50" charset="-128"/>
              </a:defRPr>
            </a:lvl4pPr>
            <a:lvl5pPr marL="1371566" indent="0">
              <a:spcBef>
                <a:spcPts val="375"/>
              </a:spcBef>
              <a:buNone/>
              <a:defRPr sz="675">
                <a:latin typeface="メイリオ" panose="020B0604030504040204" pitchFamily="50" charset="-128"/>
                <a:ea typeface="メイリオ" panose="020B0604030504040204" pitchFamily="50" charset="-128"/>
                <a:cs typeface="メイリオ" panose="020B0604030504040204" pitchFamily="50" charset="-128"/>
              </a:defRPr>
            </a:lvl5p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1" lang="ja-JP" altLang="en-US" sz="1500" b="1"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ページ見出し</a:t>
            </a:r>
            <a:r>
              <a:rPr kumimoji="1" lang="en-US" altLang="ja-JP" sz="15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 2</a:t>
            </a:r>
            <a:r>
              <a:rPr kumimoji="1" lang="ja-JP" altLang="en-US" sz="1500" b="1"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行</a:t>
            </a:r>
            <a:r>
              <a:rPr kumimoji="1" lang="en-US" altLang="ja-JP" sz="15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 </a:t>
            </a:r>
            <a:r>
              <a:rPr kumimoji="1" lang="ja-JP" altLang="en-US" sz="1500" b="1"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メイリオ</a:t>
            </a:r>
            <a:r>
              <a:rPr kumimoji="1" lang="en-US" altLang="ja-JP" sz="15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20pt</a:t>
            </a:r>
            <a:endParaRPr kumimoji="1" lang="ja-JP" altLang="en-US" sz="15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sp>
        <p:nvSpPr>
          <p:cNvPr id="6" name="テキスト プレースホルダー 2">
            <a:extLst>
              <a:ext uri="{FF2B5EF4-FFF2-40B4-BE49-F238E27FC236}">
                <a16:creationId xmlns:a16="http://schemas.microsoft.com/office/drawing/2014/main" id="{D36865C0-32FD-6041-BDCE-3C31AE2B383C}"/>
              </a:ext>
            </a:extLst>
          </p:cNvPr>
          <p:cNvSpPr>
            <a:spLocks noGrp="1"/>
          </p:cNvSpPr>
          <p:nvPr>
            <p:ph type="body" sz="quarter" idx="18" hasCustomPrompt="1"/>
          </p:nvPr>
        </p:nvSpPr>
        <p:spPr>
          <a:xfrm>
            <a:off x="332308" y="1098000"/>
            <a:ext cx="8480492" cy="5306400"/>
          </a:xfrm>
          <a:prstGeom prst="rect">
            <a:avLst/>
          </a:prstGeom>
        </p:spPr>
        <p:txBody>
          <a:bodyPr/>
          <a:lstStyle>
            <a:lvl1pPr marL="0" indent="0">
              <a:spcBef>
                <a:spcPts val="0"/>
              </a:spcBef>
              <a:buNone/>
              <a:defRPr sz="1351" b="1">
                <a:latin typeface="メイリオ" panose="020B0604030504040204" pitchFamily="50" charset="-128"/>
                <a:ea typeface="メイリオ" panose="020B0604030504040204" pitchFamily="50" charset="-128"/>
                <a:cs typeface="メイリオ" panose="020B0604030504040204" pitchFamily="50" charset="-128"/>
              </a:defRPr>
            </a:lvl1pPr>
            <a:lvl2pPr marL="342891" indent="0">
              <a:spcBef>
                <a:spcPts val="375"/>
              </a:spcBef>
              <a:buNone/>
              <a:defRPr sz="1200">
                <a:latin typeface="メイリオ" panose="020B0604030504040204" pitchFamily="50" charset="-128"/>
                <a:ea typeface="メイリオ" panose="020B0604030504040204" pitchFamily="50" charset="-128"/>
                <a:cs typeface="メイリオ" panose="020B0604030504040204" pitchFamily="50" charset="-128"/>
              </a:defRPr>
            </a:lvl2pPr>
            <a:lvl3pPr marL="685783" indent="0">
              <a:spcBef>
                <a:spcPts val="375"/>
              </a:spcBef>
              <a:buNone/>
              <a:defRPr sz="900">
                <a:latin typeface="メイリオ" panose="020B0604030504040204" pitchFamily="50" charset="-128"/>
                <a:ea typeface="メイリオ" panose="020B0604030504040204" pitchFamily="50" charset="-128"/>
                <a:cs typeface="メイリオ" panose="020B0604030504040204" pitchFamily="50" charset="-128"/>
              </a:defRPr>
            </a:lvl3pPr>
            <a:lvl4pPr marL="1028674" indent="0">
              <a:spcBef>
                <a:spcPts val="375"/>
              </a:spcBef>
              <a:buNone/>
              <a:defRPr sz="788">
                <a:latin typeface="メイリオ" panose="020B0604030504040204" pitchFamily="50" charset="-128"/>
                <a:ea typeface="メイリオ" panose="020B0604030504040204" pitchFamily="50" charset="-128"/>
                <a:cs typeface="メイリオ" panose="020B0604030504040204" pitchFamily="50" charset="-128"/>
              </a:defRPr>
            </a:lvl4pPr>
            <a:lvl5pPr marL="1371566" indent="0">
              <a:spcBef>
                <a:spcPts val="375"/>
              </a:spcBef>
              <a:buNone/>
              <a:defRPr sz="675">
                <a:latin typeface="メイリオ" panose="020B0604030504040204" pitchFamily="50" charset="-128"/>
                <a:ea typeface="メイリオ" panose="020B0604030504040204" pitchFamily="50" charset="-128"/>
                <a:cs typeface="メイリオ" panose="020B0604030504040204" pitchFamily="50" charset="-128"/>
              </a:defRPr>
            </a:lvl5pPr>
          </a:lstStyle>
          <a:p>
            <a:pPr lvl="0"/>
            <a:r>
              <a:rPr kumimoji="1" lang="ja-JP" altLang="en-US"/>
              <a:t>本文</a:t>
            </a:r>
            <a:r>
              <a:rPr kumimoji="1" lang="en-US" altLang="ja-JP" dirty="0"/>
              <a:t> </a:t>
            </a:r>
            <a:r>
              <a:rPr kumimoji="1" lang="ja-JP" altLang="en-US"/>
              <a:t>メイリオ</a:t>
            </a:r>
            <a:r>
              <a:rPr kumimoji="1" lang="en-US" altLang="ja-JP" dirty="0"/>
              <a:t>18pt</a:t>
            </a:r>
            <a:endParaRPr kumimoji="1" lang="ja-JP" altLang="en-US" dirty="0"/>
          </a:p>
        </p:txBody>
      </p:sp>
      <p:sp>
        <p:nvSpPr>
          <p:cNvPr id="2" name="日付プレースホルダー 1"/>
          <p:cNvSpPr>
            <a:spLocks noGrp="1"/>
          </p:cNvSpPr>
          <p:nvPr>
            <p:ph type="dt" sz="half" idx="20"/>
          </p:nvPr>
        </p:nvSpPr>
        <p:spPr/>
        <p:txBody>
          <a:bodyPr/>
          <a:lstStyle/>
          <a:p>
            <a:fld id="{C5A8CEA9-5C7F-414C-9A9B-A62FE33E9582}" type="datetime4">
              <a:rPr lang="en-US" altLang="ja-JP" smtClean="0"/>
              <a:t>August 23, 2025</a:t>
            </a:fld>
            <a:endParaRPr lang="en-US" dirty="0"/>
          </a:p>
        </p:txBody>
      </p:sp>
    </p:spTree>
    <p:extLst>
      <p:ext uri="{BB962C8B-B14F-4D97-AF65-F5344CB8AC3E}">
        <p14:creationId xmlns:p14="http://schemas.microsoft.com/office/powerpoint/2010/main" val="2416627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pic>
        <p:nvPicPr>
          <p:cNvPr id="8" name="図 15">
            <a:extLst>
              <a:ext uri="{FF2B5EF4-FFF2-40B4-BE49-F238E27FC236}">
                <a16:creationId xmlns:a16="http://schemas.microsoft.com/office/drawing/2014/main" id="{D7BE2547-C4E1-4953-4F3B-96741734D2F6}"/>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0" y="6797662"/>
            <a:ext cx="9144000" cy="60338"/>
          </a:xfrm>
          <a:prstGeom prst="rect">
            <a:avLst/>
          </a:prstGeom>
        </p:spPr>
      </p:pic>
      <p:pic>
        <p:nvPicPr>
          <p:cNvPr id="9" name="図 17">
            <a:extLst>
              <a:ext uri="{FF2B5EF4-FFF2-40B4-BE49-F238E27FC236}">
                <a16:creationId xmlns:a16="http://schemas.microsoft.com/office/drawing/2014/main" id="{9FC88DEF-CCC1-55C9-C461-07901B3354EA}"/>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6656070" y="6356351"/>
            <a:ext cx="1661160" cy="389917"/>
          </a:xfrm>
          <a:prstGeom prst="rect">
            <a:avLst/>
          </a:prstGeom>
        </p:spPr>
      </p:pic>
      <p:pic>
        <p:nvPicPr>
          <p:cNvPr id="10" name="図 9">
            <a:extLst>
              <a:ext uri="{FF2B5EF4-FFF2-40B4-BE49-F238E27FC236}">
                <a16:creationId xmlns:a16="http://schemas.microsoft.com/office/drawing/2014/main" id="{757F9BDC-55B7-F199-9E81-6DA6556A5C14}"/>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450000" y="6553200"/>
            <a:ext cx="2045208" cy="139399"/>
          </a:xfrm>
          <a:prstGeom prst="rect">
            <a:avLst/>
          </a:prstGeom>
        </p:spPr>
      </p:pic>
    </p:spTree>
    <p:extLst>
      <p:ext uri="{BB962C8B-B14F-4D97-AF65-F5344CB8AC3E}">
        <p14:creationId xmlns:p14="http://schemas.microsoft.com/office/powerpoint/2010/main" val="23648631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61" r:id="rId13"/>
    <p:sldLayoutId id="2147483665" r:id="rId14"/>
    <p:sldLayoutId id="2147483694" r:id="rId15"/>
    <p:sldLayoutId id="2147483695"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5.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5.xml"/><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emf"/><Relationship Id="rId4" Type="http://schemas.openxmlformats.org/officeDocument/2006/relationships/image" Target="../media/image45.png"/><Relationship Id="rId9" Type="http://schemas.openxmlformats.org/officeDocument/2006/relationships/image" Target="../media/image50.emf"/></Relationships>
</file>

<file path=ppt/slides/_rels/slide22.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image" Target="../media/image60.emf"/><Relationship Id="rId4" Type="http://schemas.openxmlformats.org/officeDocument/2006/relationships/image" Target="../media/image54.png"/><Relationship Id="rId9" Type="http://schemas.openxmlformats.org/officeDocument/2006/relationships/image" Target="../media/image59.emf"/></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5" Type="http://schemas.openxmlformats.org/officeDocument/2006/relationships/image" Target="../media/image72.png"/><Relationship Id="rId4"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a:grpSpLocks/>
          </p:cNvGrpSpPr>
          <p:nvPr/>
        </p:nvGrpSpPr>
        <p:grpSpPr bwMode="auto">
          <a:xfrm>
            <a:off x="228600" y="152400"/>
            <a:ext cx="8686800" cy="381000"/>
            <a:chOff x="144" y="576"/>
            <a:chExt cx="5472" cy="288"/>
          </a:xfrm>
        </p:grpSpPr>
        <p:sp>
          <p:nvSpPr>
            <p:cNvPr id="2053" name="AutoShape 5"/>
            <p:cNvSpPr>
              <a:spLocks noChangeArrowheads="1"/>
            </p:cNvSpPr>
            <p:nvPr/>
          </p:nvSpPr>
          <p:spPr bwMode="auto">
            <a:xfrm>
              <a:off x="144" y="576"/>
              <a:ext cx="1152" cy="288"/>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200" dirty="0">
                  <a:solidFill>
                    <a:srgbClr val="000000"/>
                  </a:solidFill>
                  <a:latin typeface="Verdana" pitchFamily="34" charset="0"/>
                </a:rPr>
                <a:t>     DEFINE</a:t>
              </a:r>
            </a:p>
          </p:txBody>
        </p:sp>
        <p:sp>
          <p:nvSpPr>
            <p:cNvPr id="2054" name="AutoShape 6"/>
            <p:cNvSpPr>
              <a:spLocks noChangeArrowheads="1"/>
            </p:cNvSpPr>
            <p:nvPr/>
          </p:nvSpPr>
          <p:spPr bwMode="auto">
            <a:xfrm>
              <a:off x="1200" y="576"/>
              <a:ext cx="1152" cy="288"/>
            </a:xfrm>
            <a:prstGeom prst="chevron">
              <a:avLst>
                <a:gd name="adj" fmla="val 100000"/>
              </a:avLst>
            </a:prstGeom>
            <a:solidFill>
              <a:schemeClr val="accent1"/>
            </a:solidFill>
            <a:ln w="9525">
              <a:solidFill>
                <a:schemeClr val="tx1"/>
              </a:solidFill>
              <a:miter lim="800000"/>
              <a:headEnd/>
              <a:tailEnd/>
            </a:ln>
            <a:effectLst/>
          </p:spPr>
          <p:txBody>
            <a:bodyPr wrap="none" anchor="ctr"/>
            <a:lstStyle/>
            <a:p>
              <a:pPr algn="ctr" eaLnBrk="0" hangingPunct="0"/>
              <a:r>
                <a:rPr lang="en-US" sz="1200" dirty="0">
                  <a:solidFill>
                    <a:srgbClr val="000000"/>
                  </a:solidFill>
                  <a:latin typeface="Verdana" pitchFamily="34" charset="0"/>
                </a:rPr>
                <a:t>      MEASURE</a:t>
              </a:r>
            </a:p>
          </p:txBody>
        </p:sp>
        <p:sp>
          <p:nvSpPr>
            <p:cNvPr id="2055" name="AutoShape 7"/>
            <p:cNvSpPr>
              <a:spLocks noChangeArrowheads="1"/>
            </p:cNvSpPr>
            <p:nvPr/>
          </p:nvSpPr>
          <p:spPr bwMode="auto">
            <a:xfrm>
              <a:off x="2256" y="576"/>
              <a:ext cx="1152" cy="288"/>
            </a:xfrm>
            <a:prstGeom prst="chevron">
              <a:avLst>
                <a:gd name="adj" fmla="val 100000"/>
              </a:avLst>
            </a:prstGeom>
            <a:solidFill>
              <a:schemeClr val="accent1"/>
            </a:solidFill>
            <a:ln w="9525">
              <a:solidFill>
                <a:schemeClr val="tx1"/>
              </a:solidFill>
              <a:miter lim="800000"/>
              <a:headEnd/>
              <a:tailEnd/>
            </a:ln>
            <a:effectLst/>
          </p:spPr>
          <p:txBody>
            <a:bodyPr wrap="none" anchor="ctr"/>
            <a:lstStyle/>
            <a:p>
              <a:pPr algn="ctr" eaLnBrk="0" hangingPunct="0"/>
              <a:r>
                <a:rPr lang="en-US" sz="1200" dirty="0">
                  <a:solidFill>
                    <a:srgbClr val="000000"/>
                  </a:solidFill>
                  <a:latin typeface="Verdana" pitchFamily="34" charset="0"/>
                </a:rPr>
                <a:t>     ANALYZE</a:t>
              </a:r>
            </a:p>
          </p:txBody>
        </p:sp>
        <p:sp>
          <p:nvSpPr>
            <p:cNvPr id="2056" name="AutoShape 8"/>
            <p:cNvSpPr>
              <a:spLocks noChangeArrowheads="1"/>
            </p:cNvSpPr>
            <p:nvPr/>
          </p:nvSpPr>
          <p:spPr bwMode="auto">
            <a:xfrm>
              <a:off x="3360" y="576"/>
              <a:ext cx="1152" cy="288"/>
            </a:xfrm>
            <a:prstGeom prst="chevron">
              <a:avLst>
                <a:gd name="adj" fmla="val 100000"/>
              </a:avLst>
            </a:prstGeom>
            <a:solidFill>
              <a:schemeClr val="accent1"/>
            </a:solidFill>
            <a:ln w="9525">
              <a:solidFill>
                <a:schemeClr val="tx1"/>
              </a:solidFill>
              <a:miter lim="800000"/>
              <a:headEnd/>
              <a:tailEnd/>
            </a:ln>
            <a:effectLst/>
          </p:spPr>
          <p:txBody>
            <a:bodyPr wrap="none" anchor="ctr"/>
            <a:lstStyle/>
            <a:p>
              <a:pPr algn="ctr" eaLnBrk="0" hangingPunct="0"/>
              <a:r>
                <a:rPr lang="en-US" sz="1200" dirty="0">
                  <a:solidFill>
                    <a:srgbClr val="000000"/>
                  </a:solidFill>
                  <a:latin typeface="Verdana" pitchFamily="34" charset="0"/>
                </a:rPr>
                <a:t>     IMPROVE</a:t>
              </a:r>
            </a:p>
          </p:txBody>
        </p:sp>
        <p:sp>
          <p:nvSpPr>
            <p:cNvPr id="2057" name="AutoShape 9"/>
            <p:cNvSpPr>
              <a:spLocks noChangeArrowheads="1"/>
            </p:cNvSpPr>
            <p:nvPr/>
          </p:nvSpPr>
          <p:spPr bwMode="auto">
            <a:xfrm>
              <a:off x="4464" y="576"/>
              <a:ext cx="1152" cy="288"/>
            </a:xfrm>
            <a:prstGeom prst="chevron">
              <a:avLst>
                <a:gd name="adj" fmla="val 100000"/>
              </a:avLst>
            </a:prstGeom>
            <a:solidFill>
              <a:schemeClr val="accent1"/>
            </a:solidFill>
            <a:ln w="9525">
              <a:solidFill>
                <a:schemeClr val="tx1"/>
              </a:solidFill>
              <a:miter lim="800000"/>
              <a:headEnd/>
              <a:tailEnd/>
            </a:ln>
            <a:effectLst/>
          </p:spPr>
          <p:txBody>
            <a:bodyPr wrap="none" anchor="ctr"/>
            <a:lstStyle/>
            <a:p>
              <a:pPr algn="ctr" eaLnBrk="0" hangingPunct="0"/>
              <a:r>
                <a:rPr lang="en-US" sz="1200" dirty="0">
                  <a:solidFill>
                    <a:srgbClr val="000000"/>
                  </a:solidFill>
                  <a:latin typeface="Verdana" pitchFamily="34" charset="0"/>
                </a:rPr>
                <a:t>      CONTROL</a:t>
              </a:r>
            </a:p>
          </p:txBody>
        </p:sp>
      </p:grpSp>
      <p:sp>
        <p:nvSpPr>
          <p:cNvPr id="2062" name="Line 14"/>
          <p:cNvSpPr>
            <a:spLocks noChangeShapeType="1"/>
          </p:cNvSpPr>
          <p:nvPr/>
        </p:nvSpPr>
        <p:spPr bwMode="auto">
          <a:xfrm>
            <a:off x="4495800" y="609600"/>
            <a:ext cx="0" cy="6019800"/>
          </a:xfrm>
          <a:prstGeom prst="line">
            <a:avLst/>
          </a:prstGeom>
          <a:noFill/>
          <a:ln w="9525">
            <a:solidFill>
              <a:srgbClr val="000000"/>
            </a:solidFill>
            <a:round/>
            <a:headEnd/>
            <a:tailEnd/>
          </a:ln>
          <a:effectLst/>
        </p:spPr>
        <p:txBody>
          <a:bodyPr/>
          <a:lstStyle/>
          <a:p>
            <a:endParaRPr lang="en-US" dirty="0"/>
          </a:p>
        </p:txBody>
      </p:sp>
      <p:sp>
        <p:nvSpPr>
          <p:cNvPr id="2063" name="Line 15"/>
          <p:cNvSpPr>
            <a:spLocks noChangeShapeType="1"/>
          </p:cNvSpPr>
          <p:nvPr/>
        </p:nvSpPr>
        <p:spPr bwMode="auto">
          <a:xfrm>
            <a:off x="76200" y="3505200"/>
            <a:ext cx="8915400" cy="0"/>
          </a:xfrm>
          <a:prstGeom prst="line">
            <a:avLst/>
          </a:prstGeom>
          <a:noFill/>
          <a:ln w="9525">
            <a:solidFill>
              <a:srgbClr val="000000"/>
            </a:solidFill>
            <a:round/>
            <a:headEnd/>
            <a:tailEnd/>
          </a:ln>
          <a:effectLst/>
        </p:spPr>
        <p:txBody>
          <a:bodyPr/>
          <a:lstStyle/>
          <a:p>
            <a:endParaRPr lang="en-US" dirty="0"/>
          </a:p>
        </p:txBody>
      </p:sp>
      <p:sp>
        <p:nvSpPr>
          <p:cNvPr id="2064" name="Text Box 16"/>
          <p:cNvSpPr txBox="1">
            <a:spLocks noChangeArrowheads="1"/>
          </p:cNvSpPr>
          <p:nvPr/>
        </p:nvSpPr>
        <p:spPr bwMode="auto">
          <a:xfrm>
            <a:off x="4483770" y="606192"/>
            <a:ext cx="4507833" cy="2474075"/>
          </a:xfrm>
          <a:prstGeom prst="rect">
            <a:avLst/>
          </a:prstGeom>
          <a:noFill/>
          <a:ln w="9525">
            <a:noFill/>
            <a:miter lim="800000"/>
            <a:headEnd/>
            <a:tailEnd/>
          </a:ln>
          <a:effectLst/>
        </p:spPr>
        <p:txBody>
          <a:bodyPr wrap="square">
            <a:spAutoFit/>
          </a:bodyPr>
          <a:lstStyle/>
          <a:p>
            <a:pPr eaLnBrk="0" hangingPunct="0">
              <a:spcBef>
                <a:spcPct val="50000"/>
              </a:spcBef>
            </a:pPr>
            <a:r>
              <a:rPr lang="en-US" sz="1200" b="1" dirty="0">
                <a:solidFill>
                  <a:srgbClr val="000000"/>
                </a:solidFill>
                <a:latin typeface="Verdana" pitchFamily="34" charset="0"/>
              </a:rPr>
              <a:t>MASTER BLACK BELT : MR. ALOK SHARMA</a:t>
            </a:r>
          </a:p>
          <a:p>
            <a:pPr eaLnBrk="0" hangingPunct="0">
              <a:spcBef>
                <a:spcPct val="50000"/>
              </a:spcBef>
            </a:pPr>
            <a:r>
              <a:rPr lang="en-US" sz="1200" b="1" dirty="0">
                <a:solidFill>
                  <a:srgbClr val="000000"/>
                </a:solidFill>
                <a:latin typeface="Verdana" pitchFamily="34" charset="0"/>
              </a:rPr>
              <a:t>CHAMPION : MR. LATESH GOYAL (PLANT HEAD)</a:t>
            </a:r>
          </a:p>
          <a:p>
            <a:pPr eaLnBrk="0" hangingPunct="0">
              <a:spcBef>
                <a:spcPct val="50000"/>
              </a:spcBef>
            </a:pPr>
            <a:r>
              <a:rPr lang="en-US" sz="1200" b="1" dirty="0">
                <a:solidFill>
                  <a:srgbClr val="000000"/>
                </a:solidFill>
                <a:latin typeface="Verdana" pitchFamily="34" charset="0"/>
              </a:rPr>
              <a:t>GREEN BELT : ANKIT SAKLANI, GAURAV SHARMA, ANKIT (Project Leader)</a:t>
            </a:r>
          </a:p>
          <a:p>
            <a:pPr eaLnBrk="0" hangingPunct="0">
              <a:spcBef>
                <a:spcPct val="50000"/>
              </a:spcBef>
            </a:pPr>
            <a:r>
              <a:rPr lang="en-US" sz="1151" b="1" dirty="0">
                <a:solidFill>
                  <a:srgbClr val="000000"/>
                </a:solidFill>
                <a:latin typeface="Verdana" pitchFamily="34" charset="0"/>
              </a:rPr>
              <a:t>COMPANY : TOYOTA BOSHOKU DEVICE INDIA PVT LTD.</a:t>
            </a:r>
          </a:p>
          <a:p>
            <a:pPr eaLnBrk="0" hangingPunct="0">
              <a:spcBef>
                <a:spcPct val="50000"/>
              </a:spcBef>
            </a:pPr>
            <a:r>
              <a:rPr lang="en-US" sz="1200" b="1" dirty="0">
                <a:solidFill>
                  <a:srgbClr val="000000"/>
                </a:solidFill>
                <a:latin typeface="Verdana" pitchFamily="34" charset="0"/>
              </a:rPr>
              <a:t>BUSINESS : SEAT SLIDER, SEAT RECLINER</a:t>
            </a:r>
          </a:p>
          <a:p>
            <a:pPr eaLnBrk="0" hangingPunct="0">
              <a:spcBef>
                <a:spcPct val="50000"/>
              </a:spcBef>
            </a:pPr>
            <a:r>
              <a:rPr lang="en-US" sz="1200" b="1" dirty="0">
                <a:solidFill>
                  <a:srgbClr val="000000"/>
                </a:solidFill>
                <a:latin typeface="Verdana" pitchFamily="34" charset="0"/>
              </a:rPr>
              <a:t>SUPPORT TEAM MEMBERS : MR. RAJESH SAN (LAB)</a:t>
            </a:r>
          </a:p>
          <a:p>
            <a:pPr eaLnBrk="0" hangingPunct="0">
              <a:spcBef>
                <a:spcPct val="50000"/>
              </a:spcBef>
            </a:pPr>
            <a:endParaRPr lang="en-US" sz="1200" b="1" dirty="0">
              <a:solidFill>
                <a:srgbClr val="000000"/>
              </a:solidFill>
              <a:latin typeface="Verdana" pitchFamily="34" charset="0"/>
            </a:endParaRPr>
          </a:p>
        </p:txBody>
      </p:sp>
      <p:sp>
        <p:nvSpPr>
          <p:cNvPr id="2065" name="Text Box 17"/>
          <p:cNvSpPr txBox="1">
            <a:spLocks noChangeArrowheads="1"/>
          </p:cNvSpPr>
          <p:nvPr/>
        </p:nvSpPr>
        <p:spPr bwMode="auto">
          <a:xfrm>
            <a:off x="228600" y="685800"/>
            <a:ext cx="4191000" cy="738664"/>
          </a:xfrm>
          <a:prstGeom prst="rect">
            <a:avLst/>
          </a:prstGeom>
          <a:noFill/>
          <a:ln w="9525">
            <a:noFill/>
            <a:miter lim="800000"/>
            <a:headEnd/>
            <a:tailEnd/>
          </a:ln>
          <a:effectLst/>
        </p:spPr>
        <p:txBody>
          <a:bodyPr>
            <a:spAutoFit/>
          </a:bodyPr>
          <a:lstStyle/>
          <a:p>
            <a:pPr eaLnBrk="0" hangingPunct="0">
              <a:spcBef>
                <a:spcPct val="50000"/>
              </a:spcBef>
            </a:pPr>
            <a:r>
              <a:rPr lang="en-US" sz="1200" b="1" dirty="0">
                <a:solidFill>
                  <a:srgbClr val="000000"/>
                </a:solidFill>
                <a:latin typeface="Verdana" pitchFamily="34" charset="0"/>
              </a:rPr>
              <a:t>PROBLEM STATEMENT</a:t>
            </a:r>
          </a:p>
          <a:p>
            <a:pPr eaLnBrk="0" hangingPunct="0">
              <a:spcBef>
                <a:spcPct val="50000"/>
              </a:spcBef>
            </a:pPr>
            <a:r>
              <a:rPr lang="en-US" sz="1200" b="1" dirty="0">
                <a:solidFill>
                  <a:srgbClr val="000000"/>
                </a:solidFill>
                <a:latin typeface="Verdana" pitchFamily="34" charset="0"/>
              </a:rPr>
              <a:t>BIG Y: BALL GUIDE CONSUMPTION NOT MANAGED AS PER PLANNING</a:t>
            </a:r>
            <a:endParaRPr lang="en-US" sz="1600" b="1" dirty="0">
              <a:solidFill>
                <a:srgbClr val="000000"/>
              </a:solidFill>
              <a:latin typeface="Verdana" pitchFamily="34" charset="0"/>
            </a:endParaRPr>
          </a:p>
        </p:txBody>
      </p:sp>
      <p:sp>
        <p:nvSpPr>
          <p:cNvPr id="2066" name="Text Box 18"/>
          <p:cNvSpPr txBox="1">
            <a:spLocks noChangeArrowheads="1"/>
          </p:cNvSpPr>
          <p:nvPr/>
        </p:nvSpPr>
        <p:spPr bwMode="auto">
          <a:xfrm>
            <a:off x="152400" y="3597811"/>
            <a:ext cx="4191000" cy="1292662"/>
          </a:xfrm>
          <a:prstGeom prst="rect">
            <a:avLst/>
          </a:prstGeom>
          <a:noFill/>
          <a:ln w="9525">
            <a:noFill/>
            <a:miter lim="800000"/>
            <a:headEnd/>
            <a:tailEnd/>
          </a:ln>
          <a:effectLst/>
        </p:spPr>
        <p:txBody>
          <a:bodyPr>
            <a:spAutoFit/>
          </a:bodyPr>
          <a:lstStyle/>
          <a:p>
            <a:pPr eaLnBrk="0" hangingPunct="0">
              <a:spcBef>
                <a:spcPct val="50000"/>
              </a:spcBef>
            </a:pPr>
            <a:r>
              <a:rPr lang="en-US" sz="1200" b="1" dirty="0">
                <a:solidFill>
                  <a:srgbClr val="000000"/>
                </a:solidFill>
                <a:latin typeface="Verdana" pitchFamily="34" charset="0"/>
              </a:rPr>
              <a:t>TARGET:- </a:t>
            </a:r>
          </a:p>
          <a:p>
            <a:pPr eaLnBrk="0" hangingPunct="0">
              <a:spcBef>
                <a:spcPct val="50000"/>
              </a:spcBef>
            </a:pPr>
            <a:r>
              <a:rPr lang="en-US" sz="1200" dirty="0">
                <a:solidFill>
                  <a:srgbClr val="000000"/>
                </a:solidFill>
                <a:latin typeface="Verdana" pitchFamily="34" charset="0"/>
              </a:rPr>
              <a:t>BALL GUIDE DOES NOT CHANGE EVEN UPPER &amp; LOWER RAIL CHANGE</a:t>
            </a:r>
          </a:p>
          <a:p>
            <a:pPr eaLnBrk="0" hangingPunct="0">
              <a:spcBef>
                <a:spcPct val="50000"/>
              </a:spcBef>
            </a:pPr>
            <a:r>
              <a:rPr lang="en-US" sz="1200" dirty="0">
                <a:solidFill>
                  <a:srgbClr val="000000"/>
                </a:solidFill>
                <a:latin typeface="Verdana" pitchFamily="34" charset="0"/>
              </a:rPr>
              <a:t>SIGMA LEVEL INCREASE –  Min. 1 SIGMA</a:t>
            </a:r>
          </a:p>
          <a:p>
            <a:pPr eaLnBrk="0" hangingPunct="0">
              <a:spcBef>
                <a:spcPct val="50000"/>
              </a:spcBef>
            </a:pPr>
            <a:r>
              <a:rPr lang="en-US" sz="1200" dirty="0">
                <a:solidFill>
                  <a:srgbClr val="000000"/>
                </a:solidFill>
                <a:latin typeface="Verdana" pitchFamily="34" charset="0"/>
              </a:rPr>
              <a:t>CURRENT SIGMA- </a:t>
            </a:r>
          </a:p>
        </p:txBody>
      </p:sp>
      <p:sp>
        <p:nvSpPr>
          <p:cNvPr id="2068" name="Text Box 20"/>
          <p:cNvSpPr txBox="1">
            <a:spLocks noChangeArrowheads="1"/>
          </p:cNvSpPr>
          <p:nvPr/>
        </p:nvSpPr>
        <p:spPr bwMode="auto">
          <a:xfrm>
            <a:off x="4724400" y="3669714"/>
            <a:ext cx="4191000" cy="2215991"/>
          </a:xfrm>
          <a:prstGeom prst="rect">
            <a:avLst/>
          </a:prstGeom>
          <a:noFill/>
          <a:ln w="9525">
            <a:noFill/>
            <a:miter lim="800000"/>
            <a:headEnd/>
            <a:tailEnd/>
          </a:ln>
          <a:effectLst/>
        </p:spPr>
        <p:txBody>
          <a:bodyPr>
            <a:spAutoFit/>
          </a:bodyPr>
          <a:lstStyle/>
          <a:p>
            <a:pPr eaLnBrk="0" hangingPunct="0">
              <a:spcBef>
                <a:spcPct val="50000"/>
              </a:spcBef>
            </a:pPr>
            <a:r>
              <a:rPr lang="en-US" sz="1200" b="1" dirty="0">
                <a:solidFill>
                  <a:srgbClr val="000000"/>
                </a:solidFill>
                <a:latin typeface="Verdana" pitchFamily="34" charset="0"/>
              </a:rPr>
              <a:t>ACTION START  : 09/12/2024</a:t>
            </a:r>
          </a:p>
          <a:p>
            <a:pPr eaLnBrk="0" hangingPunct="0">
              <a:spcBef>
                <a:spcPct val="50000"/>
              </a:spcBef>
            </a:pPr>
            <a:r>
              <a:rPr lang="en-US" sz="1200" b="1" dirty="0">
                <a:solidFill>
                  <a:srgbClr val="000000"/>
                </a:solidFill>
                <a:latin typeface="Verdana" pitchFamily="34" charset="0"/>
              </a:rPr>
              <a:t>MEASURE: &gt;&gt; 18/12/24 TO 17/01/25</a:t>
            </a:r>
          </a:p>
          <a:p>
            <a:pPr eaLnBrk="0" hangingPunct="0">
              <a:spcBef>
                <a:spcPct val="50000"/>
              </a:spcBef>
            </a:pPr>
            <a:r>
              <a:rPr lang="en-US" sz="1200" b="1" dirty="0">
                <a:solidFill>
                  <a:srgbClr val="000000"/>
                </a:solidFill>
                <a:latin typeface="Verdana" pitchFamily="34" charset="0"/>
              </a:rPr>
              <a:t>ANALYSE: &gt;&gt;  18/01/25 TO 23/02/25</a:t>
            </a:r>
          </a:p>
          <a:p>
            <a:pPr eaLnBrk="0" hangingPunct="0">
              <a:spcBef>
                <a:spcPct val="50000"/>
              </a:spcBef>
            </a:pPr>
            <a:r>
              <a:rPr lang="en-US" sz="1200" b="1" dirty="0">
                <a:solidFill>
                  <a:srgbClr val="000000"/>
                </a:solidFill>
                <a:latin typeface="Verdana" pitchFamily="34" charset="0"/>
              </a:rPr>
              <a:t>IMPROVE: &gt;&gt;  24/02/25 TO Pending</a:t>
            </a:r>
          </a:p>
          <a:p>
            <a:pPr eaLnBrk="0" hangingPunct="0">
              <a:spcBef>
                <a:spcPct val="50000"/>
              </a:spcBef>
            </a:pPr>
            <a:r>
              <a:rPr lang="en-US" sz="1200" b="1" dirty="0">
                <a:solidFill>
                  <a:srgbClr val="000000"/>
                </a:solidFill>
                <a:latin typeface="Verdana" pitchFamily="34" charset="0"/>
              </a:rPr>
              <a:t>CONTROL: &gt;&gt; Pending</a:t>
            </a:r>
          </a:p>
          <a:p>
            <a:pPr eaLnBrk="0" hangingPunct="0">
              <a:spcBef>
                <a:spcPct val="50000"/>
              </a:spcBef>
            </a:pPr>
            <a:r>
              <a:rPr lang="en-US" sz="1200" b="1" dirty="0">
                <a:solidFill>
                  <a:srgbClr val="000000"/>
                </a:solidFill>
                <a:latin typeface="Verdana" pitchFamily="34" charset="0"/>
              </a:rPr>
              <a:t>PROJECT TENTATIVE END DATE  :   </a:t>
            </a:r>
          </a:p>
          <a:p>
            <a:pPr eaLnBrk="0" hangingPunct="0">
              <a:spcBef>
                <a:spcPct val="50000"/>
              </a:spcBef>
            </a:pPr>
            <a:endParaRPr lang="en-US" sz="1200" b="1" dirty="0">
              <a:solidFill>
                <a:srgbClr val="000000"/>
              </a:solidFill>
              <a:latin typeface="Verdana" pitchFamily="34" charset="0"/>
            </a:endParaRPr>
          </a:p>
          <a:p>
            <a:pPr eaLnBrk="0" hangingPunct="0">
              <a:spcBef>
                <a:spcPct val="50000"/>
              </a:spcBef>
            </a:pPr>
            <a:endParaRPr lang="en-US" sz="1200" b="1" dirty="0">
              <a:solidFill>
                <a:srgbClr val="000000"/>
              </a:solidFill>
              <a:latin typeface="Verdana" pitchFamily="34" charset="0"/>
            </a:endParaRPr>
          </a:p>
        </p:txBody>
      </p:sp>
      <p:sp>
        <p:nvSpPr>
          <p:cNvPr id="2069" name="Text Box 21"/>
          <p:cNvSpPr txBox="1">
            <a:spLocks noChangeArrowheads="1"/>
          </p:cNvSpPr>
          <p:nvPr/>
        </p:nvSpPr>
        <p:spPr bwMode="auto">
          <a:xfrm>
            <a:off x="4724400" y="5715002"/>
            <a:ext cx="4191000" cy="338554"/>
          </a:xfrm>
          <a:prstGeom prst="rect">
            <a:avLst/>
          </a:prstGeom>
          <a:noFill/>
          <a:ln w="9525">
            <a:noFill/>
            <a:miter lim="800000"/>
            <a:headEnd/>
            <a:tailEnd/>
          </a:ln>
          <a:effectLst/>
        </p:spPr>
        <p:txBody>
          <a:bodyPr>
            <a:spAutoFit/>
          </a:bodyPr>
          <a:lstStyle/>
          <a:p>
            <a:pPr eaLnBrk="0" hangingPunct="0">
              <a:spcBef>
                <a:spcPct val="50000"/>
              </a:spcBef>
              <a:buFontTx/>
              <a:buChar char="-"/>
            </a:pPr>
            <a:endParaRPr lang="en-IN" sz="1600" b="1" dirty="0">
              <a:solidFill>
                <a:srgbClr val="000000"/>
              </a:solidFill>
              <a:latin typeface="Verdana" pitchFamily="34" charset="0"/>
            </a:endParaRPr>
          </a:p>
        </p:txBody>
      </p:sp>
      <p:sp>
        <p:nvSpPr>
          <p:cNvPr id="2070" name="Text Box 22"/>
          <p:cNvSpPr txBox="1">
            <a:spLocks noChangeArrowheads="1"/>
          </p:cNvSpPr>
          <p:nvPr/>
        </p:nvSpPr>
        <p:spPr bwMode="auto">
          <a:xfrm>
            <a:off x="228600" y="2667000"/>
            <a:ext cx="4191000" cy="738664"/>
          </a:xfrm>
          <a:prstGeom prst="rect">
            <a:avLst/>
          </a:prstGeom>
          <a:noFill/>
          <a:ln w="9525">
            <a:noFill/>
            <a:miter lim="800000"/>
            <a:headEnd/>
            <a:tailEnd/>
          </a:ln>
          <a:effectLst/>
        </p:spPr>
        <p:txBody>
          <a:bodyPr wrap="square">
            <a:spAutoFit/>
          </a:bodyPr>
          <a:lstStyle/>
          <a:p>
            <a:pPr eaLnBrk="0" hangingPunct="0">
              <a:spcBef>
                <a:spcPct val="50000"/>
              </a:spcBef>
            </a:pPr>
            <a:r>
              <a:rPr lang="en-US" sz="1200" b="1" dirty="0">
                <a:solidFill>
                  <a:srgbClr val="000000"/>
                </a:solidFill>
                <a:latin typeface="Verdana" pitchFamily="34" charset="0"/>
              </a:rPr>
              <a:t>CRITICAL TO  (QUALITY,COST,DELIVERY, SATISFACTION OF CUSTOMER)  :-</a:t>
            </a:r>
          </a:p>
          <a:p>
            <a:pPr eaLnBrk="0" hangingPunct="0">
              <a:spcBef>
                <a:spcPct val="50000"/>
              </a:spcBef>
            </a:pPr>
            <a:r>
              <a:rPr lang="en-US" sz="1200" dirty="0">
                <a:solidFill>
                  <a:srgbClr val="000000"/>
                </a:solidFill>
                <a:latin typeface="Verdana" pitchFamily="34" charset="0"/>
              </a:rPr>
              <a:t>CRITICAL TO QUALITY / CRITICAL TO COST</a:t>
            </a:r>
          </a:p>
        </p:txBody>
      </p:sp>
      <p:sp>
        <p:nvSpPr>
          <p:cNvPr id="2071" name="Text Box 23"/>
          <p:cNvSpPr txBox="1">
            <a:spLocks noChangeArrowheads="1"/>
          </p:cNvSpPr>
          <p:nvPr/>
        </p:nvSpPr>
        <p:spPr bwMode="auto">
          <a:xfrm>
            <a:off x="114300" y="4810455"/>
            <a:ext cx="4343400" cy="1661993"/>
          </a:xfrm>
          <a:prstGeom prst="rect">
            <a:avLst/>
          </a:prstGeom>
          <a:noFill/>
          <a:ln w="9525">
            <a:noFill/>
            <a:miter lim="800000"/>
            <a:headEnd/>
            <a:tailEnd/>
          </a:ln>
          <a:effectLst/>
        </p:spPr>
        <p:txBody>
          <a:bodyPr>
            <a:spAutoFit/>
          </a:bodyPr>
          <a:lstStyle/>
          <a:p>
            <a:pPr marL="342891" indent="-342891" eaLnBrk="0" hangingPunct="0">
              <a:spcBef>
                <a:spcPct val="50000"/>
              </a:spcBef>
            </a:pPr>
            <a:r>
              <a:rPr lang="en-US" sz="1200" b="1" dirty="0">
                <a:solidFill>
                  <a:srgbClr val="000000"/>
                </a:solidFill>
                <a:latin typeface="Verdana" pitchFamily="34" charset="0"/>
              </a:rPr>
              <a:t>COPQ CALCULATION;</a:t>
            </a:r>
          </a:p>
          <a:p>
            <a:pPr marL="342891" indent="-342891" eaLnBrk="0" hangingPunct="0">
              <a:spcBef>
                <a:spcPct val="50000"/>
              </a:spcBef>
            </a:pPr>
            <a:r>
              <a:rPr lang="en-US" sz="1200" dirty="0">
                <a:solidFill>
                  <a:srgbClr val="000000"/>
                </a:solidFill>
                <a:latin typeface="Verdana" pitchFamily="34" charset="0"/>
              </a:rPr>
              <a:t>PRODUCTION /DAY 	   : 25000 nos.</a:t>
            </a:r>
          </a:p>
          <a:p>
            <a:pPr marL="342891" indent="-342891" eaLnBrk="0" hangingPunct="0">
              <a:spcBef>
                <a:spcPct val="50000"/>
              </a:spcBef>
            </a:pPr>
            <a:r>
              <a:rPr lang="en-US" sz="1200" dirty="0">
                <a:solidFill>
                  <a:srgbClr val="000000"/>
                </a:solidFill>
                <a:latin typeface="Verdana" pitchFamily="34" charset="0"/>
              </a:rPr>
              <a:t>BALL GUIDE USE/ DAY       : 100000 nos.</a:t>
            </a:r>
          </a:p>
          <a:p>
            <a:pPr marL="342891" indent="-342891" eaLnBrk="0" hangingPunct="0">
              <a:spcBef>
                <a:spcPct val="50000"/>
              </a:spcBef>
            </a:pPr>
            <a:r>
              <a:rPr lang="en-US" sz="1200" dirty="0">
                <a:solidFill>
                  <a:srgbClr val="000000"/>
                </a:solidFill>
                <a:latin typeface="Verdana" pitchFamily="34" charset="0"/>
              </a:rPr>
              <a:t>COST OF 1 BALL GUIDE    : </a:t>
            </a:r>
            <a:r>
              <a:rPr lang="en-US" sz="1200" dirty="0">
                <a:solidFill>
                  <a:srgbClr val="71777D"/>
                </a:solidFill>
                <a:latin typeface="Roboto" panose="02000000000000000000" pitchFamily="2" charset="0"/>
              </a:rPr>
              <a:t>₹ </a:t>
            </a:r>
            <a:r>
              <a:rPr lang="en-US" sz="1200" dirty="0">
                <a:solidFill>
                  <a:srgbClr val="000000"/>
                </a:solidFill>
                <a:latin typeface="Verdana" pitchFamily="34" charset="0"/>
              </a:rPr>
              <a:t>2.73 </a:t>
            </a:r>
          </a:p>
          <a:p>
            <a:pPr marL="342891" indent="-342891" eaLnBrk="0" hangingPunct="0">
              <a:spcBef>
                <a:spcPct val="50000"/>
              </a:spcBef>
            </a:pPr>
            <a:r>
              <a:rPr lang="en-US" sz="1200" dirty="0">
                <a:solidFill>
                  <a:srgbClr val="000000"/>
                </a:solidFill>
                <a:latin typeface="Verdana" pitchFamily="34" charset="0"/>
              </a:rPr>
              <a:t>NO OF DAYS OF EXCESS INVENTORY : 15 DAYS</a:t>
            </a:r>
          </a:p>
          <a:p>
            <a:pPr marL="342891" indent="-342891" eaLnBrk="0" hangingPunct="0">
              <a:spcBef>
                <a:spcPct val="50000"/>
              </a:spcBef>
            </a:pPr>
            <a:r>
              <a:rPr lang="en-US" sz="1200" dirty="0">
                <a:solidFill>
                  <a:srgbClr val="000000"/>
                </a:solidFill>
                <a:latin typeface="Verdana" pitchFamily="34" charset="0"/>
              </a:rPr>
              <a:t>COST TO COMPANY	   : </a:t>
            </a:r>
            <a:r>
              <a:rPr lang="en-US" sz="1200" dirty="0">
                <a:solidFill>
                  <a:srgbClr val="71777D"/>
                </a:solidFill>
                <a:latin typeface="Roboto" panose="02000000000000000000" pitchFamily="2" charset="0"/>
              </a:rPr>
              <a:t>₹ </a:t>
            </a:r>
            <a:r>
              <a:rPr lang="en-US" sz="1200" dirty="0">
                <a:solidFill>
                  <a:srgbClr val="000000"/>
                </a:solidFill>
                <a:latin typeface="Verdana" pitchFamily="34" charset="0"/>
              </a:rPr>
              <a:t>40.95 Lakh</a:t>
            </a:r>
          </a:p>
        </p:txBody>
      </p:sp>
      <p:sp>
        <p:nvSpPr>
          <p:cNvPr id="18" name="Text Box 17"/>
          <p:cNvSpPr txBox="1">
            <a:spLocks noChangeArrowheads="1"/>
          </p:cNvSpPr>
          <p:nvPr/>
        </p:nvSpPr>
        <p:spPr bwMode="auto">
          <a:xfrm>
            <a:off x="152400" y="1435586"/>
            <a:ext cx="4191000" cy="1477328"/>
          </a:xfrm>
          <a:prstGeom prst="rect">
            <a:avLst/>
          </a:prstGeom>
          <a:noFill/>
          <a:ln w="9525">
            <a:noFill/>
            <a:miter lim="800000"/>
            <a:headEnd/>
            <a:tailEnd/>
          </a:ln>
          <a:effectLst/>
        </p:spPr>
        <p:txBody>
          <a:bodyPr>
            <a:spAutoFit/>
          </a:bodyPr>
          <a:lstStyle/>
          <a:p>
            <a:pPr eaLnBrk="0" hangingPunct="0">
              <a:spcBef>
                <a:spcPct val="50000"/>
              </a:spcBef>
            </a:pPr>
            <a:r>
              <a:rPr lang="en-US" sz="1200" b="1" dirty="0">
                <a:solidFill>
                  <a:srgbClr val="000000"/>
                </a:solidFill>
                <a:latin typeface="Verdana" pitchFamily="34" charset="0"/>
              </a:rPr>
              <a:t>TECH Y (NARROWED PROBLEM STATEMENT):</a:t>
            </a:r>
          </a:p>
          <a:p>
            <a:pPr eaLnBrk="0" hangingPunct="0">
              <a:spcBef>
                <a:spcPct val="50000"/>
              </a:spcBef>
            </a:pPr>
            <a:r>
              <a:rPr lang="en-US" sz="1200" b="1" dirty="0">
                <a:solidFill>
                  <a:srgbClr val="000000"/>
                </a:solidFill>
                <a:latin typeface="Verdana" pitchFamily="34" charset="0"/>
              </a:rPr>
              <a:t>BALL GUIDE CHANGE AFTER UPPER &amp; LOWER RAIL CHANGE IN ASSY. LINE</a:t>
            </a:r>
          </a:p>
          <a:p>
            <a:pPr eaLnBrk="0" hangingPunct="0">
              <a:spcBef>
                <a:spcPct val="50000"/>
              </a:spcBef>
            </a:pPr>
            <a:r>
              <a:rPr lang="en-US" sz="1200" b="1" dirty="0">
                <a:solidFill>
                  <a:srgbClr val="000000"/>
                </a:solidFill>
                <a:latin typeface="Verdana" pitchFamily="34" charset="0"/>
              </a:rPr>
              <a:t>CTP: AT DURING BALL GUIDE INSERT IN SEAT TRACK MACHINE</a:t>
            </a:r>
          </a:p>
          <a:p>
            <a:pPr eaLnBrk="0" hangingPunct="0">
              <a:spcBef>
                <a:spcPct val="50000"/>
              </a:spcBef>
            </a:pPr>
            <a:endParaRPr lang="en-US" sz="1200" b="1" dirty="0">
              <a:solidFill>
                <a:srgbClr val="000000"/>
              </a:solidFill>
              <a:latin typeface="Verdana" pitchFamily="34" charset="0"/>
            </a:endParaRPr>
          </a:p>
        </p:txBody>
      </p:sp>
      <p:sp>
        <p:nvSpPr>
          <p:cNvPr id="3" name="Slide Number Placeholder 2"/>
          <p:cNvSpPr>
            <a:spLocks noGrp="1"/>
          </p:cNvSpPr>
          <p:nvPr>
            <p:ph type="sldNum" sz="quarter" idx="12"/>
          </p:nvPr>
        </p:nvSpPr>
        <p:spPr/>
        <p:txBody>
          <a:bodyPr/>
          <a:lstStyle/>
          <a:p>
            <a:fld id="{51B8CA97-F2C6-465B-8C78-933A13A42472}" type="slidenum">
              <a:rPr lang="en-US" smtClean="0"/>
              <a:t>1</a:t>
            </a:fld>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0382" y="79568"/>
            <a:ext cx="6477000" cy="563562"/>
          </a:xfrm>
          <a:ln>
            <a:solidFill>
              <a:schemeClr val="tx1"/>
            </a:solidFill>
          </a:ln>
        </p:spPr>
        <p:txBody>
          <a:bodyPr>
            <a:noAutofit/>
          </a:bodyPr>
          <a:lstStyle/>
          <a:p>
            <a:r>
              <a:rPr lang="en-IN" sz="2800" dirty="0"/>
              <a:t>MONTH-WISE BALLGUIDE CONSUMPTION</a:t>
            </a:r>
          </a:p>
        </p:txBody>
      </p:sp>
      <p:sp>
        <p:nvSpPr>
          <p:cNvPr id="8" name="AutoShape 5"/>
          <p:cNvSpPr>
            <a:spLocks noChangeArrowheads="1"/>
          </p:cNvSpPr>
          <p:nvPr/>
        </p:nvSpPr>
        <p:spPr bwMode="auto">
          <a:xfrm>
            <a:off x="27274" y="70119"/>
            <a:ext cx="1732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DEFINE</a:t>
            </a:r>
          </a:p>
        </p:txBody>
      </p:sp>
      <p:sp>
        <p:nvSpPr>
          <p:cNvPr id="3" name="Slide Number Placeholder 2"/>
          <p:cNvSpPr>
            <a:spLocks noGrp="1"/>
          </p:cNvSpPr>
          <p:nvPr>
            <p:ph type="sldNum" sz="quarter" idx="12"/>
          </p:nvPr>
        </p:nvSpPr>
        <p:spPr/>
        <p:txBody>
          <a:bodyPr/>
          <a:lstStyle/>
          <a:p>
            <a:fld id="{51B8CA97-F2C6-465B-8C78-933A13A42472}" type="slidenum">
              <a:rPr lang="en-US" smtClean="0"/>
              <a:t>2</a:t>
            </a:fld>
            <a:endParaRPr lang="en-US" dirty="0"/>
          </a:p>
        </p:txBody>
      </p:sp>
      <p:graphicFrame>
        <p:nvGraphicFramePr>
          <p:cNvPr id="10" name="Chart 9">
            <a:extLst>
              <a:ext uri="{FF2B5EF4-FFF2-40B4-BE49-F238E27FC236}">
                <a16:creationId xmlns:a16="http://schemas.microsoft.com/office/drawing/2014/main" id="{EDE5D525-DD33-04E1-271F-72A49FD90F6F}"/>
              </a:ext>
            </a:extLst>
          </p:cNvPr>
          <p:cNvGraphicFramePr>
            <a:graphicFrameLocks/>
          </p:cNvGraphicFramePr>
          <p:nvPr/>
        </p:nvGraphicFramePr>
        <p:xfrm>
          <a:off x="209552" y="731520"/>
          <a:ext cx="4191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60978C79-83BD-4B16-9088-142FB388EB74}"/>
              </a:ext>
            </a:extLst>
          </p:cNvPr>
          <p:cNvGraphicFramePr>
            <a:graphicFrameLocks/>
          </p:cNvGraphicFramePr>
          <p:nvPr/>
        </p:nvGraphicFramePr>
        <p:xfrm>
          <a:off x="4795520" y="731520"/>
          <a:ext cx="4191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F9150BDD-02B8-49D8-B8A5-51EC7FD3FE28}"/>
              </a:ext>
            </a:extLst>
          </p:cNvPr>
          <p:cNvGraphicFramePr>
            <a:graphicFrameLocks/>
          </p:cNvGraphicFramePr>
          <p:nvPr>
            <p:extLst>
              <p:ext uri="{D42A27DB-BD31-4B8C-83A1-F6EECF244321}">
                <p14:modId xmlns:p14="http://schemas.microsoft.com/office/powerpoint/2010/main" val="1999734496"/>
              </p:ext>
            </p:extLst>
          </p:nvPr>
        </p:nvGraphicFramePr>
        <p:xfrm>
          <a:off x="209552" y="3647028"/>
          <a:ext cx="4191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7AF89754-93D5-4A57-94DF-52B2DD517097}"/>
              </a:ext>
            </a:extLst>
          </p:cNvPr>
          <p:cNvGraphicFramePr>
            <a:graphicFrameLocks/>
          </p:cNvGraphicFramePr>
          <p:nvPr>
            <p:extLst>
              <p:ext uri="{D42A27DB-BD31-4B8C-83A1-F6EECF244321}">
                <p14:modId xmlns:p14="http://schemas.microsoft.com/office/powerpoint/2010/main" val="4063668095"/>
              </p:ext>
            </p:extLst>
          </p:nvPr>
        </p:nvGraphicFramePr>
        <p:xfrm>
          <a:off x="4795520" y="3647028"/>
          <a:ext cx="4191000" cy="2751283"/>
        </p:xfrm>
        <a:graphic>
          <a:graphicData uri="http://schemas.openxmlformats.org/drawingml/2006/chart">
            <c:chart xmlns:c="http://schemas.openxmlformats.org/drawingml/2006/chart" xmlns:r="http://schemas.openxmlformats.org/officeDocument/2006/relationships" r:id="rId5"/>
          </a:graphicData>
        </a:graphic>
      </p:graphicFrame>
      <p:sp>
        <p:nvSpPr>
          <p:cNvPr id="17" name="Rectangle 16">
            <a:extLst>
              <a:ext uri="{FF2B5EF4-FFF2-40B4-BE49-F238E27FC236}">
                <a16:creationId xmlns:a16="http://schemas.microsoft.com/office/drawing/2014/main" id="{76963739-2393-7092-CDD2-CD094A07C8C9}"/>
              </a:ext>
            </a:extLst>
          </p:cNvPr>
          <p:cNvSpPr/>
          <p:nvPr/>
        </p:nvSpPr>
        <p:spPr>
          <a:xfrm>
            <a:off x="3352800" y="838200"/>
            <a:ext cx="838200" cy="2286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90818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762000"/>
            <a:ext cx="9220200" cy="6095999"/>
          </a:xfrm>
        </p:spPr>
        <p:txBody>
          <a:bodyPr>
            <a:noAutofit/>
          </a:bodyPr>
          <a:lstStyle/>
          <a:p>
            <a:pPr algn="l"/>
            <a:r>
              <a:rPr lang="en-US" sz="1600" b="1" u="sng" dirty="0">
                <a:solidFill>
                  <a:srgbClr val="00B0F0"/>
                </a:solidFill>
                <a:latin typeface="Arial" panose="020B0604020202020204" pitchFamily="34" charset="0"/>
                <a:cs typeface="Arial" panose="020B0604020202020204" pitchFamily="34" charset="0"/>
              </a:rPr>
              <a:t>What</a:t>
            </a:r>
            <a:r>
              <a:rPr lang="en-US" sz="1600" dirty="0">
                <a:solidFill>
                  <a:srgbClr val="00B0F0"/>
                </a:solidFill>
                <a:latin typeface="Arial" panose="020B0604020202020204" pitchFamily="34" charset="0"/>
                <a:cs typeface="Arial" panose="020B0604020202020204" pitchFamily="34" charset="0"/>
              </a:rPr>
              <a:t> :- </a:t>
            </a:r>
            <a:br>
              <a:rPr lang="en-US" sz="2800" dirty="0">
                <a:latin typeface="Arial" panose="020B0604020202020204" pitchFamily="34" charset="0"/>
                <a:cs typeface="Arial" panose="020B0604020202020204" pitchFamily="34" charset="0"/>
              </a:rPr>
            </a:br>
            <a:r>
              <a:rPr lang="en-US" sz="1600" dirty="0">
                <a:solidFill>
                  <a:srgbClr val="000000"/>
                </a:solidFill>
                <a:latin typeface="Arial" panose="020B0604020202020204" pitchFamily="34" charset="0"/>
                <a:cs typeface="Arial" panose="020B0604020202020204" pitchFamily="34" charset="0"/>
              </a:rPr>
              <a:t>BALL GUIDE CONSUMPTION IS NOT MANAGE AS PER THE PLANNING</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b="1" u="sng" dirty="0">
                <a:solidFill>
                  <a:srgbClr val="00B0F0"/>
                </a:solidFill>
                <a:latin typeface="Arial" panose="020B0604020202020204" pitchFamily="34" charset="0"/>
                <a:cs typeface="Arial" panose="020B0604020202020204" pitchFamily="34" charset="0"/>
              </a:rPr>
              <a:t>Who:- </a:t>
            </a:r>
            <a:br>
              <a:rPr lang="en-US" sz="1600" b="1"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SCM PERSON</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b="1" u="sng" dirty="0">
                <a:solidFill>
                  <a:srgbClr val="00B0F0"/>
                </a:solidFill>
                <a:latin typeface="Arial" panose="020B0604020202020204" pitchFamily="34" charset="0"/>
                <a:cs typeface="Arial" panose="020B0604020202020204" pitchFamily="34" charset="0"/>
              </a:rPr>
              <a:t>When:-</a:t>
            </a:r>
            <a:br>
              <a:rPr lang="en-US" sz="1600" b="1"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DURING RAIL CHANGE</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b="1" u="sng" dirty="0">
                <a:solidFill>
                  <a:srgbClr val="00B0F0"/>
                </a:solidFill>
                <a:latin typeface="Arial" panose="020B0604020202020204" pitchFamily="34" charset="0"/>
                <a:cs typeface="Arial" panose="020B0604020202020204" pitchFamily="34" charset="0"/>
              </a:rPr>
              <a:t>Where :- </a:t>
            </a:r>
            <a:br>
              <a:rPr lang="en-US" sz="1600" b="1"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SEMI AUTO MACHINE AT SEAT SLIDER ASSY. LINE</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b="1" u="sng" dirty="0">
                <a:solidFill>
                  <a:srgbClr val="00B0F0"/>
                </a:solidFill>
                <a:latin typeface="Arial" panose="020B0604020202020204" pitchFamily="34" charset="0"/>
                <a:cs typeface="Arial" panose="020B0604020202020204" pitchFamily="34" charset="0"/>
              </a:rPr>
              <a:t>Why:-</a:t>
            </a:r>
            <a:br>
              <a:rPr lang="en-US" sz="1600" b="1"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SLIDING FORCE OUT OF SPEC. (14.7 - 50.0 KN) </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b="1" u="sng" dirty="0">
                <a:solidFill>
                  <a:srgbClr val="00B0F0"/>
                </a:solidFill>
                <a:latin typeface="Arial" panose="020B0604020202020204" pitchFamily="34" charset="0"/>
                <a:cs typeface="Arial" panose="020B0604020202020204" pitchFamily="34" charset="0"/>
              </a:rPr>
              <a:t>How :-   </a:t>
            </a:r>
            <a:br>
              <a:rPr lang="en-US" sz="1600" b="1" u="sng" dirty="0">
                <a:solidFill>
                  <a:srgbClr val="00B0F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VARIATION IN ROLLING FRICTION BETWEEN BALL &amp; RAILS</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1600" b="1" u="sng" dirty="0">
                <a:solidFill>
                  <a:srgbClr val="00B0F0"/>
                </a:solidFill>
                <a:latin typeface="Arial" panose="020B0604020202020204" pitchFamily="34" charset="0"/>
                <a:cs typeface="Arial" panose="020B0604020202020204" pitchFamily="34" charset="0"/>
              </a:rPr>
              <a:t>How Much:-</a:t>
            </a:r>
            <a:r>
              <a:rPr lang="en-US" sz="1800" b="1" u="sng" dirty="0">
                <a:solidFill>
                  <a:srgbClr val="00B0F0"/>
                </a:solidFill>
                <a:latin typeface="Arial" panose="020B0604020202020204" pitchFamily="34" charset="0"/>
                <a:cs typeface="Arial" panose="020B0604020202020204" pitchFamily="34" charset="0"/>
              </a:rPr>
              <a:t> </a:t>
            </a:r>
            <a:br>
              <a:rPr lang="en-US" sz="1800" b="1" u="sng" dirty="0">
                <a:solidFill>
                  <a:srgbClr val="00B0F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BALL CONSUMPTION FLUCTUATION 9% TO 21%</a:t>
            </a:r>
            <a:br>
              <a:rPr lang="en-US" sz="1600" b="1" u="sng" dirty="0">
                <a:solidFill>
                  <a:srgbClr val="00B0F0"/>
                </a:solidFill>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p:txBody>
      </p:sp>
      <p:sp>
        <p:nvSpPr>
          <p:cNvPr id="5" name="AutoShape 5"/>
          <p:cNvSpPr>
            <a:spLocks noChangeArrowheads="1"/>
          </p:cNvSpPr>
          <p:nvPr/>
        </p:nvSpPr>
        <p:spPr bwMode="auto">
          <a:xfrm>
            <a:off x="33457" y="152401"/>
            <a:ext cx="1732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DEFINE</a:t>
            </a:r>
          </a:p>
        </p:txBody>
      </p:sp>
      <p:pic>
        <p:nvPicPr>
          <p:cNvPr id="2050" name="Picture 2" descr="Lean Six Sigma Input Map Online Training with Certification"/>
          <p:cNvPicPr>
            <a:picLocks noChangeAspect="1" noChangeArrowheads="1"/>
          </p:cNvPicPr>
          <p:nvPr/>
        </p:nvPicPr>
        <p:blipFill rotWithShape="1">
          <a:blip r:embed="rId3">
            <a:extLst>
              <a:ext uri="{28A0092B-C50C-407E-A947-70E740481C1C}">
                <a14:useLocalDpi xmlns:a14="http://schemas.microsoft.com/office/drawing/2010/main" val="0"/>
              </a:ext>
            </a:extLst>
          </a:blip>
          <a:srcRect t="33355"/>
          <a:stretch/>
        </p:blipFill>
        <p:spPr bwMode="auto">
          <a:xfrm>
            <a:off x="6781801" y="2057400"/>
            <a:ext cx="2135899" cy="24384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7164525" y="1693284"/>
            <a:ext cx="1370451" cy="478277"/>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BIG-Y</a:t>
            </a:r>
          </a:p>
        </p:txBody>
      </p:sp>
      <p:sp>
        <p:nvSpPr>
          <p:cNvPr id="6" name="Oval 5"/>
          <p:cNvSpPr/>
          <p:nvPr/>
        </p:nvSpPr>
        <p:spPr>
          <a:xfrm>
            <a:off x="7164525" y="4494964"/>
            <a:ext cx="1370451" cy="478277"/>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TECH-Y</a:t>
            </a:r>
          </a:p>
        </p:txBody>
      </p:sp>
      <p:sp>
        <p:nvSpPr>
          <p:cNvPr id="9" name="Rectangle 8"/>
          <p:cNvSpPr/>
          <p:nvPr/>
        </p:nvSpPr>
        <p:spPr>
          <a:xfrm>
            <a:off x="6858000" y="4973242"/>
            <a:ext cx="2133600" cy="33236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FORCE VARIATION</a:t>
            </a:r>
          </a:p>
        </p:txBody>
      </p:sp>
    </p:spTree>
    <p:extLst>
      <p:ext uri="{BB962C8B-B14F-4D97-AF65-F5344CB8AC3E}">
        <p14:creationId xmlns:p14="http://schemas.microsoft.com/office/powerpoint/2010/main" val="2105279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1547" y="45224"/>
            <a:ext cx="651045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WE CONDUCT 30 PART OF YY8 TOOL FOR CHECK FORCE VARIATION IN SAME BALL GUIDE(BALL SIZE-5.5mm)</a:t>
            </a:r>
          </a:p>
        </p:txBody>
      </p:sp>
      <p:sp>
        <p:nvSpPr>
          <p:cNvPr id="3" name="AutoShape 5"/>
          <p:cNvSpPr>
            <a:spLocks noChangeArrowheads="1"/>
          </p:cNvSpPr>
          <p:nvPr/>
        </p:nvSpPr>
        <p:spPr bwMode="auto">
          <a:xfrm>
            <a:off x="1" y="183102"/>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8" name="Picture 7">
            <a:extLst>
              <a:ext uri="{FF2B5EF4-FFF2-40B4-BE49-F238E27FC236}">
                <a16:creationId xmlns:a16="http://schemas.microsoft.com/office/drawing/2014/main" id="{F1EBE6CB-4079-07C2-F0CF-FC903EECE6C4}"/>
              </a:ext>
            </a:extLst>
          </p:cNvPr>
          <p:cNvPicPr>
            <a:picLocks noChangeAspect="1"/>
          </p:cNvPicPr>
          <p:nvPr/>
        </p:nvPicPr>
        <p:blipFill>
          <a:blip r:embed="rId2"/>
          <a:stretch>
            <a:fillRect/>
          </a:stretch>
        </p:blipFill>
        <p:spPr>
          <a:xfrm>
            <a:off x="76200" y="914400"/>
            <a:ext cx="8915400" cy="5458691"/>
          </a:xfrm>
          <a:prstGeom prst="rect">
            <a:avLst/>
          </a:prstGeom>
        </p:spPr>
      </p:pic>
    </p:spTree>
    <p:extLst>
      <p:ext uri="{BB962C8B-B14F-4D97-AF65-F5344CB8AC3E}">
        <p14:creationId xmlns:p14="http://schemas.microsoft.com/office/powerpoint/2010/main" val="1544042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BFD79-5976-7138-FC7F-19FE38474D8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A1B06C-1CC4-4412-7401-CC8157C99963}"/>
              </a:ext>
            </a:extLst>
          </p:cNvPr>
          <p:cNvPicPr>
            <a:picLocks noChangeAspect="1"/>
          </p:cNvPicPr>
          <p:nvPr/>
        </p:nvPicPr>
        <p:blipFill>
          <a:blip r:embed="rId3"/>
          <a:stretch>
            <a:fillRect/>
          </a:stretch>
        </p:blipFill>
        <p:spPr>
          <a:xfrm>
            <a:off x="89336" y="745159"/>
            <a:ext cx="8990731" cy="2962976"/>
          </a:xfrm>
          <a:prstGeom prst="rect">
            <a:avLst/>
          </a:prstGeom>
          <a:ln>
            <a:solidFill>
              <a:schemeClr val="tx1"/>
            </a:solidFill>
          </a:ln>
        </p:spPr>
      </p:pic>
      <p:sp>
        <p:nvSpPr>
          <p:cNvPr id="3" name="Rectangle 2">
            <a:extLst>
              <a:ext uri="{FF2B5EF4-FFF2-40B4-BE49-F238E27FC236}">
                <a16:creationId xmlns:a16="http://schemas.microsoft.com/office/drawing/2014/main" id="{A9D4C205-6CE8-E9B2-0CE3-A5526718316F}"/>
              </a:ext>
            </a:extLst>
          </p:cNvPr>
          <p:cNvSpPr/>
          <p:nvPr/>
        </p:nvSpPr>
        <p:spPr>
          <a:xfrm>
            <a:off x="2057400" y="85023"/>
            <a:ext cx="571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YY8 RAIL FORCE DATA AT 5.5 MM BALL GUIDE</a:t>
            </a:r>
          </a:p>
        </p:txBody>
      </p:sp>
      <p:sp>
        <p:nvSpPr>
          <p:cNvPr id="4" name="AutoShape 5">
            <a:extLst>
              <a:ext uri="{FF2B5EF4-FFF2-40B4-BE49-F238E27FC236}">
                <a16:creationId xmlns:a16="http://schemas.microsoft.com/office/drawing/2014/main" id="{249D2498-EFBC-C465-B09E-D962FDE2042C}"/>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18" name="Picture 17">
            <a:extLst>
              <a:ext uri="{FF2B5EF4-FFF2-40B4-BE49-F238E27FC236}">
                <a16:creationId xmlns:a16="http://schemas.microsoft.com/office/drawing/2014/main" id="{39DD0CA6-E940-AE82-CF95-9164D1F6D6C4}"/>
              </a:ext>
            </a:extLst>
          </p:cNvPr>
          <p:cNvPicPr>
            <a:picLocks noChangeAspect="1"/>
          </p:cNvPicPr>
          <p:nvPr/>
        </p:nvPicPr>
        <p:blipFill>
          <a:blip r:embed="rId4"/>
          <a:stretch>
            <a:fillRect/>
          </a:stretch>
        </p:blipFill>
        <p:spPr>
          <a:xfrm>
            <a:off x="79176" y="3810000"/>
            <a:ext cx="4492827" cy="2609273"/>
          </a:xfrm>
          <a:prstGeom prst="rect">
            <a:avLst/>
          </a:prstGeom>
          <a:ln>
            <a:solidFill>
              <a:schemeClr val="tx1"/>
            </a:solidFill>
          </a:ln>
        </p:spPr>
      </p:pic>
      <p:pic>
        <p:nvPicPr>
          <p:cNvPr id="22" name="Picture 21">
            <a:extLst>
              <a:ext uri="{FF2B5EF4-FFF2-40B4-BE49-F238E27FC236}">
                <a16:creationId xmlns:a16="http://schemas.microsoft.com/office/drawing/2014/main" id="{466A9A6E-6D60-151B-7A00-2C03A227A0C6}"/>
              </a:ext>
            </a:extLst>
          </p:cNvPr>
          <p:cNvPicPr>
            <a:picLocks noChangeAspect="1"/>
          </p:cNvPicPr>
          <p:nvPr/>
        </p:nvPicPr>
        <p:blipFill>
          <a:blip r:embed="rId5"/>
          <a:stretch>
            <a:fillRect/>
          </a:stretch>
        </p:blipFill>
        <p:spPr>
          <a:xfrm>
            <a:off x="4648203" y="3810000"/>
            <a:ext cx="4431865" cy="2609273"/>
          </a:xfrm>
          <a:prstGeom prst="rect">
            <a:avLst/>
          </a:prstGeom>
          <a:ln>
            <a:solidFill>
              <a:schemeClr val="tx1"/>
            </a:solidFill>
          </a:ln>
        </p:spPr>
      </p:pic>
      <p:sp>
        <p:nvSpPr>
          <p:cNvPr id="23" name="Oval 22">
            <a:extLst>
              <a:ext uri="{FF2B5EF4-FFF2-40B4-BE49-F238E27FC236}">
                <a16:creationId xmlns:a16="http://schemas.microsoft.com/office/drawing/2014/main" id="{59A81606-A48E-1CCF-4104-DC303D56F4A9}"/>
              </a:ext>
            </a:extLst>
          </p:cNvPr>
          <p:cNvSpPr/>
          <p:nvPr/>
        </p:nvSpPr>
        <p:spPr>
          <a:xfrm>
            <a:off x="7541261" y="2105529"/>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Oval Callout 10">
            <a:extLst>
              <a:ext uri="{FF2B5EF4-FFF2-40B4-BE49-F238E27FC236}">
                <a16:creationId xmlns:a16="http://schemas.microsoft.com/office/drawing/2014/main" id="{36238AF3-56F6-2098-8E1A-35E48C8CA1E7}"/>
              </a:ext>
            </a:extLst>
          </p:cNvPr>
          <p:cNvSpPr/>
          <p:nvPr/>
        </p:nvSpPr>
        <p:spPr>
          <a:xfrm>
            <a:off x="7741922" y="2667000"/>
            <a:ext cx="1132843" cy="838200"/>
          </a:xfrm>
          <a:prstGeom prst="wedgeEllipseCallout">
            <a:avLst>
              <a:gd name="adj1" fmla="val -18207"/>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4.95 </a:t>
            </a:r>
          </a:p>
        </p:txBody>
      </p:sp>
    </p:spTree>
    <p:extLst>
      <p:ext uri="{BB962C8B-B14F-4D97-AF65-F5344CB8AC3E}">
        <p14:creationId xmlns:p14="http://schemas.microsoft.com/office/powerpoint/2010/main" val="1501024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C06C1-6972-825F-F531-EFAE628451A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E0DD9C-3B6B-7AEB-04C2-E795EEC3CD25}"/>
              </a:ext>
            </a:extLst>
          </p:cNvPr>
          <p:cNvSpPr/>
          <p:nvPr/>
        </p:nvSpPr>
        <p:spPr>
          <a:xfrm>
            <a:off x="1871547" y="45224"/>
            <a:ext cx="651045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WE CONDUCT 30 PART OF YFG TOOL FOR CHECK FORCE VARIATION IN SAME BALL GUIDE(BALL SIZE-5.5mm)</a:t>
            </a:r>
          </a:p>
        </p:txBody>
      </p:sp>
      <p:sp>
        <p:nvSpPr>
          <p:cNvPr id="3" name="AutoShape 5">
            <a:extLst>
              <a:ext uri="{FF2B5EF4-FFF2-40B4-BE49-F238E27FC236}">
                <a16:creationId xmlns:a16="http://schemas.microsoft.com/office/drawing/2014/main" id="{1FF0552B-F1C9-F328-5E3A-1597D251EA2F}"/>
              </a:ext>
            </a:extLst>
          </p:cNvPr>
          <p:cNvSpPr>
            <a:spLocks noChangeArrowheads="1"/>
          </p:cNvSpPr>
          <p:nvPr/>
        </p:nvSpPr>
        <p:spPr bwMode="auto">
          <a:xfrm>
            <a:off x="1" y="183102"/>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5" name="Picture 4">
            <a:extLst>
              <a:ext uri="{FF2B5EF4-FFF2-40B4-BE49-F238E27FC236}">
                <a16:creationId xmlns:a16="http://schemas.microsoft.com/office/drawing/2014/main" id="{51993BEF-1F3E-EDA0-DEE8-C7708088B15A}"/>
              </a:ext>
            </a:extLst>
          </p:cNvPr>
          <p:cNvPicPr>
            <a:picLocks noChangeAspect="1"/>
          </p:cNvPicPr>
          <p:nvPr/>
        </p:nvPicPr>
        <p:blipFill>
          <a:blip r:embed="rId2"/>
          <a:stretch>
            <a:fillRect/>
          </a:stretch>
        </p:blipFill>
        <p:spPr>
          <a:xfrm>
            <a:off x="38101" y="1021304"/>
            <a:ext cx="8953500" cy="5361023"/>
          </a:xfrm>
          <a:prstGeom prst="rect">
            <a:avLst/>
          </a:prstGeom>
          <a:ln>
            <a:solidFill>
              <a:schemeClr val="tx1"/>
            </a:solidFill>
          </a:ln>
        </p:spPr>
      </p:pic>
    </p:spTree>
    <p:extLst>
      <p:ext uri="{BB962C8B-B14F-4D97-AF65-F5344CB8AC3E}">
        <p14:creationId xmlns:p14="http://schemas.microsoft.com/office/powerpoint/2010/main" val="77210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26D5-F918-FD86-7B78-E3094785970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3638081-9B99-E212-414D-D2B1D0CFA4B3}"/>
              </a:ext>
            </a:extLst>
          </p:cNvPr>
          <p:cNvPicPr>
            <a:picLocks noChangeAspect="1"/>
          </p:cNvPicPr>
          <p:nvPr/>
        </p:nvPicPr>
        <p:blipFill>
          <a:blip r:embed="rId3"/>
          <a:stretch>
            <a:fillRect/>
          </a:stretch>
        </p:blipFill>
        <p:spPr>
          <a:xfrm>
            <a:off x="79177" y="745159"/>
            <a:ext cx="9000891" cy="2962976"/>
          </a:xfrm>
          <a:prstGeom prst="rect">
            <a:avLst/>
          </a:prstGeom>
          <a:ln>
            <a:solidFill>
              <a:schemeClr val="tx1"/>
            </a:solidFill>
          </a:ln>
        </p:spPr>
      </p:pic>
      <p:sp>
        <p:nvSpPr>
          <p:cNvPr id="3" name="Rectangle 2">
            <a:extLst>
              <a:ext uri="{FF2B5EF4-FFF2-40B4-BE49-F238E27FC236}">
                <a16:creationId xmlns:a16="http://schemas.microsoft.com/office/drawing/2014/main" id="{4C2EEF5A-8E65-0007-CB62-62B901A593F2}"/>
              </a:ext>
            </a:extLst>
          </p:cNvPr>
          <p:cNvSpPr/>
          <p:nvPr/>
        </p:nvSpPr>
        <p:spPr>
          <a:xfrm>
            <a:off x="2057400" y="85023"/>
            <a:ext cx="571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YFG RAIL FORCE DATA AT 5.5 MM BALL GUIDE</a:t>
            </a:r>
          </a:p>
        </p:txBody>
      </p:sp>
      <p:sp>
        <p:nvSpPr>
          <p:cNvPr id="4" name="AutoShape 5">
            <a:extLst>
              <a:ext uri="{FF2B5EF4-FFF2-40B4-BE49-F238E27FC236}">
                <a16:creationId xmlns:a16="http://schemas.microsoft.com/office/drawing/2014/main" id="{D006E2CB-2A45-D04D-7E18-542C87EF036D}"/>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5" name="Picture 4">
            <a:extLst>
              <a:ext uri="{FF2B5EF4-FFF2-40B4-BE49-F238E27FC236}">
                <a16:creationId xmlns:a16="http://schemas.microsoft.com/office/drawing/2014/main" id="{E36C1DB6-B1AC-8336-A977-312B5F6A93CE}"/>
              </a:ext>
            </a:extLst>
          </p:cNvPr>
          <p:cNvPicPr>
            <a:picLocks noChangeAspect="1"/>
          </p:cNvPicPr>
          <p:nvPr/>
        </p:nvPicPr>
        <p:blipFill>
          <a:blip r:embed="rId4"/>
          <a:stretch>
            <a:fillRect/>
          </a:stretch>
        </p:blipFill>
        <p:spPr>
          <a:xfrm>
            <a:off x="79178" y="3810001"/>
            <a:ext cx="4492825" cy="2572328"/>
          </a:xfrm>
          <a:prstGeom prst="rect">
            <a:avLst/>
          </a:prstGeom>
          <a:ln>
            <a:solidFill>
              <a:schemeClr val="tx1"/>
            </a:solidFill>
          </a:ln>
        </p:spPr>
      </p:pic>
      <p:pic>
        <p:nvPicPr>
          <p:cNvPr id="8" name="Picture 7">
            <a:extLst>
              <a:ext uri="{FF2B5EF4-FFF2-40B4-BE49-F238E27FC236}">
                <a16:creationId xmlns:a16="http://schemas.microsoft.com/office/drawing/2014/main" id="{71FA859B-8442-B7AA-3E2E-0C848FADCE4D}"/>
              </a:ext>
            </a:extLst>
          </p:cNvPr>
          <p:cNvPicPr>
            <a:picLocks noChangeAspect="1"/>
          </p:cNvPicPr>
          <p:nvPr/>
        </p:nvPicPr>
        <p:blipFill>
          <a:blip r:embed="rId5"/>
          <a:stretch>
            <a:fillRect/>
          </a:stretch>
        </p:blipFill>
        <p:spPr>
          <a:xfrm>
            <a:off x="4648203" y="3809472"/>
            <a:ext cx="4431865" cy="2572856"/>
          </a:xfrm>
          <a:prstGeom prst="rect">
            <a:avLst/>
          </a:prstGeom>
          <a:ln>
            <a:solidFill>
              <a:schemeClr val="tx1"/>
            </a:solidFill>
          </a:ln>
        </p:spPr>
      </p:pic>
      <p:sp>
        <p:nvSpPr>
          <p:cNvPr id="11" name="Oval Callout 10">
            <a:extLst>
              <a:ext uri="{FF2B5EF4-FFF2-40B4-BE49-F238E27FC236}">
                <a16:creationId xmlns:a16="http://schemas.microsoft.com/office/drawing/2014/main" id="{8EFF5091-75F9-95C4-5091-CE7CB29D9487}"/>
              </a:ext>
            </a:extLst>
          </p:cNvPr>
          <p:cNvSpPr/>
          <p:nvPr/>
        </p:nvSpPr>
        <p:spPr>
          <a:xfrm>
            <a:off x="7467602" y="2662323"/>
            <a:ext cx="1132843" cy="838200"/>
          </a:xfrm>
          <a:prstGeom prst="wedgeEllipseCallout">
            <a:avLst>
              <a:gd name="adj1" fmla="val -18207"/>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6.74 </a:t>
            </a:r>
          </a:p>
        </p:txBody>
      </p:sp>
      <p:sp>
        <p:nvSpPr>
          <p:cNvPr id="12" name="Oval 11">
            <a:extLst>
              <a:ext uri="{FF2B5EF4-FFF2-40B4-BE49-F238E27FC236}">
                <a16:creationId xmlns:a16="http://schemas.microsoft.com/office/drawing/2014/main" id="{6393E782-4869-052F-1FCD-3A14B72553E5}"/>
              </a:ext>
            </a:extLst>
          </p:cNvPr>
          <p:cNvSpPr/>
          <p:nvPr/>
        </p:nvSpPr>
        <p:spPr>
          <a:xfrm>
            <a:off x="7493000" y="2145767"/>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781450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5BF09-5D95-2412-41E5-C757129242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F611875-F7F5-9D69-48F0-FBEC7D213869}"/>
              </a:ext>
            </a:extLst>
          </p:cNvPr>
          <p:cNvSpPr/>
          <p:nvPr/>
        </p:nvSpPr>
        <p:spPr>
          <a:xfrm>
            <a:off x="1871547" y="45224"/>
            <a:ext cx="651045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WE CONDUCT 30 PART OF YTA TOOL FOR CHECK FORCE VARIATION IN SAME BALL GUIDE(BALL SIZE-5.5mm)</a:t>
            </a:r>
          </a:p>
        </p:txBody>
      </p:sp>
      <p:sp>
        <p:nvSpPr>
          <p:cNvPr id="3" name="AutoShape 5">
            <a:extLst>
              <a:ext uri="{FF2B5EF4-FFF2-40B4-BE49-F238E27FC236}">
                <a16:creationId xmlns:a16="http://schemas.microsoft.com/office/drawing/2014/main" id="{CB97222D-F816-E04E-3B04-265EFCDF8950}"/>
              </a:ext>
            </a:extLst>
          </p:cNvPr>
          <p:cNvSpPr>
            <a:spLocks noChangeArrowheads="1"/>
          </p:cNvSpPr>
          <p:nvPr/>
        </p:nvSpPr>
        <p:spPr bwMode="auto">
          <a:xfrm>
            <a:off x="1" y="183102"/>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5" name="Picture 4">
            <a:extLst>
              <a:ext uri="{FF2B5EF4-FFF2-40B4-BE49-F238E27FC236}">
                <a16:creationId xmlns:a16="http://schemas.microsoft.com/office/drawing/2014/main" id="{93C3DA5F-2305-FFEB-E774-FDE5600AADAC}"/>
              </a:ext>
            </a:extLst>
          </p:cNvPr>
          <p:cNvPicPr>
            <a:picLocks noChangeAspect="1"/>
          </p:cNvPicPr>
          <p:nvPr/>
        </p:nvPicPr>
        <p:blipFill>
          <a:blip r:embed="rId2"/>
          <a:stretch>
            <a:fillRect/>
          </a:stretch>
        </p:blipFill>
        <p:spPr>
          <a:xfrm>
            <a:off x="76200" y="1021303"/>
            <a:ext cx="8915400" cy="5370262"/>
          </a:xfrm>
          <a:prstGeom prst="rect">
            <a:avLst/>
          </a:prstGeom>
          <a:ln>
            <a:solidFill>
              <a:schemeClr val="tx1"/>
            </a:solidFill>
          </a:ln>
        </p:spPr>
      </p:pic>
    </p:spTree>
    <p:extLst>
      <p:ext uri="{BB962C8B-B14F-4D97-AF65-F5344CB8AC3E}">
        <p14:creationId xmlns:p14="http://schemas.microsoft.com/office/powerpoint/2010/main" val="3789141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37CCD-D67B-978D-181A-BF510B6EB9B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87A4524-84D5-55A1-B46E-669B7DEED294}"/>
              </a:ext>
            </a:extLst>
          </p:cNvPr>
          <p:cNvPicPr>
            <a:picLocks noChangeAspect="1"/>
          </p:cNvPicPr>
          <p:nvPr/>
        </p:nvPicPr>
        <p:blipFill>
          <a:blip r:embed="rId3"/>
          <a:stretch>
            <a:fillRect/>
          </a:stretch>
        </p:blipFill>
        <p:spPr>
          <a:xfrm>
            <a:off x="79177" y="745161"/>
            <a:ext cx="9000891" cy="2955105"/>
          </a:xfrm>
          <a:prstGeom prst="rect">
            <a:avLst/>
          </a:prstGeom>
          <a:ln>
            <a:solidFill>
              <a:schemeClr val="tx1"/>
            </a:solidFill>
          </a:ln>
        </p:spPr>
      </p:pic>
      <p:pic>
        <p:nvPicPr>
          <p:cNvPr id="2" name="Picture 1" descr="I-MR Chart of MIN. FORCE">
            <a:extLst>
              <a:ext uri="{FF2B5EF4-FFF2-40B4-BE49-F238E27FC236}">
                <a16:creationId xmlns:a16="http://schemas.microsoft.com/office/drawing/2014/main" id="{9CCB6F8A-4498-3358-2216-9BFD3F86ED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78" y="3817875"/>
            <a:ext cx="4492825" cy="2536744"/>
          </a:xfrm>
          <a:prstGeom prst="rect">
            <a:avLst/>
          </a:prstGeom>
          <a:ln>
            <a:solidFill>
              <a:schemeClr val="tx1"/>
            </a:solidFill>
          </a:ln>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9A6CDB2-D1C9-6CCA-EB9E-FD50920DCC7A}"/>
              </a:ext>
            </a:extLst>
          </p:cNvPr>
          <p:cNvSpPr/>
          <p:nvPr/>
        </p:nvSpPr>
        <p:spPr>
          <a:xfrm>
            <a:off x="2057400" y="85023"/>
            <a:ext cx="571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YTA RAIL FORCE DATA AT 5.5 MM BALL GUIDE</a:t>
            </a:r>
          </a:p>
        </p:txBody>
      </p:sp>
      <p:sp>
        <p:nvSpPr>
          <p:cNvPr id="4" name="AutoShape 5">
            <a:extLst>
              <a:ext uri="{FF2B5EF4-FFF2-40B4-BE49-F238E27FC236}">
                <a16:creationId xmlns:a16="http://schemas.microsoft.com/office/drawing/2014/main" id="{AB270FF0-1485-A538-FD9D-750F2271E1F1}"/>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6" name="Picture 5">
            <a:extLst>
              <a:ext uri="{FF2B5EF4-FFF2-40B4-BE49-F238E27FC236}">
                <a16:creationId xmlns:a16="http://schemas.microsoft.com/office/drawing/2014/main" id="{A6780459-4611-4E8E-6889-1CE095DAD3CB}"/>
              </a:ext>
            </a:extLst>
          </p:cNvPr>
          <p:cNvPicPr>
            <a:picLocks noChangeAspect="1"/>
          </p:cNvPicPr>
          <p:nvPr/>
        </p:nvPicPr>
        <p:blipFill>
          <a:blip r:embed="rId5"/>
          <a:stretch>
            <a:fillRect/>
          </a:stretch>
        </p:blipFill>
        <p:spPr>
          <a:xfrm>
            <a:off x="4648203" y="3827004"/>
            <a:ext cx="4431865" cy="2530019"/>
          </a:xfrm>
          <a:prstGeom prst="rect">
            <a:avLst/>
          </a:prstGeom>
          <a:ln>
            <a:solidFill>
              <a:schemeClr val="tx1"/>
            </a:solidFill>
          </a:ln>
        </p:spPr>
      </p:pic>
      <p:sp>
        <p:nvSpPr>
          <p:cNvPr id="10" name="Oval 9">
            <a:extLst>
              <a:ext uri="{FF2B5EF4-FFF2-40B4-BE49-F238E27FC236}">
                <a16:creationId xmlns:a16="http://schemas.microsoft.com/office/drawing/2014/main" id="{D3C017C3-A41C-D29F-3D3C-4431B636EE5B}"/>
              </a:ext>
            </a:extLst>
          </p:cNvPr>
          <p:cNvSpPr/>
          <p:nvPr/>
        </p:nvSpPr>
        <p:spPr>
          <a:xfrm>
            <a:off x="7493000" y="2109803"/>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Callout 10">
            <a:extLst>
              <a:ext uri="{FF2B5EF4-FFF2-40B4-BE49-F238E27FC236}">
                <a16:creationId xmlns:a16="http://schemas.microsoft.com/office/drawing/2014/main" id="{A91B9FDF-649C-0124-CC51-046FA1F43ECB}"/>
              </a:ext>
            </a:extLst>
          </p:cNvPr>
          <p:cNvSpPr/>
          <p:nvPr/>
        </p:nvSpPr>
        <p:spPr>
          <a:xfrm>
            <a:off x="7467602" y="2626360"/>
            <a:ext cx="1132843" cy="838200"/>
          </a:xfrm>
          <a:prstGeom prst="wedgeEllipseCallout">
            <a:avLst>
              <a:gd name="adj1" fmla="val -18207"/>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3.75 </a:t>
            </a:r>
          </a:p>
        </p:txBody>
      </p:sp>
    </p:spTree>
    <p:extLst>
      <p:ext uri="{BB962C8B-B14F-4D97-AF65-F5344CB8AC3E}">
        <p14:creationId xmlns:p14="http://schemas.microsoft.com/office/powerpoint/2010/main" val="1895242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B1A8-C9AE-43B2-83CD-731B7B687D3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12CBC584-3699-7581-DA72-622CEA0443CB}"/>
              </a:ext>
            </a:extLst>
          </p:cNvPr>
          <p:cNvPicPr>
            <a:picLocks noChangeAspect="1"/>
          </p:cNvPicPr>
          <p:nvPr/>
        </p:nvPicPr>
        <p:blipFill>
          <a:blip r:embed="rId3"/>
          <a:stretch>
            <a:fillRect/>
          </a:stretch>
        </p:blipFill>
        <p:spPr>
          <a:xfrm>
            <a:off x="79173" y="762002"/>
            <a:ext cx="4416627" cy="2921817"/>
          </a:xfrm>
          <a:prstGeom prst="rect">
            <a:avLst/>
          </a:prstGeom>
          <a:ln>
            <a:solidFill>
              <a:schemeClr val="tx1"/>
            </a:solidFill>
          </a:ln>
        </p:spPr>
      </p:pic>
      <p:sp>
        <p:nvSpPr>
          <p:cNvPr id="3" name="Rectangle 2">
            <a:extLst>
              <a:ext uri="{FF2B5EF4-FFF2-40B4-BE49-F238E27FC236}">
                <a16:creationId xmlns:a16="http://schemas.microsoft.com/office/drawing/2014/main" id="{70EE1AA4-FC8B-9131-A86F-5E92B4BD6D89}"/>
              </a:ext>
            </a:extLst>
          </p:cNvPr>
          <p:cNvSpPr/>
          <p:nvPr/>
        </p:nvSpPr>
        <p:spPr>
          <a:xfrm>
            <a:off x="2057400" y="85023"/>
            <a:ext cx="6197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COMBINED FORCE DATA OF ALL RAIL IN 5.5 MM BALL GUIDE</a:t>
            </a:r>
          </a:p>
        </p:txBody>
      </p:sp>
      <p:sp>
        <p:nvSpPr>
          <p:cNvPr id="4" name="AutoShape 5">
            <a:extLst>
              <a:ext uri="{FF2B5EF4-FFF2-40B4-BE49-F238E27FC236}">
                <a16:creationId xmlns:a16="http://schemas.microsoft.com/office/drawing/2014/main" id="{3887FBB3-B9EF-7F25-082C-25F8C9760C44}"/>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sp>
        <p:nvSpPr>
          <p:cNvPr id="10" name="Oval 9">
            <a:extLst>
              <a:ext uri="{FF2B5EF4-FFF2-40B4-BE49-F238E27FC236}">
                <a16:creationId xmlns:a16="http://schemas.microsoft.com/office/drawing/2014/main" id="{A215DDC7-AAD3-B9F3-4654-D4CFA99BB0AB}"/>
              </a:ext>
            </a:extLst>
          </p:cNvPr>
          <p:cNvSpPr/>
          <p:nvPr/>
        </p:nvSpPr>
        <p:spPr>
          <a:xfrm>
            <a:off x="3499311" y="2179337"/>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Callout 10">
            <a:extLst>
              <a:ext uri="{FF2B5EF4-FFF2-40B4-BE49-F238E27FC236}">
                <a16:creationId xmlns:a16="http://schemas.microsoft.com/office/drawing/2014/main" id="{A6AFC0CE-9568-7397-0B1F-E7C3EB052A16}"/>
              </a:ext>
            </a:extLst>
          </p:cNvPr>
          <p:cNvSpPr/>
          <p:nvPr/>
        </p:nvSpPr>
        <p:spPr>
          <a:xfrm>
            <a:off x="3313889" y="2743200"/>
            <a:ext cx="1132843" cy="838200"/>
          </a:xfrm>
          <a:prstGeom prst="wedgeEllipseCallout">
            <a:avLst>
              <a:gd name="adj1" fmla="val 6695"/>
              <a:gd name="adj2" fmla="val -86731"/>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3.12 </a:t>
            </a:r>
          </a:p>
        </p:txBody>
      </p:sp>
      <p:pic>
        <p:nvPicPr>
          <p:cNvPr id="5" name="Picture 4">
            <a:extLst>
              <a:ext uri="{FF2B5EF4-FFF2-40B4-BE49-F238E27FC236}">
                <a16:creationId xmlns:a16="http://schemas.microsoft.com/office/drawing/2014/main" id="{0CDCBAA8-BEFE-A2EB-2330-322E901A00DD}"/>
              </a:ext>
            </a:extLst>
          </p:cNvPr>
          <p:cNvPicPr>
            <a:picLocks noChangeAspect="1"/>
          </p:cNvPicPr>
          <p:nvPr/>
        </p:nvPicPr>
        <p:blipFill>
          <a:blip r:embed="rId4"/>
          <a:stretch>
            <a:fillRect/>
          </a:stretch>
        </p:blipFill>
        <p:spPr>
          <a:xfrm>
            <a:off x="79174" y="3851157"/>
            <a:ext cx="4416627" cy="2549643"/>
          </a:xfrm>
          <a:prstGeom prst="rect">
            <a:avLst/>
          </a:prstGeom>
          <a:ln>
            <a:solidFill>
              <a:schemeClr val="tx1"/>
            </a:solidFill>
          </a:ln>
        </p:spPr>
      </p:pic>
      <p:pic>
        <p:nvPicPr>
          <p:cNvPr id="8" name="Picture 7">
            <a:extLst>
              <a:ext uri="{FF2B5EF4-FFF2-40B4-BE49-F238E27FC236}">
                <a16:creationId xmlns:a16="http://schemas.microsoft.com/office/drawing/2014/main" id="{5B0859D2-078A-455E-E9CF-61F49E0D87F3}"/>
              </a:ext>
            </a:extLst>
          </p:cNvPr>
          <p:cNvPicPr>
            <a:picLocks noChangeAspect="1"/>
          </p:cNvPicPr>
          <p:nvPr/>
        </p:nvPicPr>
        <p:blipFill>
          <a:blip r:embed="rId5"/>
          <a:stretch>
            <a:fillRect/>
          </a:stretch>
        </p:blipFill>
        <p:spPr>
          <a:xfrm>
            <a:off x="4648205" y="3851157"/>
            <a:ext cx="4431861" cy="2549643"/>
          </a:xfrm>
          <a:prstGeom prst="rect">
            <a:avLst/>
          </a:prstGeom>
          <a:ln>
            <a:solidFill>
              <a:schemeClr val="tx1"/>
            </a:solidFill>
          </a:ln>
        </p:spPr>
      </p:pic>
      <p:sp>
        <p:nvSpPr>
          <p:cNvPr id="2" name="Rectangle 1">
            <a:extLst>
              <a:ext uri="{FF2B5EF4-FFF2-40B4-BE49-F238E27FC236}">
                <a16:creationId xmlns:a16="http://schemas.microsoft.com/office/drawing/2014/main" id="{EEC5E348-7864-63EB-1753-385C3E8F3C18}"/>
              </a:ext>
            </a:extLst>
          </p:cNvPr>
          <p:cNvSpPr/>
          <p:nvPr/>
        </p:nvSpPr>
        <p:spPr>
          <a:xfrm>
            <a:off x="4648202" y="767253"/>
            <a:ext cx="4431864" cy="2916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u="sng" dirty="0">
                <a:solidFill>
                  <a:schemeClr val="tx1"/>
                </a:solidFill>
              </a:rPr>
              <a:t>CONCLUSION</a:t>
            </a:r>
            <a:r>
              <a:rPr lang="en-US" sz="2800" b="1" dirty="0">
                <a:solidFill>
                  <a:schemeClr val="tx1"/>
                </a:solidFill>
              </a:rPr>
              <a:t>:- </a:t>
            </a:r>
            <a:r>
              <a:rPr lang="en-US" sz="2400" dirty="0">
                <a:solidFill>
                  <a:schemeClr val="tx1"/>
                </a:solidFill>
              </a:rPr>
              <a:t>Capability is ok but Stability is not ok in all in-house rails with the same ball guide (5.5mm).</a:t>
            </a:r>
            <a:endParaRPr lang="en-US" dirty="0">
              <a:solidFill>
                <a:schemeClr val="tx1"/>
              </a:solidFill>
            </a:endParaRPr>
          </a:p>
        </p:txBody>
      </p:sp>
    </p:spTree>
    <p:extLst>
      <p:ext uri="{BB962C8B-B14F-4D97-AF65-F5344CB8AC3E}">
        <p14:creationId xmlns:p14="http://schemas.microsoft.com/office/powerpoint/2010/main" val="463051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2F166-434E-9882-84A1-107DDDB793F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1829A1-3A18-6DAD-BA29-E39C2E80AB25}"/>
              </a:ext>
            </a:extLst>
          </p:cNvPr>
          <p:cNvSpPr/>
          <p:nvPr/>
        </p:nvSpPr>
        <p:spPr>
          <a:xfrm>
            <a:off x="1871547" y="45224"/>
            <a:ext cx="651045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WE CONDUCT 30 PART OF YY8 TOOL FOR CHECK FORCE VARIATION IN SAME BALL GUIDE(BALL SIZE-5.6mm)</a:t>
            </a:r>
          </a:p>
        </p:txBody>
      </p:sp>
      <p:sp>
        <p:nvSpPr>
          <p:cNvPr id="3" name="AutoShape 5">
            <a:extLst>
              <a:ext uri="{FF2B5EF4-FFF2-40B4-BE49-F238E27FC236}">
                <a16:creationId xmlns:a16="http://schemas.microsoft.com/office/drawing/2014/main" id="{6679FC9E-6988-F0EF-B915-AFC395D2D7E8}"/>
              </a:ext>
            </a:extLst>
          </p:cNvPr>
          <p:cNvSpPr>
            <a:spLocks noChangeArrowheads="1"/>
          </p:cNvSpPr>
          <p:nvPr/>
        </p:nvSpPr>
        <p:spPr bwMode="auto">
          <a:xfrm>
            <a:off x="1" y="183102"/>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4" name="Picture 3">
            <a:extLst>
              <a:ext uri="{FF2B5EF4-FFF2-40B4-BE49-F238E27FC236}">
                <a16:creationId xmlns:a16="http://schemas.microsoft.com/office/drawing/2014/main" id="{04E257EF-96BB-52A2-4759-ECFA4722E85D}"/>
              </a:ext>
            </a:extLst>
          </p:cNvPr>
          <p:cNvPicPr>
            <a:picLocks noChangeAspect="1"/>
          </p:cNvPicPr>
          <p:nvPr/>
        </p:nvPicPr>
        <p:blipFill>
          <a:blip r:embed="rId2"/>
          <a:stretch>
            <a:fillRect/>
          </a:stretch>
        </p:blipFill>
        <p:spPr>
          <a:xfrm>
            <a:off x="152400" y="985744"/>
            <a:ext cx="8915400" cy="5387347"/>
          </a:xfrm>
          <a:prstGeom prst="rect">
            <a:avLst/>
          </a:prstGeom>
        </p:spPr>
      </p:pic>
    </p:spTree>
    <p:extLst>
      <p:ext uri="{BB962C8B-B14F-4D97-AF65-F5344CB8AC3E}">
        <p14:creationId xmlns:p14="http://schemas.microsoft.com/office/powerpoint/2010/main" val="2048087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7D3B6-C66B-7B4F-D71F-9B0399044EF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7C073BA-DB3D-E80B-E485-798B6FEED14A}"/>
              </a:ext>
            </a:extLst>
          </p:cNvPr>
          <p:cNvPicPr>
            <a:picLocks noChangeAspect="1"/>
          </p:cNvPicPr>
          <p:nvPr/>
        </p:nvPicPr>
        <p:blipFill>
          <a:blip r:embed="rId3"/>
          <a:stretch>
            <a:fillRect/>
          </a:stretch>
        </p:blipFill>
        <p:spPr>
          <a:xfrm>
            <a:off x="63935" y="757240"/>
            <a:ext cx="9016132" cy="2976563"/>
          </a:xfrm>
          <a:prstGeom prst="rect">
            <a:avLst/>
          </a:prstGeom>
          <a:ln>
            <a:solidFill>
              <a:schemeClr val="tx1"/>
            </a:solidFill>
          </a:ln>
        </p:spPr>
      </p:pic>
      <p:sp>
        <p:nvSpPr>
          <p:cNvPr id="3" name="Rectangle 2">
            <a:extLst>
              <a:ext uri="{FF2B5EF4-FFF2-40B4-BE49-F238E27FC236}">
                <a16:creationId xmlns:a16="http://schemas.microsoft.com/office/drawing/2014/main" id="{2E8B6757-1A7A-F8CE-1568-51D6119364C8}"/>
              </a:ext>
            </a:extLst>
          </p:cNvPr>
          <p:cNvSpPr/>
          <p:nvPr/>
        </p:nvSpPr>
        <p:spPr>
          <a:xfrm>
            <a:off x="2057400" y="85023"/>
            <a:ext cx="571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YY8 RAIL FORCE DATA AT 5.6 MM BALL GUIDE</a:t>
            </a:r>
          </a:p>
        </p:txBody>
      </p:sp>
      <p:sp>
        <p:nvSpPr>
          <p:cNvPr id="4" name="AutoShape 5">
            <a:extLst>
              <a:ext uri="{FF2B5EF4-FFF2-40B4-BE49-F238E27FC236}">
                <a16:creationId xmlns:a16="http://schemas.microsoft.com/office/drawing/2014/main" id="{F5DC1392-431F-5FF0-AA46-D936988E0C54}"/>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sp>
        <p:nvSpPr>
          <p:cNvPr id="23" name="Oval 22">
            <a:extLst>
              <a:ext uri="{FF2B5EF4-FFF2-40B4-BE49-F238E27FC236}">
                <a16:creationId xmlns:a16="http://schemas.microsoft.com/office/drawing/2014/main" id="{100B422B-27AB-0C03-10FE-984D5B21846D}"/>
              </a:ext>
            </a:extLst>
          </p:cNvPr>
          <p:cNvSpPr/>
          <p:nvPr/>
        </p:nvSpPr>
        <p:spPr>
          <a:xfrm>
            <a:off x="7500621" y="2124401"/>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Oval Callout 10">
            <a:extLst>
              <a:ext uri="{FF2B5EF4-FFF2-40B4-BE49-F238E27FC236}">
                <a16:creationId xmlns:a16="http://schemas.microsoft.com/office/drawing/2014/main" id="{F66DA81E-F30A-270A-C1A9-DFDA06423A45}"/>
              </a:ext>
            </a:extLst>
          </p:cNvPr>
          <p:cNvSpPr/>
          <p:nvPr/>
        </p:nvSpPr>
        <p:spPr>
          <a:xfrm>
            <a:off x="7696202" y="2641279"/>
            <a:ext cx="1132843" cy="838200"/>
          </a:xfrm>
          <a:prstGeom prst="wedgeEllipseCallout">
            <a:avLst>
              <a:gd name="adj1" fmla="val -18207"/>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2.77 </a:t>
            </a:r>
          </a:p>
        </p:txBody>
      </p:sp>
      <p:pic>
        <p:nvPicPr>
          <p:cNvPr id="8" name="Picture 7">
            <a:extLst>
              <a:ext uri="{FF2B5EF4-FFF2-40B4-BE49-F238E27FC236}">
                <a16:creationId xmlns:a16="http://schemas.microsoft.com/office/drawing/2014/main" id="{F5886ADC-E340-A72A-F6BB-89D8BB65E1AF}"/>
              </a:ext>
            </a:extLst>
          </p:cNvPr>
          <p:cNvPicPr>
            <a:picLocks noChangeAspect="1"/>
          </p:cNvPicPr>
          <p:nvPr/>
        </p:nvPicPr>
        <p:blipFill>
          <a:blip r:embed="rId4"/>
          <a:stretch>
            <a:fillRect/>
          </a:stretch>
        </p:blipFill>
        <p:spPr>
          <a:xfrm>
            <a:off x="63938" y="3834871"/>
            <a:ext cx="4543359" cy="2519747"/>
          </a:xfrm>
          <a:prstGeom prst="rect">
            <a:avLst/>
          </a:prstGeom>
          <a:ln>
            <a:solidFill>
              <a:schemeClr val="tx1"/>
            </a:solidFill>
          </a:ln>
        </p:spPr>
      </p:pic>
      <p:pic>
        <p:nvPicPr>
          <p:cNvPr id="13" name="Picture 12">
            <a:extLst>
              <a:ext uri="{FF2B5EF4-FFF2-40B4-BE49-F238E27FC236}">
                <a16:creationId xmlns:a16="http://schemas.microsoft.com/office/drawing/2014/main" id="{9352C3ED-7F5F-B5DE-8076-0D49495F5812}"/>
              </a:ext>
            </a:extLst>
          </p:cNvPr>
          <p:cNvPicPr>
            <a:picLocks noChangeAspect="1"/>
          </p:cNvPicPr>
          <p:nvPr/>
        </p:nvPicPr>
        <p:blipFill>
          <a:blip r:embed="rId5"/>
          <a:stretch>
            <a:fillRect/>
          </a:stretch>
        </p:blipFill>
        <p:spPr>
          <a:xfrm>
            <a:off x="4669974" y="3834871"/>
            <a:ext cx="4410095" cy="2519747"/>
          </a:xfrm>
          <a:prstGeom prst="rect">
            <a:avLst/>
          </a:prstGeom>
          <a:ln>
            <a:solidFill>
              <a:schemeClr val="tx1"/>
            </a:solidFill>
          </a:ln>
        </p:spPr>
      </p:pic>
    </p:spTree>
    <p:extLst>
      <p:ext uri="{BB962C8B-B14F-4D97-AF65-F5344CB8AC3E}">
        <p14:creationId xmlns:p14="http://schemas.microsoft.com/office/powerpoint/2010/main" val="3848778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4BAC5-059E-07C7-6B38-76E8D39ED9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2E336E-0F1F-6CDA-9948-E317740DAC77}"/>
              </a:ext>
            </a:extLst>
          </p:cNvPr>
          <p:cNvSpPr/>
          <p:nvPr/>
        </p:nvSpPr>
        <p:spPr>
          <a:xfrm>
            <a:off x="1871547" y="45224"/>
            <a:ext cx="651045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WE CONDUCT 30 PART OF YFG TOOL FOR CHECK FORCE VARIATION IN SAME BALL GUIDE(BALL SIZE-5.6mm)</a:t>
            </a:r>
          </a:p>
        </p:txBody>
      </p:sp>
      <p:sp>
        <p:nvSpPr>
          <p:cNvPr id="3" name="AutoShape 5">
            <a:extLst>
              <a:ext uri="{FF2B5EF4-FFF2-40B4-BE49-F238E27FC236}">
                <a16:creationId xmlns:a16="http://schemas.microsoft.com/office/drawing/2014/main" id="{A2ABCB16-C58E-3D7C-2CCC-6B6FCDBF3C8A}"/>
              </a:ext>
            </a:extLst>
          </p:cNvPr>
          <p:cNvSpPr>
            <a:spLocks noChangeArrowheads="1"/>
          </p:cNvSpPr>
          <p:nvPr/>
        </p:nvSpPr>
        <p:spPr bwMode="auto">
          <a:xfrm>
            <a:off x="1" y="183102"/>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4" name="Picture 3">
            <a:extLst>
              <a:ext uri="{FF2B5EF4-FFF2-40B4-BE49-F238E27FC236}">
                <a16:creationId xmlns:a16="http://schemas.microsoft.com/office/drawing/2014/main" id="{80A7C5BF-695E-B4B6-153E-4C6331490224}"/>
              </a:ext>
            </a:extLst>
          </p:cNvPr>
          <p:cNvPicPr>
            <a:picLocks noChangeAspect="1"/>
          </p:cNvPicPr>
          <p:nvPr/>
        </p:nvPicPr>
        <p:blipFill>
          <a:blip r:embed="rId2"/>
          <a:stretch>
            <a:fillRect/>
          </a:stretch>
        </p:blipFill>
        <p:spPr>
          <a:xfrm>
            <a:off x="152400" y="1010419"/>
            <a:ext cx="8915400" cy="5344200"/>
          </a:xfrm>
          <a:prstGeom prst="rect">
            <a:avLst/>
          </a:prstGeom>
        </p:spPr>
      </p:pic>
    </p:spTree>
    <p:extLst>
      <p:ext uri="{BB962C8B-B14F-4D97-AF65-F5344CB8AC3E}">
        <p14:creationId xmlns:p14="http://schemas.microsoft.com/office/powerpoint/2010/main" val="797216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AA7FA-76CE-E4EB-2D0E-2D71131404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CF6FC8A-FEE9-CBB9-09D7-B4F5B171F77F}"/>
              </a:ext>
            </a:extLst>
          </p:cNvPr>
          <p:cNvPicPr>
            <a:picLocks noChangeAspect="1"/>
          </p:cNvPicPr>
          <p:nvPr/>
        </p:nvPicPr>
        <p:blipFill>
          <a:blip r:embed="rId3"/>
          <a:stretch>
            <a:fillRect/>
          </a:stretch>
        </p:blipFill>
        <p:spPr>
          <a:xfrm>
            <a:off x="76202" y="757240"/>
            <a:ext cx="9003865" cy="2973669"/>
          </a:xfrm>
          <a:prstGeom prst="rect">
            <a:avLst/>
          </a:prstGeom>
          <a:ln>
            <a:solidFill>
              <a:schemeClr val="tx1"/>
            </a:solidFill>
          </a:ln>
        </p:spPr>
      </p:pic>
      <p:sp>
        <p:nvSpPr>
          <p:cNvPr id="3" name="Rectangle 2">
            <a:extLst>
              <a:ext uri="{FF2B5EF4-FFF2-40B4-BE49-F238E27FC236}">
                <a16:creationId xmlns:a16="http://schemas.microsoft.com/office/drawing/2014/main" id="{E505840D-5892-2ACE-16D0-B1683AAEB68C}"/>
              </a:ext>
            </a:extLst>
          </p:cNvPr>
          <p:cNvSpPr/>
          <p:nvPr/>
        </p:nvSpPr>
        <p:spPr>
          <a:xfrm>
            <a:off x="2057400" y="85023"/>
            <a:ext cx="571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YFG RAIL FORCE DATA AT 5.6 MM BALL GUIDE</a:t>
            </a:r>
          </a:p>
        </p:txBody>
      </p:sp>
      <p:sp>
        <p:nvSpPr>
          <p:cNvPr id="4" name="AutoShape 5">
            <a:extLst>
              <a:ext uri="{FF2B5EF4-FFF2-40B4-BE49-F238E27FC236}">
                <a16:creationId xmlns:a16="http://schemas.microsoft.com/office/drawing/2014/main" id="{E881C922-7423-8279-EE19-9779E73ABEA6}"/>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sp>
        <p:nvSpPr>
          <p:cNvPr id="11" name="Oval Callout 10">
            <a:extLst>
              <a:ext uri="{FF2B5EF4-FFF2-40B4-BE49-F238E27FC236}">
                <a16:creationId xmlns:a16="http://schemas.microsoft.com/office/drawing/2014/main" id="{673971E7-E914-F8A2-C83C-2B540846B5F8}"/>
              </a:ext>
            </a:extLst>
          </p:cNvPr>
          <p:cNvSpPr/>
          <p:nvPr/>
        </p:nvSpPr>
        <p:spPr>
          <a:xfrm>
            <a:off x="7467602" y="2650157"/>
            <a:ext cx="1132843" cy="838200"/>
          </a:xfrm>
          <a:prstGeom prst="wedgeEllipseCallout">
            <a:avLst>
              <a:gd name="adj1" fmla="val -18207"/>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6.38 </a:t>
            </a:r>
          </a:p>
        </p:txBody>
      </p:sp>
      <p:sp>
        <p:nvSpPr>
          <p:cNvPr id="12" name="Oval 11">
            <a:extLst>
              <a:ext uri="{FF2B5EF4-FFF2-40B4-BE49-F238E27FC236}">
                <a16:creationId xmlns:a16="http://schemas.microsoft.com/office/drawing/2014/main" id="{3AC49EB4-CA4E-B194-09E2-888CF8D23ADE}"/>
              </a:ext>
            </a:extLst>
          </p:cNvPr>
          <p:cNvSpPr/>
          <p:nvPr/>
        </p:nvSpPr>
        <p:spPr>
          <a:xfrm>
            <a:off x="7493000" y="2133601"/>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a:extLst>
              <a:ext uri="{FF2B5EF4-FFF2-40B4-BE49-F238E27FC236}">
                <a16:creationId xmlns:a16="http://schemas.microsoft.com/office/drawing/2014/main" id="{7C60811E-62AC-E31B-471D-3138E9327BD4}"/>
              </a:ext>
            </a:extLst>
          </p:cNvPr>
          <p:cNvPicPr>
            <a:picLocks noChangeAspect="1"/>
          </p:cNvPicPr>
          <p:nvPr/>
        </p:nvPicPr>
        <p:blipFill>
          <a:blip r:embed="rId4"/>
          <a:stretch>
            <a:fillRect/>
          </a:stretch>
        </p:blipFill>
        <p:spPr>
          <a:xfrm>
            <a:off x="76200" y="3834870"/>
            <a:ext cx="4495800" cy="2584403"/>
          </a:xfrm>
          <a:prstGeom prst="rect">
            <a:avLst/>
          </a:prstGeom>
          <a:ln>
            <a:solidFill>
              <a:schemeClr val="tx1"/>
            </a:solidFill>
          </a:ln>
        </p:spPr>
      </p:pic>
      <p:pic>
        <p:nvPicPr>
          <p:cNvPr id="13" name="Picture 12">
            <a:extLst>
              <a:ext uri="{FF2B5EF4-FFF2-40B4-BE49-F238E27FC236}">
                <a16:creationId xmlns:a16="http://schemas.microsoft.com/office/drawing/2014/main" id="{D670A2FA-0FB7-708D-C349-323002EE3CEE}"/>
              </a:ext>
            </a:extLst>
          </p:cNvPr>
          <p:cNvPicPr>
            <a:picLocks noChangeAspect="1"/>
          </p:cNvPicPr>
          <p:nvPr/>
        </p:nvPicPr>
        <p:blipFill>
          <a:blip r:embed="rId5"/>
          <a:stretch>
            <a:fillRect/>
          </a:stretch>
        </p:blipFill>
        <p:spPr>
          <a:xfrm>
            <a:off x="4627883" y="3834870"/>
            <a:ext cx="4452185" cy="2553498"/>
          </a:xfrm>
          <a:prstGeom prst="rect">
            <a:avLst/>
          </a:prstGeom>
          <a:ln>
            <a:solidFill>
              <a:schemeClr val="tx1"/>
            </a:solidFill>
          </a:ln>
        </p:spPr>
      </p:pic>
    </p:spTree>
    <p:extLst>
      <p:ext uri="{BB962C8B-B14F-4D97-AF65-F5344CB8AC3E}">
        <p14:creationId xmlns:p14="http://schemas.microsoft.com/office/powerpoint/2010/main" val="142510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A36A0-EC0E-740D-8179-947E296C729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901FFC-64B0-FADF-03A6-A1276A588BBC}"/>
              </a:ext>
            </a:extLst>
          </p:cNvPr>
          <p:cNvSpPr/>
          <p:nvPr/>
        </p:nvSpPr>
        <p:spPr>
          <a:xfrm>
            <a:off x="1871547" y="45224"/>
            <a:ext cx="651045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WE CONDUCT 30 PART OF YTA TOOL FOR CHECK FORCE VARIATION IN SAME BALL GUIDE(BALL SIZE-5.6mm)</a:t>
            </a:r>
          </a:p>
        </p:txBody>
      </p:sp>
      <p:sp>
        <p:nvSpPr>
          <p:cNvPr id="3" name="AutoShape 5">
            <a:extLst>
              <a:ext uri="{FF2B5EF4-FFF2-40B4-BE49-F238E27FC236}">
                <a16:creationId xmlns:a16="http://schemas.microsoft.com/office/drawing/2014/main" id="{1A03655A-100A-848C-B707-26D8C710490D}"/>
              </a:ext>
            </a:extLst>
          </p:cNvPr>
          <p:cNvSpPr>
            <a:spLocks noChangeArrowheads="1"/>
          </p:cNvSpPr>
          <p:nvPr/>
        </p:nvSpPr>
        <p:spPr bwMode="auto">
          <a:xfrm>
            <a:off x="1" y="183102"/>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pic>
        <p:nvPicPr>
          <p:cNvPr id="4" name="Picture 3">
            <a:extLst>
              <a:ext uri="{FF2B5EF4-FFF2-40B4-BE49-F238E27FC236}">
                <a16:creationId xmlns:a16="http://schemas.microsoft.com/office/drawing/2014/main" id="{B28F090B-8095-A52C-17A7-E5B86DAD8BE3}"/>
              </a:ext>
            </a:extLst>
          </p:cNvPr>
          <p:cNvPicPr>
            <a:picLocks noChangeAspect="1"/>
          </p:cNvPicPr>
          <p:nvPr/>
        </p:nvPicPr>
        <p:blipFill>
          <a:blip r:embed="rId3"/>
          <a:stretch>
            <a:fillRect/>
          </a:stretch>
        </p:blipFill>
        <p:spPr>
          <a:xfrm>
            <a:off x="152400" y="1021304"/>
            <a:ext cx="8915400" cy="5351787"/>
          </a:xfrm>
          <a:prstGeom prst="rect">
            <a:avLst/>
          </a:prstGeom>
        </p:spPr>
      </p:pic>
    </p:spTree>
    <p:extLst>
      <p:ext uri="{BB962C8B-B14F-4D97-AF65-F5344CB8AC3E}">
        <p14:creationId xmlns:p14="http://schemas.microsoft.com/office/powerpoint/2010/main" val="3229255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B1409-4566-0ED7-D76D-A6A4A41D4E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098E04-C76B-5671-8C7A-FCCE84A0FD13}"/>
              </a:ext>
            </a:extLst>
          </p:cNvPr>
          <p:cNvPicPr>
            <a:picLocks noChangeAspect="1"/>
          </p:cNvPicPr>
          <p:nvPr/>
        </p:nvPicPr>
        <p:blipFill>
          <a:blip r:embed="rId3"/>
          <a:stretch>
            <a:fillRect/>
          </a:stretch>
        </p:blipFill>
        <p:spPr>
          <a:xfrm>
            <a:off x="48559" y="757240"/>
            <a:ext cx="9031509" cy="2963775"/>
          </a:xfrm>
          <a:prstGeom prst="rect">
            <a:avLst/>
          </a:prstGeom>
          <a:ln>
            <a:solidFill>
              <a:schemeClr val="tx1"/>
            </a:solidFill>
          </a:ln>
        </p:spPr>
      </p:pic>
      <p:sp>
        <p:nvSpPr>
          <p:cNvPr id="3" name="Rectangle 2">
            <a:extLst>
              <a:ext uri="{FF2B5EF4-FFF2-40B4-BE49-F238E27FC236}">
                <a16:creationId xmlns:a16="http://schemas.microsoft.com/office/drawing/2014/main" id="{E9EC84F8-D66D-1FE6-F60D-74E37098EBD1}"/>
              </a:ext>
            </a:extLst>
          </p:cNvPr>
          <p:cNvSpPr/>
          <p:nvPr/>
        </p:nvSpPr>
        <p:spPr>
          <a:xfrm>
            <a:off x="2057400" y="85023"/>
            <a:ext cx="5715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YTA RAIL FORCE DATA AT 5.6 MM BALL GUIDE</a:t>
            </a:r>
          </a:p>
        </p:txBody>
      </p:sp>
      <p:sp>
        <p:nvSpPr>
          <p:cNvPr id="4" name="AutoShape 5">
            <a:extLst>
              <a:ext uri="{FF2B5EF4-FFF2-40B4-BE49-F238E27FC236}">
                <a16:creationId xmlns:a16="http://schemas.microsoft.com/office/drawing/2014/main" id="{3DB6CC88-9328-DEEA-5EB0-906E7069CE66}"/>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sp>
        <p:nvSpPr>
          <p:cNvPr id="10" name="Oval 9">
            <a:extLst>
              <a:ext uri="{FF2B5EF4-FFF2-40B4-BE49-F238E27FC236}">
                <a16:creationId xmlns:a16="http://schemas.microsoft.com/office/drawing/2014/main" id="{68CABA2C-7EF6-6C4D-8056-AB597D971946}"/>
              </a:ext>
            </a:extLst>
          </p:cNvPr>
          <p:cNvSpPr/>
          <p:nvPr/>
        </p:nvSpPr>
        <p:spPr>
          <a:xfrm>
            <a:off x="7493000" y="2150443"/>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Callout 10">
            <a:extLst>
              <a:ext uri="{FF2B5EF4-FFF2-40B4-BE49-F238E27FC236}">
                <a16:creationId xmlns:a16="http://schemas.microsoft.com/office/drawing/2014/main" id="{7E66E4F1-E35F-EF99-54A9-DEA9E40FD276}"/>
              </a:ext>
            </a:extLst>
          </p:cNvPr>
          <p:cNvSpPr/>
          <p:nvPr/>
        </p:nvSpPr>
        <p:spPr>
          <a:xfrm>
            <a:off x="7467602" y="2667000"/>
            <a:ext cx="1132843" cy="838200"/>
          </a:xfrm>
          <a:prstGeom prst="wedgeEllipseCallout">
            <a:avLst>
              <a:gd name="adj1" fmla="val -18207"/>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2.27 </a:t>
            </a:r>
          </a:p>
        </p:txBody>
      </p:sp>
      <p:pic>
        <p:nvPicPr>
          <p:cNvPr id="15" name="Picture 14">
            <a:extLst>
              <a:ext uri="{FF2B5EF4-FFF2-40B4-BE49-F238E27FC236}">
                <a16:creationId xmlns:a16="http://schemas.microsoft.com/office/drawing/2014/main" id="{E5132A98-1ECF-087D-BCA4-1740203B7A19}"/>
              </a:ext>
            </a:extLst>
          </p:cNvPr>
          <p:cNvPicPr>
            <a:picLocks noChangeAspect="1"/>
          </p:cNvPicPr>
          <p:nvPr/>
        </p:nvPicPr>
        <p:blipFill>
          <a:blip r:embed="rId4"/>
          <a:stretch>
            <a:fillRect/>
          </a:stretch>
        </p:blipFill>
        <p:spPr>
          <a:xfrm>
            <a:off x="4648200" y="3834872"/>
            <a:ext cx="4431867" cy="2556696"/>
          </a:xfrm>
          <a:prstGeom prst="rect">
            <a:avLst/>
          </a:prstGeom>
          <a:ln>
            <a:solidFill>
              <a:schemeClr val="tx1"/>
            </a:solidFill>
          </a:ln>
        </p:spPr>
      </p:pic>
      <p:pic>
        <p:nvPicPr>
          <p:cNvPr id="17" name="Picture 16">
            <a:extLst>
              <a:ext uri="{FF2B5EF4-FFF2-40B4-BE49-F238E27FC236}">
                <a16:creationId xmlns:a16="http://schemas.microsoft.com/office/drawing/2014/main" id="{A3A02DEF-9BE5-2893-229B-B0C077BBAFFE}"/>
              </a:ext>
            </a:extLst>
          </p:cNvPr>
          <p:cNvPicPr>
            <a:picLocks noChangeAspect="1"/>
          </p:cNvPicPr>
          <p:nvPr/>
        </p:nvPicPr>
        <p:blipFill>
          <a:blip r:embed="rId5"/>
          <a:stretch>
            <a:fillRect/>
          </a:stretch>
        </p:blipFill>
        <p:spPr>
          <a:xfrm>
            <a:off x="48560" y="3834867"/>
            <a:ext cx="4523443" cy="2556697"/>
          </a:xfrm>
          <a:prstGeom prst="rect">
            <a:avLst/>
          </a:prstGeom>
          <a:ln>
            <a:solidFill>
              <a:schemeClr val="tx1"/>
            </a:solidFill>
          </a:ln>
        </p:spPr>
      </p:pic>
    </p:spTree>
    <p:extLst>
      <p:ext uri="{BB962C8B-B14F-4D97-AF65-F5344CB8AC3E}">
        <p14:creationId xmlns:p14="http://schemas.microsoft.com/office/powerpoint/2010/main" val="2467962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23AB7-928B-4C2E-BCBD-B68C1B20198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9317B96-6A46-B3DC-4FDF-719CB40AC758}"/>
              </a:ext>
            </a:extLst>
          </p:cNvPr>
          <p:cNvPicPr>
            <a:picLocks noChangeAspect="1"/>
          </p:cNvPicPr>
          <p:nvPr/>
        </p:nvPicPr>
        <p:blipFill>
          <a:blip r:embed="rId3"/>
          <a:stretch>
            <a:fillRect/>
          </a:stretch>
        </p:blipFill>
        <p:spPr>
          <a:xfrm>
            <a:off x="81484" y="762000"/>
            <a:ext cx="4379160" cy="2895600"/>
          </a:xfrm>
          <a:prstGeom prst="rect">
            <a:avLst/>
          </a:prstGeom>
          <a:ln>
            <a:solidFill>
              <a:schemeClr val="tx1"/>
            </a:solidFill>
          </a:ln>
        </p:spPr>
      </p:pic>
      <p:sp>
        <p:nvSpPr>
          <p:cNvPr id="3" name="Rectangle 2">
            <a:extLst>
              <a:ext uri="{FF2B5EF4-FFF2-40B4-BE49-F238E27FC236}">
                <a16:creationId xmlns:a16="http://schemas.microsoft.com/office/drawing/2014/main" id="{8BCA53B8-F23B-4F48-F0D6-9607605DCDAF}"/>
              </a:ext>
            </a:extLst>
          </p:cNvPr>
          <p:cNvSpPr/>
          <p:nvPr/>
        </p:nvSpPr>
        <p:spPr>
          <a:xfrm>
            <a:off x="2057400" y="85023"/>
            <a:ext cx="6197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COMBINED FORCE DATA OF ALL RAIL IN 5.6 MM BALL GUIDE</a:t>
            </a:r>
          </a:p>
        </p:txBody>
      </p:sp>
      <p:sp>
        <p:nvSpPr>
          <p:cNvPr id="4" name="AutoShape 5">
            <a:extLst>
              <a:ext uri="{FF2B5EF4-FFF2-40B4-BE49-F238E27FC236}">
                <a16:creationId xmlns:a16="http://schemas.microsoft.com/office/drawing/2014/main" id="{3C3B2F75-355B-7583-CDE1-9227028FBABA}"/>
              </a:ext>
            </a:extLst>
          </p:cNvPr>
          <p:cNvSpPr>
            <a:spLocks noChangeArrowheads="1"/>
          </p:cNvSpPr>
          <p:nvPr/>
        </p:nvSpPr>
        <p:spPr bwMode="auto">
          <a:xfrm>
            <a:off x="33454" y="152401"/>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MEASURE</a:t>
            </a:r>
          </a:p>
        </p:txBody>
      </p:sp>
      <p:sp>
        <p:nvSpPr>
          <p:cNvPr id="10" name="Oval 9">
            <a:extLst>
              <a:ext uri="{FF2B5EF4-FFF2-40B4-BE49-F238E27FC236}">
                <a16:creationId xmlns:a16="http://schemas.microsoft.com/office/drawing/2014/main" id="{68C79DFD-5A8C-8B2B-05BE-F17C0E96F46B}"/>
              </a:ext>
            </a:extLst>
          </p:cNvPr>
          <p:cNvSpPr/>
          <p:nvPr/>
        </p:nvSpPr>
        <p:spPr>
          <a:xfrm>
            <a:off x="3495958" y="2133601"/>
            <a:ext cx="762000" cy="2422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Callout 10">
            <a:extLst>
              <a:ext uri="{FF2B5EF4-FFF2-40B4-BE49-F238E27FC236}">
                <a16:creationId xmlns:a16="http://schemas.microsoft.com/office/drawing/2014/main" id="{960A36AC-06E4-1A84-EA6E-E526F49B1CA5}"/>
              </a:ext>
            </a:extLst>
          </p:cNvPr>
          <p:cNvSpPr/>
          <p:nvPr/>
        </p:nvSpPr>
        <p:spPr>
          <a:xfrm>
            <a:off x="3298757" y="2667000"/>
            <a:ext cx="1132843" cy="838200"/>
          </a:xfrm>
          <a:prstGeom prst="wedgeEllipseCallout">
            <a:avLst>
              <a:gd name="adj1" fmla="val 9271"/>
              <a:gd name="adj2" fmla="val -8324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Cpk value is 2.29 </a:t>
            </a:r>
          </a:p>
        </p:txBody>
      </p:sp>
      <p:pic>
        <p:nvPicPr>
          <p:cNvPr id="6" name="Picture 5">
            <a:extLst>
              <a:ext uri="{FF2B5EF4-FFF2-40B4-BE49-F238E27FC236}">
                <a16:creationId xmlns:a16="http://schemas.microsoft.com/office/drawing/2014/main" id="{5D2BDB29-D0A3-03DE-1FEA-293B73C11D76}"/>
              </a:ext>
            </a:extLst>
          </p:cNvPr>
          <p:cNvPicPr>
            <a:picLocks noChangeAspect="1"/>
          </p:cNvPicPr>
          <p:nvPr/>
        </p:nvPicPr>
        <p:blipFill>
          <a:blip r:embed="rId4"/>
          <a:stretch>
            <a:fillRect/>
          </a:stretch>
        </p:blipFill>
        <p:spPr>
          <a:xfrm>
            <a:off x="79176" y="3790876"/>
            <a:ext cx="4381467" cy="2582216"/>
          </a:xfrm>
          <a:prstGeom prst="rect">
            <a:avLst/>
          </a:prstGeom>
          <a:ln>
            <a:solidFill>
              <a:schemeClr val="tx1"/>
            </a:solidFill>
          </a:ln>
        </p:spPr>
      </p:pic>
      <p:pic>
        <p:nvPicPr>
          <p:cNvPr id="9" name="Picture 8">
            <a:extLst>
              <a:ext uri="{FF2B5EF4-FFF2-40B4-BE49-F238E27FC236}">
                <a16:creationId xmlns:a16="http://schemas.microsoft.com/office/drawing/2014/main" id="{14F3A49D-231C-1BAB-B527-AD9B00F68256}"/>
              </a:ext>
            </a:extLst>
          </p:cNvPr>
          <p:cNvPicPr>
            <a:picLocks noChangeAspect="1"/>
          </p:cNvPicPr>
          <p:nvPr/>
        </p:nvPicPr>
        <p:blipFill>
          <a:blip r:embed="rId5"/>
          <a:stretch>
            <a:fillRect/>
          </a:stretch>
        </p:blipFill>
        <p:spPr>
          <a:xfrm>
            <a:off x="4698600" y="3790876"/>
            <a:ext cx="4381467" cy="2582216"/>
          </a:xfrm>
          <a:prstGeom prst="rect">
            <a:avLst/>
          </a:prstGeom>
          <a:ln>
            <a:solidFill>
              <a:schemeClr val="tx1"/>
            </a:solidFill>
          </a:ln>
        </p:spPr>
      </p:pic>
      <p:sp>
        <p:nvSpPr>
          <p:cNvPr id="2" name="Rectangle 1">
            <a:extLst>
              <a:ext uri="{FF2B5EF4-FFF2-40B4-BE49-F238E27FC236}">
                <a16:creationId xmlns:a16="http://schemas.microsoft.com/office/drawing/2014/main" id="{ABD2C8A9-13B6-707A-B328-04713A70211F}"/>
              </a:ext>
            </a:extLst>
          </p:cNvPr>
          <p:cNvSpPr/>
          <p:nvPr/>
        </p:nvSpPr>
        <p:spPr>
          <a:xfrm>
            <a:off x="4683358" y="746366"/>
            <a:ext cx="4396709" cy="2916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u="sng" dirty="0">
                <a:solidFill>
                  <a:schemeClr val="tx1"/>
                </a:solidFill>
              </a:rPr>
              <a:t>CONCLUSION</a:t>
            </a:r>
            <a:r>
              <a:rPr lang="en-US" sz="2800" b="1" dirty="0">
                <a:solidFill>
                  <a:schemeClr val="tx1"/>
                </a:solidFill>
              </a:rPr>
              <a:t>:- </a:t>
            </a:r>
            <a:r>
              <a:rPr lang="en-US" sz="2400" dirty="0">
                <a:solidFill>
                  <a:schemeClr val="tx1"/>
                </a:solidFill>
              </a:rPr>
              <a:t>Again same result,</a:t>
            </a:r>
            <a:r>
              <a:rPr lang="en-US" sz="2400" b="1" dirty="0">
                <a:solidFill>
                  <a:schemeClr val="tx1"/>
                </a:solidFill>
              </a:rPr>
              <a:t> </a:t>
            </a:r>
            <a:r>
              <a:rPr lang="en-US" sz="2400" dirty="0">
                <a:solidFill>
                  <a:schemeClr val="tx1"/>
                </a:solidFill>
              </a:rPr>
              <a:t>Capability is ok but Stability is not ok in all in-house rails with the same ball guide (5.6mm).</a:t>
            </a:r>
          </a:p>
        </p:txBody>
      </p:sp>
    </p:spTree>
    <p:extLst>
      <p:ext uri="{BB962C8B-B14F-4D97-AF65-F5344CB8AC3E}">
        <p14:creationId xmlns:p14="http://schemas.microsoft.com/office/powerpoint/2010/main" val="1190793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Arrow Connector 43">
            <a:extLst>
              <a:ext uri="{FF2B5EF4-FFF2-40B4-BE49-F238E27FC236}">
                <a16:creationId xmlns:a16="http://schemas.microsoft.com/office/drawing/2014/main" id="{32404C73-EB6B-584B-EDF3-3D28D12C6D2B}"/>
              </a:ext>
            </a:extLst>
          </p:cNvPr>
          <p:cNvCxnSpPr>
            <a:cxnSpLocks/>
            <a:endCxn id="50" idx="0"/>
          </p:cNvCxnSpPr>
          <p:nvPr/>
        </p:nvCxnSpPr>
        <p:spPr>
          <a:xfrm>
            <a:off x="5790374" y="1914115"/>
            <a:ext cx="1" cy="30208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03E6753-F57C-DADE-C6AD-2B3AB2864904}"/>
              </a:ext>
            </a:extLst>
          </p:cNvPr>
          <p:cNvCxnSpPr>
            <a:cxnSpLocks/>
          </p:cNvCxnSpPr>
          <p:nvPr/>
        </p:nvCxnSpPr>
        <p:spPr>
          <a:xfrm>
            <a:off x="3552985" y="1906576"/>
            <a:ext cx="11856" cy="2549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482646D-CD5B-D37C-DA21-005B355DB120}"/>
              </a:ext>
            </a:extLst>
          </p:cNvPr>
          <p:cNvCxnSpPr>
            <a:cxnSpLocks/>
          </p:cNvCxnSpPr>
          <p:nvPr/>
        </p:nvCxnSpPr>
        <p:spPr>
          <a:xfrm>
            <a:off x="3899038" y="1033700"/>
            <a:ext cx="0" cy="181250"/>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DF3554A8-4C49-A7E8-38C4-9A4C829617CE}"/>
              </a:ext>
            </a:extLst>
          </p:cNvPr>
          <p:cNvCxnSpPr>
            <a:cxnSpLocks/>
          </p:cNvCxnSpPr>
          <p:nvPr/>
        </p:nvCxnSpPr>
        <p:spPr>
          <a:xfrm>
            <a:off x="1784099" y="1237434"/>
            <a:ext cx="0" cy="189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13FE15-5DE0-FE06-2B07-27D642A16EB6}"/>
              </a:ext>
            </a:extLst>
          </p:cNvPr>
          <p:cNvCxnSpPr>
            <a:cxnSpLocks/>
          </p:cNvCxnSpPr>
          <p:nvPr/>
        </p:nvCxnSpPr>
        <p:spPr>
          <a:xfrm>
            <a:off x="6293099" y="1237434"/>
            <a:ext cx="0" cy="216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EE4B110-0FC5-1A3A-0B19-9A561CAC697B}"/>
              </a:ext>
            </a:extLst>
          </p:cNvPr>
          <p:cNvCxnSpPr>
            <a:cxnSpLocks/>
          </p:cNvCxnSpPr>
          <p:nvPr/>
        </p:nvCxnSpPr>
        <p:spPr>
          <a:xfrm flipH="1">
            <a:off x="1853907" y="1725115"/>
            <a:ext cx="0" cy="189000"/>
          </a:xfrm>
          <a:prstGeom prst="line">
            <a:avLst/>
          </a:prstGeom>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2903DB73-4865-E979-9D5A-9DA148FEA078}"/>
              </a:ext>
            </a:extLst>
          </p:cNvPr>
          <p:cNvCxnSpPr>
            <a:cxnSpLocks/>
          </p:cNvCxnSpPr>
          <p:nvPr/>
        </p:nvCxnSpPr>
        <p:spPr>
          <a:xfrm>
            <a:off x="1218411" y="1920288"/>
            <a:ext cx="0" cy="243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EFBC53D-9842-1581-8DD7-093BEB86F299}"/>
              </a:ext>
            </a:extLst>
          </p:cNvPr>
          <p:cNvCxnSpPr>
            <a:cxnSpLocks/>
          </p:cNvCxnSpPr>
          <p:nvPr/>
        </p:nvCxnSpPr>
        <p:spPr>
          <a:xfrm>
            <a:off x="2666703" y="1920288"/>
            <a:ext cx="0" cy="243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580AE12-35F7-4B2B-48C6-E29312D1F8E8}"/>
              </a:ext>
            </a:extLst>
          </p:cNvPr>
          <p:cNvCxnSpPr>
            <a:cxnSpLocks/>
            <a:endCxn id="52" idx="0"/>
          </p:cNvCxnSpPr>
          <p:nvPr/>
        </p:nvCxnSpPr>
        <p:spPr>
          <a:xfrm>
            <a:off x="7199703" y="1939400"/>
            <a:ext cx="1" cy="2790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6F303CC-5EE3-4126-3E96-CAE8B66B3592}"/>
              </a:ext>
            </a:extLst>
          </p:cNvPr>
          <p:cNvCxnSpPr>
            <a:cxnSpLocks/>
          </p:cNvCxnSpPr>
          <p:nvPr/>
        </p:nvCxnSpPr>
        <p:spPr>
          <a:xfrm>
            <a:off x="8370981" y="1920288"/>
            <a:ext cx="0" cy="3170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16ACF5B-DAE7-4C7B-E8A7-D470F8D06078}"/>
              </a:ext>
            </a:extLst>
          </p:cNvPr>
          <p:cNvSpPr/>
          <p:nvPr/>
        </p:nvSpPr>
        <p:spPr>
          <a:xfrm>
            <a:off x="381002" y="2174058"/>
            <a:ext cx="1229302" cy="1051449"/>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u="sng" dirty="0">
                <a:solidFill>
                  <a:schemeClr val="tx1"/>
                </a:solidFill>
              </a:rPr>
              <a:t>BOP &amp; Child Parts</a:t>
            </a:r>
          </a:p>
          <a:p>
            <a:r>
              <a:rPr lang="en-US" sz="975" b="1" dirty="0">
                <a:solidFill>
                  <a:schemeClr val="tx1"/>
                </a:solidFill>
              </a:rPr>
              <a:t>1 Guide </a:t>
            </a:r>
            <a:endParaRPr lang="en-US" sz="975" dirty="0">
              <a:solidFill>
                <a:schemeClr val="tx1"/>
              </a:solidFill>
            </a:endParaRPr>
          </a:p>
          <a:p>
            <a:r>
              <a:rPr lang="en-US" sz="975" b="1" dirty="0">
                <a:solidFill>
                  <a:schemeClr val="tx1"/>
                </a:solidFill>
              </a:rPr>
              <a:t>2 Lower Rail  </a:t>
            </a:r>
            <a:endParaRPr lang="en-US" sz="975" dirty="0">
              <a:solidFill>
                <a:schemeClr val="tx1"/>
              </a:solidFill>
            </a:endParaRPr>
          </a:p>
          <a:p>
            <a:r>
              <a:rPr lang="en-US" sz="975" b="1" dirty="0">
                <a:solidFill>
                  <a:schemeClr val="tx1"/>
                </a:solidFill>
              </a:rPr>
              <a:t>3 Upper Rail  </a:t>
            </a:r>
            <a:br>
              <a:rPr lang="en-US" sz="1051" b="1" dirty="0">
                <a:solidFill>
                  <a:schemeClr val="tx1"/>
                </a:solidFill>
              </a:rPr>
            </a:br>
            <a:r>
              <a:rPr lang="en-US" sz="1125" u="sng" dirty="0">
                <a:solidFill>
                  <a:schemeClr val="tx1"/>
                </a:solidFill>
              </a:rPr>
              <a:t> </a:t>
            </a:r>
            <a:endParaRPr lang="en-IN" sz="1125" u="sng" dirty="0">
              <a:solidFill>
                <a:schemeClr val="tx1"/>
              </a:solidFill>
            </a:endParaRPr>
          </a:p>
        </p:txBody>
      </p:sp>
      <p:sp>
        <p:nvSpPr>
          <p:cNvPr id="24" name="Rectangle 23">
            <a:extLst>
              <a:ext uri="{FF2B5EF4-FFF2-40B4-BE49-F238E27FC236}">
                <a16:creationId xmlns:a16="http://schemas.microsoft.com/office/drawing/2014/main" id="{6385671E-7BCB-95BC-D208-84C920274366}"/>
              </a:ext>
            </a:extLst>
          </p:cNvPr>
          <p:cNvSpPr/>
          <p:nvPr/>
        </p:nvSpPr>
        <p:spPr>
          <a:xfrm>
            <a:off x="1853907" y="685800"/>
            <a:ext cx="4026258" cy="312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solidFill>
                  <a:srgbClr val="FFFF00"/>
                </a:solidFill>
              </a:rPr>
              <a:t>Key Process Input Variables (KPIV)</a:t>
            </a:r>
            <a:endParaRPr lang="en-IN" b="1" u="sng" dirty="0">
              <a:solidFill>
                <a:srgbClr val="FFFF00"/>
              </a:solidFill>
            </a:endParaRPr>
          </a:p>
        </p:txBody>
      </p:sp>
      <p:sp>
        <p:nvSpPr>
          <p:cNvPr id="26" name="Rectangle 25">
            <a:extLst>
              <a:ext uri="{FF2B5EF4-FFF2-40B4-BE49-F238E27FC236}">
                <a16:creationId xmlns:a16="http://schemas.microsoft.com/office/drawing/2014/main" id="{C9DED5A4-ED66-C627-3551-935EE4141AF7}"/>
              </a:ext>
            </a:extLst>
          </p:cNvPr>
          <p:cNvSpPr/>
          <p:nvPr/>
        </p:nvSpPr>
        <p:spPr>
          <a:xfrm>
            <a:off x="1243386" y="1454643"/>
            <a:ext cx="1134000" cy="276645"/>
          </a:xfrm>
          <a:prstGeom prst="rect">
            <a:avLst/>
          </a:prstGeom>
          <a:solidFill>
            <a:srgbClr val="FFC000"/>
          </a:solidFill>
          <a:ln w="28575">
            <a:solidFill>
              <a:srgbClr val="4BC3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1" b="1" u="sng" dirty="0">
                <a:solidFill>
                  <a:schemeClr val="tx1"/>
                </a:solidFill>
              </a:rPr>
              <a:t>INCOMING </a:t>
            </a:r>
            <a:endParaRPr lang="en-IN" sz="1351" b="1" u="sng" dirty="0">
              <a:solidFill>
                <a:schemeClr val="tx1"/>
              </a:solidFill>
            </a:endParaRPr>
          </a:p>
        </p:txBody>
      </p:sp>
      <p:sp>
        <p:nvSpPr>
          <p:cNvPr id="27" name="Rectangle 26">
            <a:extLst>
              <a:ext uri="{FF2B5EF4-FFF2-40B4-BE49-F238E27FC236}">
                <a16:creationId xmlns:a16="http://schemas.microsoft.com/office/drawing/2014/main" id="{1D2A14F9-F5C7-36DB-B6F1-ED87BA169BF1}"/>
              </a:ext>
            </a:extLst>
          </p:cNvPr>
          <p:cNvSpPr/>
          <p:nvPr/>
        </p:nvSpPr>
        <p:spPr>
          <a:xfrm>
            <a:off x="5752675" y="1407917"/>
            <a:ext cx="1944229" cy="381932"/>
          </a:xfrm>
          <a:prstGeom prst="rect">
            <a:avLst/>
          </a:prstGeom>
          <a:solidFill>
            <a:srgbClr val="00B050"/>
          </a:solidFill>
          <a:ln w="44450" cap="rnd">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1" b="1" u="sng" dirty="0">
                <a:solidFill>
                  <a:srgbClr val="FFFF00"/>
                </a:solidFill>
              </a:rPr>
              <a:t>PROCESS PARAMETERS</a:t>
            </a:r>
            <a:endParaRPr lang="en-IN" sz="1351" b="1" u="sng" dirty="0">
              <a:solidFill>
                <a:srgbClr val="FFFF00"/>
              </a:solidFill>
            </a:endParaRPr>
          </a:p>
        </p:txBody>
      </p:sp>
      <p:cxnSp>
        <p:nvCxnSpPr>
          <p:cNvPr id="30" name="Straight Connector 29">
            <a:extLst>
              <a:ext uri="{FF2B5EF4-FFF2-40B4-BE49-F238E27FC236}">
                <a16:creationId xmlns:a16="http://schemas.microsoft.com/office/drawing/2014/main" id="{A34FB5EA-0DC8-7FC6-D7DE-CF7B2F74DBE6}"/>
              </a:ext>
            </a:extLst>
          </p:cNvPr>
          <p:cNvCxnSpPr>
            <a:cxnSpLocks/>
          </p:cNvCxnSpPr>
          <p:nvPr/>
        </p:nvCxnSpPr>
        <p:spPr>
          <a:xfrm>
            <a:off x="1784493" y="1237434"/>
            <a:ext cx="4509000" cy="0"/>
          </a:xfrm>
          <a:prstGeom prst="line">
            <a:avLst/>
          </a:prstGeom>
        </p:spPr>
        <p:style>
          <a:lnRef idx="3">
            <a:schemeClr val="dk1"/>
          </a:lnRef>
          <a:fillRef idx="0">
            <a:schemeClr val="dk1"/>
          </a:fillRef>
          <a:effectRef idx="2">
            <a:schemeClr val="dk1"/>
          </a:effectRef>
          <a:fontRef idx="minor">
            <a:schemeClr val="tx1"/>
          </a:fontRef>
        </p:style>
      </p:cxnSp>
      <p:sp>
        <p:nvSpPr>
          <p:cNvPr id="34" name="Rectangle 33">
            <a:extLst>
              <a:ext uri="{FF2B5EF4-FFF2-40B4-BE49-F238E27FC236}">
                <a16:creationId xmlns:a16="http://schemas.microsoft.com/office/drawing/2014/main" id="{7895D013-F431-9962-283F-A48995D100AB}"/>
              </a:ext>
            </a:extLst>
          </p:cNvPr>
          <p:cNvSpPr/>
          <p:nvPr/>
        </p:nvSpPr>
        <p:spPr>
          <a:xfrm>
            <a:off x="1648785" y="2163287"/>
            <a:ext cx="1270940" cy="1494223"/>
          </a:xfrm>
          <a:prstGeom prst="rect">
            <a:avLst/>
          </a:prstGeom>
          <a:solidFill>
            <a:srgbClr val="FFC000"/>
          </a:solidFill>
          <a:ln w="28575">
            <a:solidFill>
              <a:srgbClr val="4BC3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u="sng" dirty="0">
                <a:solidFill>
                  <a:schemeClr val="tx1"/>
                </a:solidFill>
              </a:rPr>
              <a:t>Previous Process Output</a:t>
            </a:r>
          </a:p>
          <a:p>
            <a:r>
              <a:rPr lang="en-US" sz="1125" dirty="0">
                <a:solidFill>
                  <a:schemeClr val="tx1"/>
                </a:solidFill>
              </a:rPr>
              <a:t>1. After welding upper rail deformation</a:t>
            </a:r>
          </a:p>
          <a:p>
            <a:r>
              <a:rPr lang="en-US" sz="1125" dirty="0">
                <a:solidFill>
                  <a:schemeClr val="tx1"/>
                </a:solidFill>
              </a:rPr>
              <a:t>2. After Tab bending lower rail deformation</a:t>
            </a:r>
          </a:p>
        </p:txBody>
      </p:sp>
      <p:cxnSp>
        <p:nvCxnSpPr>
          <p:cNvPr id="37" name="Straight Connector 36">
            <a:extLst>
              <a:ext uri="{FF2B5EF4-FFF2-40B4-BE49-F238E27FC236}">
                <a16:creationId xmlns:a16="http://schemas.microsoft.com/office/drawing/2014/main" id="{99C5F1F0-622F-C3BD-A321-A27130982702}"/>
              </a:ext>
            </a:extLst>
          </p:cNvPr>
          <p:cNvCxnSpPr>
            <a:cxnSpLocks/>
          </p:cNvCxnSpPr>
          <p:nvPr/>
        </p:nvCxnSpPr>
        <p:spPr>
          <a:xfrm>
            <a:off x="1218411" y="1920288"/>
            <a:ext cx="1458000" cy="0"/>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BA6AC6AA-8AE1-8DC9-CBDB-7D9F16C09DFB}"/>
              </a:ext>
            </a:extLst>
          </p:cNvPr>
          <p:cNvCxnSpPr>
            <a:cxnSpLocks/>
          </p:cNvCxnSpPr>
          <p:nvPr/>
        </p:nvCxnSpPr>
        <p:spPr>
          <a:xfrm>
            <a:off x="3543278" y="1906576"/>
            <a:ext cx="4818478" cy="21529"/>
          </a:xfrm>
          <a:prstGeom prst="line">
            <a:avLst/>
          </a:prstGeom>
        </p:spPr>
        <p:style>
          <a:lnRef idx="3">
            <a:schemeClr val="dk1"/>
          </a:lnRef>
          <a:fillRef idx="0">
            <a:schemeClr val="dk1"/>
          </a:fillRef>
          <a:effectRef idx="2">
            <a:schemeClr val="dk1"/>
          </a:effectRef>
          <a:fontRef idx="minor">
            <a:schemeClr val="tx1"/>
          </a:fontRef>
        </p:style>
      </p:cxnSp>
      <p:sp>
        <p:nvSpPr>
          <p:cNvPr id="43" name="Rectangle 42">
            <a:extLst>
              <a:ext uri="{FF2B5EF4-FFF2-40B4-BE49-F238E27FC236}">
                <a16:creationId xmlns:a16="http://schemas.microsoft.com/office/drawing/2014/main" id="{6F94F4E3-A28F-9D4A-AEC5-1F8F86ECC73E}"/>
              </a:ext>
            </a:extLst>
          </p:cNvPr>
          <p:cNvSpPr/>
          <p:nvPr/>
        </p:nvSpPr>
        <p:spPr>
          <a:xfrm>
            <a:off x="2983511" y="2179073"/>
            <a:ext cx="2039815" cy="1522359"/>
          </a:xfrm>
          <a:prstGeom prst="rect">
            <a:avLst/>
          </a:prstGeom>
          <a:solidFill>
            <a:srgbClr val="00B050"/>
          </a:solidFill>
          <a:ln w="44450" cap="rnd">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u="sng" dirty="0">
              <a:solidFill>
                <a:schemeClr val="tx1"/>
              </a:solidFill>
            </a:endParaRPr>
          </a:p>
          <a:p>
            <a:endParaRPr lang="en-US" sz="1200" b="1" u="sng" dirty="0">
              <a:solidFill>
                <a:schemeClr val="tx1"/>
              </a:solidFill>
            </a:endParaRPr>
          </a:p>
          <a:p>
            <a:endParaRPr lang="en-US" sz="1200" b="1" u="sng" dirty="0">
              <a:solidFill>
                <a:srgbClr val="FFFF00"/>
              </a:solidFill>
            </a:endParaRPr>
          </a:p>
          <a:p>
            <a:r>
              <a:rPr lang="en-US" sz="1200" b="1" u="sng" dirty="0">
                <a:solidFill>
                  <a:srgbClr val="FFFF00"/>
                </a:solidFill>
              </a:rPr>
              <a:t>Machine</a:t>
            </a:r>
          </a:p>
          <a:p>
            <a:r>
              <a:rPr lang="en-US" sz="1125" dirty="0">
                <a:solidFill>
                  <a:srgbClr val="FFFF00"/>
                </a:solidFill>
              </a:rPr>
              <a:t>1.  Rod cylinder pressure</a:t>
            </a:r>
          </a:p>
          <a:p>
            <a:r>
              <a:rPr lang="en-US" sz="1125" dirty="0">
                <a:solidFill>
                  <a:srgbClr val="FFFF00"/>
                </a:solidFill>
              </a:rPr>
              <a:t>2 . Rod alignment not ok.</a:t>
            </a:r>
          </a:p>
          <a:p>
            <a:r>
              <a:rPr lang="en-US" sz="1125" dirty="0">
                <a:solidFill>
                  <a:srgbClr val="FFFF00"/>
                </a:solidFill>
              </a:rPr>
              <a:t>3. Rod surface wear-out</a:t>
            </a:r>
          </a:p>
          <a:p>
            <a:r>
              <a:rPr lang="en-US" sz="1125" dirty="0">
                <a:solidFill>
                  <a:srgbClr val="FFFF00"/>
                </a:solidFill>
              </a:rPr>
              <a:t>4. Guide holding  clamp air pressure  more/less.</a:t>
            </a:r>
          </a:p>
          <a:p>
            <a:r>
              <a:rPr lang="en-US" sz="1125" dirty="0">
                <a:solidFill>
                  <a:srgbClr val="FFFF00"/>
                </a:solidFill>
              </a:rPr>
              <a:t>5. Upper rail pressing clamp pressure more/less.</a:t>
            </a:r>
          </a:p>
          <a:p>
            <a:endParaRPr lang="en-US" sz="1125" dirty="0">
              <a:solidFill>
                <a:schemeClr val="tx1"/>
              </a:solidFill>
            </a:endParaRPr>
          </a:p>
          <a:p>
            <a:endParaRPr lang="en-US" sz="1200" dirty="0">
              <a:solidFill>
                <a:schemeClr val="tx1"/>
              </a:solidFill>
            </a:endParaRPr>
          </a:p>
          <a:p>
            <a:endParaRPr lang="en-IN" sz="1351" b="1" u="sng" dirty="0">
              <a:solidFill>
                <a:schemeClr val="bg1"/>
              </a:solidFill>
            </a:endParaRPr>
          </a:p>
        </p:txBody>
      </p:sp>
      <p:sp>
        <p:nvSpPr>
          <p:cNvPr id="50" name="Rectangle 49">
            <a:extLst>
              <a:ext uri="{FF2B5EF4-FFF2-40B4-BE49-F238E27FC236}">
                <a16:creationId xmlns:a16="http://schemas.microsoft.com/office/drawing/2014/main" id="{7E220B12-3060-9C90-7336-E43CABC2077B}"/>
              </a:ext>
            </a:extLst>
          </p:cNvPr>
          <p:cNvSpPr/>
          <p:nvPr/>
        </p:nvSpPr>
        <p:spPr>
          <a:xfrm>
            <a:off x="5080477" y="2216200"/>
            <a:ext cx="1419795" cy="1494224"/>
          </a:xfrm>
          <a:prstGeom prst="rect">
            <a:avLst/>
          </a:prstGeom>
          <a:solidFill>
            <a:srgbClr val="00B050"/>
          </a:solidFill>
          <a:ln w="57150" cap="rnd">
            <a:solidFill>
              <a:schemeClr val="accent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u="sng" dirty="0">
              <a:solidFill>
                <a:srgbClr val="FFFF00"/>
              </a:solidFill>
            </a:endParaRPr>
          </a:p>
          <a:p>
            <a:endParaRPr lang="en-US" sz="1200" b="1" u="sng" dirty="0">
              <a:solidFill>
                <a:srgbClr val="FFFF00"/>
              </a:solidFill>
            </a:endParaRPr>
          </a:p>
          <a:p>
            <a:r>
              <a:rPr lang="en-US" sz="1200" b="1" u="sng" dirty="0">
                <a:solidFill>
                  <a:srgbClr val="FFFF00"/>
                </a:solidFill>
              </a:rPr>
              <a:t>Tools/Jig/Fixture</a:t>
            </a:r>
            <a:endParaRPr lang="en-US" sz="1125" dirty="0">
              <a:solidFill>
                <a:srgbClr val="FFFF00"/>
              </a:solidFill>
            </a:endParaRPr>
          </a:p>
          <a:p>
            <a:r>
              <a:rPr lang="en-US" sz="1051" dirty="0">
                <a:solidFill>
                  <a:srgbClr val="FFFF00"/>
                </a:solidFill>
              </a:rPr>
              <a:t>1. Ball guide holding clamp loose.</a:t>
            </a:r>
          </a:p>
          <a:p>
            <a:r>
              <a:rPr lang="en-US" sz="1051" dirty="0">
                <a:solidFill>
                  <a:srgbClr val="FFFF00"/>
                </a:solidFill>
              </a:rPr>
              <a:t>2. Ball guide holding clamp magnet weak.</a:t>
            </a:r>
          </a:p>
          <a:p>
            <a:r>
              <a:rPr lang="en-US" sz="1051" dirty="0">
                <a:solidFill>
                  <a:srgbClr val="FFFF00"/>
                </a:solidFill>
              </a:rPr>
              <a:t>3. Upper rail holding block wear-out</a:t>
            </a:r>
          </a:p>
          <a:p>
            <a:r>
              <a:rPr lang="en-US" sz="1051" dirty="0">
                <a:solidFill>
                  <a:srgbClr val="FFFF00"/>
                </a:solidFill>
              </a:rPr>
              <a:t>4. Greasing not proper on jig sliding area</a:t>
            </a:r>
          </a:p>
          <a:p>
            <a:endParaRPr lang="en-US" sz="1125" dirty="0"/>
          </a:p>
          <a:p>
            <a:endParaRPr lang="en-IN" sz="1351" b="1" u="sng" dirty="0">
              <a:solidFill>
                <a:schemeClr val="bg1"/>
              </a:solidFill>
            </a:endParaRPr>
          </a:p>
        </p:txBody>
      </p:sp>
      <p:sp>
        <p:nvSpPr>
          <p:cNvPr id="51" name="Rectangle 50">
            <a:extLst>
              <a:ext uri="{FF2B5EF4-FFF2-40B4-BE49-F238E27FC236}">
                <a16:creationId xmlns:a16="http://schemas.microsoft.com/office/drawing/2014/main" id="{979E9EC2-8EE6-417A-FF17-868259ACE70E}"/>
              </a:ext>
            </a:extLst>
          </p:cNvPr>
          <p:cNvSpPr/>
          <p:nvPr/>
        </p:nvSpPr>
        <p:spPr>
          <a:xfrm>
            <a:off x="7899135" y="2239361"/>
            <a:ext cx="1023510" cy="375154"/>
          </a:xfrm>
          <a:prstGeom prst="rect">
            <a:avLst/>
          </a:prstGeom>
          <a:solidFill>
            <a:srgbClr val="00B050"/>
          </a:solidFill>
          <a:ln w="44450" cap="rnd">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u="sng" dirty="0">
                <a:solidFill>
                  <a:srgbClr val="FFFF00"/>
                </a:solidFill>
              </a:rPr>
              <a:t>Environment</a:t>
            </a:r>
          </a:p>
          <a:p>
            <a:pPr algn="ctr"/>
            <a:r>
              <a:rPr lang="en-US" sz="1051" b="1" u="sng" dirty="0">
                <a:solidFill>
                  <a:srgbClr val="FFFF00"/>
                </a:solidFill>
              </a:rPr>
              <a:t>N/A</a:t>
            </a:r>
          </a:p>
        </p:txBody>
      </p:sp>
      <p:sp>
        <p:nvSpPr>
          <p:cNvPr id="52" name="Rectangle 51">
            <a:extLst>
              <a:ext uri="{FF2B5EF4-FFF2-40B4-BE49-F238E27FC236}">
                <a16:creationId xmlns:a16="http://schemas.microsoft.com/office/drawing/2014/main" id="{7D61FCFB-AB05-ABEC-D4E9-C91F927774B0}"/>
              </a:ext>
            </a:extLst>
          </p:cNvPr>
          <p:cNvSpPr/>
          <p:nvPr/>
        </p:nvSpPr>
        <p:spPr>
          <a:xfrm>
            <a:off x="6570855" y="2218417"/>
            <a:ext cx="1257697" cy="1445288"/>
          </a:xfrm>
          <a:prstGeom prst="rect">
            <a:avLst/>
          </a:prstGeom>
          <a:solidFill>
            <a:srgbClr val="00B050"/>
          </a:solidFill>
          <a:ln w="44450" cap="rnd">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u="sng" dirty="0">
              <a:solidFill>
                <a:srgbClr val="FFFF00"/>
              </a:solidFill>
            </a:endParaRPr>
          </a:p>
          <a:p>
            <a:endParaRPr lang="en-US" sz="1200" b="1" u="sng" dirty="0">
              <a:solidFill>
                <a:srgbClr val="FFFF00"/>
              </a:solidFill>
            </a:endParaRPr>
          </a:p>
          <a:p>
            <a:r>
              <a:rPr lang="en-US" sz="1200" b="1" u="sng" dirty="0">
                <a:solidFill>
                  <a:srgbClr val="FFFF00"/>
                </a:solidFill>
              </a:rPr>
              <a:t>Human Variation</a:t>
            </a:r>
          </a:p>
          <a:p>
            <a:r>
              <a:rPr lang="en-US" sz="1051" dirty="0">
                <a:solidFill>
                  <a:srgbClr val="FFFF00"/>
                </a:solidFill>
              </a:rPr>
              <a:t>1. Area sensor fault during guide interstation</a:t>
            </a:r>
          </a:p>
          <a:p>
            <a:r>
              <a:rPr lang="en-US" sz="1051" dirty="0">
                <a:solidFill>
                  <a:srgbClr val="FFFF00"/>
                </a:solidFill>
              </a:rPr>
              <a:t>2. Guide Assy not properly placing on the clamp</a:t>
            </a:r>
          </a:p>
          <a:p>
            <a:endParaRPr lang="en-US" sz="1200" dirty="0">
              <a:solidFill>
                <a:srgbClr val="FFFF00"/>
              </a:solidFill>
            </a:endParaRPr>
          </a:p>
          <a:p>
            <a:pPr algn="ctr"/>
            <a:endParaRPr lang="en-IN" sz="1351" b="1" u="sng" dirty="0">
              <a:solidFill>
                <a:schemeClr val="bg1"/>
              </a:solidFill>
            </a:endParaRPr>
          </a:p>
        </p:txBody>
      </p:sp>
      <p:sp>
        <p:nvSpPr>
          <p:cNvPr id="2" name="Rectangle 1">
            <a:extLst>
              <a:ext uri="{FF2B5EF4-FFF2-40B4-BE49-F238E27FC236}">
                <a16:creationId xmlns:a16="http://schemas.microsoft.com/office/drawing/2014/main" id="{DA493E47-16BB-FC7A-9BF2-4FCB3B98D8E8}"/>
              </a:ext>
            </a:extLst>
          </p:cNvPr>
          <p:cNvSpPr/>
          <p:nvPr/>
        </p:nvSpPr>
        <p:spPr>
          <a:xfrm>
            <a:off x="2133600" y="71895"/>
            <a:ext cx="4724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PROCESS MAPPING</a:t>
            </a:r>
          </a:p>
        </p:txBody>
      </p:sp>
      <p:sp>
        <p:nvSpPr>
          <p:cNvPr id="4" name="AutoShape 5">
            <a:extLst>
              <a:ext uri="{FF2B5EF4-FFF2-40B4-BE49-F238E27FC236}">
                <a16:creationId xmlns:a16="http://schemas.microsoft.com/office/drawing/2014/main" id="{5749ECD6-D435-B3AF-207C-3C9E513324D9}"/>
              </a:ext>
            </a:extLst>
          </p:cNvPr>
          <p:cNvSpPr>
            <a:spLocks noChangeArrowheads="1"/>
          </p:cNvSpPr>
          <p:nvPr/>
        </p:nvSpPr>
        <p:spPr bwMode="auto">
          <a:xfrm>
            <a:off x="-7219" y="17647"/>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21" name="Rectangle 20">
            <a:extLst>
              <a:ext uri="{FF2B5EF4-FFF2-40B4-BE49-F238E27FC236}">
                <a16:creationId xmlns:a16="http://schemas.microsoft.com/office/drawing/2014/main" id="{19D1467C-24BE-88F5-4931-0D5463B4A1D5}"/>
              </a:ext>
            </a:extLst>
          </p:cNvPr>
          <p:cNvSpPr/>
          <p:nvPr/>
        </p:nvSpPr>
        <p:spPr>
          <a:xfrm>
            <a:off x="3832138" y="3812918"/>
            <a:ext cx="1327329" cy="312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solidFill>
                  <a:srgbClr val="FFFF00"/>
                </a:solidFill>
              </a:rPr>
              <a:t>PROCESS</a:t>
            </a:r>
            <a:endParaRPr lang="en-IN" b="1" u="sng" dirty="0">
              <a:solidFill>
                <a:srgbClr val="FFFF00"/>
              </a:solidFill>
            </a:endParaRPr>
          </a:p>
        </p:txBody>
      </p:sp>
      <p:sp>
        <p:nvSpPr>
          <p:cNvPr id="22" name="Rectangle 21">
            <a:extLst>
              <a:ext uri="{FF2B5EF4-FFF2-40B4-BE49-F238E27FC236}">
                <a16:creationId xmlns:a16="http://schemas.microsoft.com/office/drawing/2014/main" id="{9C51E0EB-7C28-9FD3-002D-F376200B83E2}"/>
              </a:ext>
            </a:extLst>
          </p:cNvPr>
          <p:cNvSpPr/>
          <p:nvPr/>
        </p:nvSpPr>
        <p:spPr>
          <a:xfrm>
            <a:off x="2751283" y="5958422"/>
            <a:ext cx="3938868" cy="312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solidFill>
                  <a:srgbClr val="FFFF00"/>
                </a:solidFill>
              </a:rPr>
              <a:t>Key Process Output Variables (KPOV) </a:t>
            </a:r>
            <a:endParaRPr lang="en-IN" b="1" u="sng" dirty="0">
              <a:solidFill>
                <a:srgbClr val="FFFF00"/>
              </a:solidFill>
            </a:endParaRPr>
          </a:p>
        </p:txBody>
      </p:sp>
      <p:sp>
        <p:nvSpPr>
          <p:cNvPr id="23" name="Rectangle 22">
            <a:extLst>
              <a:ext uri="{FF2B5EF4-FFF2-40B4-BE49-F238E27FC236}">
                <a16:creationId xmlns:a16="http://schemas.microsoft.com/office/drawing/2014/main" id="{7F504876-15ED-CE72-5375-DDB26E6A2147}"/>
              </a:ext>
            </a:extLst>
          </p:cNvPr>
          <p:cNvSpPr/>
          <p:nvPr/>
        </p:nvSpPr>
        <p:spPr>
          <a:xfrm>
            <a:off x="3493198" y="6431197"/>
            <a:ext cx="2320467" cy="341529"/>
          </a:xfrm>
          <a:prstGeom prst="rect">
            <a:avLst/>
          </a:prstGeom>
          <a:solidFill>
            <a:schemeClr val="bg1">
              <a:lumMod val="75000"/>
            </a:schemeClr>
          </a:solidFill>
          <a:ln w="28575">
            <a:solidFill>
              <a:schemeClr val="tx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a:p>
            <a:pPr algn="ctr"/>
            <a:r>
              <a:rPr lang="en-US" sz="1400" b="1" dirty="0">
                <a:solidFill>
                  <a:schemeClr val="tx1"/>
                </a:solidFill>
              </a:rPr>
              <a:t>Min. &amp; Max. sliding force </a:t>
            </a:r>
            <a:br>
              <a:rPr lang="en-US" sz="1100" b="1" dirty="0">
                <a:solidFill>
                  <a:schemeClr val="tx1"/>
                </a:solidFill>
              </a:rPr>
            </a:br>
            <a:r>
              <a:rPr lang="en-US" sz="1200" dirty="0">
                <a:solidFill>
                  <a:schemeClr val="tx1"/>
                </a:solidFill>
              </a:rPr>
              <a:t> </a:t>
            </a:r>
            <a:endParaRPr lang="en-IN" sz="1200" dirty="0">
              <a:solidFill>
                <a:schemeClr val="tx1"/>
              </a:solidFill>
            </a:endParaRPr>
          </a:p>
        </p:txBody>
      </p:sp>
      <p:cxnSp>
        <p:nvCxnSpPr>
          <p:cNvPr id="25" name="Straight Arrow Connector 24">
            <a:extLst>
              <a:ext uri="{FF2B5EF4-FFF2-40B4-BE49-F238E27FC236}">
                <a16:creationId xmlns:a16="http://schemas.microsoft.com/office/drawing/2014/main" id="{B16D2931-8D18-BAF0-B509-283D7B53E332}"/>
              </a:ext>
            </a:extLst>
          </p:cNvPr>
          <p:cNvCxnSpPr>
            <a:cxnSpLocks/>
          </p:cNvCxnSpPr>
          <p:nvPr/>
        </p:nvCxnSpPr>
        <p:spPr>
          <a:xfrm>
            <a:off x="4572000" y="6271072"/>
            <a:ext cx="0" cy="189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BCA0B3A-57E0-0AA4-9566-9CDF649D59F1}"/>
              </a:ext>
            </a:extLst>
          </p:cNvPr>
          <p:cNvSpPr/>
          <p:nvPr/>
        </p:nvSpPr>
        <p:spPr>
          <a:xfrm>
            <a:off x="90197" y="4178495"/>
            <a:ext cx="1229302" cy="750638"/>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25" dirty="0">
                <a:solidFill>
                  <a:schemeClr val="tx1"/>
                </a:solidFill>
              </a:rPr>
              <a:t>Upper rail &amp; Lower rail assy. Kept on guide pin</a:t>
            </a:r>
            <a:endParaRPr lang="en-IN" sz="1125" dirty="0">
              <a:solidFill>
                <a:schemeClr val="tx1"/>
              </a:solidFill>
            </a:endParaRPr>
          </a:p>
        </p:txBody>
      </p:sp>
      <p:sp>
        <p:nvSpPr>
          <p:cNvPr id="5" name="Rectangle 4">
            <a:extLst>
              <a:ext uri="{FF2B5EF4-FFF2-40B4-BE49-F238E27FC236}">
                <a16:creationId xmlns:a16="http://schemas.microsoft.com/office/drawing/2014/main" id="{6EF5D6B2-65DA-2C63-B3E1-D56EC638FCC8}"/>
              </a:ext>
            </a:extLst>
          </p:cNvPr>
          <p:cNvSpPr/>
          <p:nvPr/>
        </p:nvSpPr>
        <p:spPr>
          <a:xfrm>
            <a:off x="1501365" y="4160670"/>
            <a:ext cx="1229302" cy="768463"/>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25" dirty="0">
                <a:solidFill>
                  <a:schemeClr val="tx1"/>
                </a:solidFill>
              </a:rPr>
              <a:t>Ball guide kept on ball guide  holder clamp</a:t>
            </a:r>
            <a:endParaRPr lang="en-IN" sz="1125" dirty="0">
              <a:solidFill>
                <a:schemeClr val="tx1"/>
              </a:solidFill>
            </a:endParaRPr>
          </a:p>
        </p:txBody>
      </p:sp>
      <p:sp>
        <p:nvSpPr>
          <p:cNvPr id="6" name="Rectangle 5">
            <a:extLst>
              <a:ext uri="{FF2B5EF4-FFF2-40B4-BE49-F238E27FC236}">
                <a16:creationId xmlns:a16="http://schemas.microsoft.com/office/drawing/2014/main" id="{4B192909-30ED-CB87-6BA1-29C8ABE7AF8E}"/>
              </a:ext>
            </a:extLst>
          </p:cNvPr>
          <p:cNvSpPr/>
          <p:nvPr/>
        </p:nvSpPr>
        <p:spPr>
          <a:xfrm>
            <a:off x="2901025" y="4167873"/>
            <a:ext cx="1229302" cy="768463"/>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25" dirty="0">
                <a:solidFill>
                  <a:schemeClr val="tx1"/>
                </a:solidFill>
              </a:rPr>
              <a:t> Lower rail guide with guide pin &amp; hold with clamp</a:t>
            </a:r>
            <a:endParaRPr lang="en-IN" sz="1125" dirty="0">
              <a:solidFill>
                <a:schemeClr val="tx1"/>
              </a:solidFill>
            </a:endParaRPr>
          </a:p>
        </p:txBody>
      </p:sp>
      <p:sp>
        <p:nvSpPr>
          <p:cNvPr id="7" name="Rectangle 6">
            <a:extLst>
              <a:ext uri="{FF2B5EF4-FFF2-40B4-BE49-F238E27FC236}">
                <a16:creationId xmlns:a16="http://schemas.microsoft.com/office/drawing/2014/main" id="{7461F534-5650-260E-3A82-3ECFA44673DD}"/>
              </a:ext>
            </a:extLst>
          </p:cNvPr>
          <p:cNvSpPr/>
          <p:nvPr/>
        </p:nvSpPr>
        <p:spPr>
          <a:xfrm>
            <a:off x="4315129" y="4185856"/>
            <a:ext cx="1540228" cy="732496"/>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25" dirty="0">
                <a:solidFill>
                  <a:schemeClr val="tx1"/>
                </a:solidFill>
              </a:rPr>
              <a:t>Upper rail squeezing  by  pusher clamp then ball guide clamp with upper rail in RR side </a:t>
            </a:r>
            <a:endParaRPr lang="en-IN" sz="1125" dirty="0">
              <a:solidFill>
                <a:schemeClr val="tx1"/>
              </a:solidFill>
            </a:endParaRPr>
          </a:p>
        </p:txBody>
      </p:sp>
      <p:sp>
        <p:nvSpPr>
          <p:cNvPr id="8" name="Rectangle 7">
            <a:extLst>
              <a:ext uri="{FF2B5EF4-FFF2-40B4-BE49-F238E27FC236}">
                <a16:creationId xmlns:a16="http://schemas.microsoft.com/office/drawing/2014/main" id="{191DBF5E-0285-D705-DB79-C74F45EAD606}"/>
              </a:ext>
            </a:extLst>
          </p:cNvPr>
          <p:cNvSpPr/>
          <p:nvPr/>
        </p:nvSpPr>
        <p:spPr>
          <a:xfrm>
            <a:off x="6040159" y="4181818"/>
            <a:ext cx="1229302" cy="735171"/>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25" dirty="0">
                <a:solidFill>
                  <a:schemeClr val="tx1"/>
                </a:solidFill>
              </a:rPr>
              <a:t>Ball guide insert in between upper and lower rail by pusher rod</a:t>
            </a:r>
            <a:endParaRPr lang="en-IN" sz="1125" dirty="0">
              <a:solidFill>
                <a:schemeClr val="tx1"/>
              </a:solidFill>
            </a:endParaRPr>
          </a:p>
        </p:txBody>
      </p:sp>
      <p:sp>
        <p:nvSpPr>
          <p:cNvPr id="9" name="Rectangle 8">
            <a:extLst>
              <a:ext uri="{FF2B5EF4-FFF2-40B4-BE49-F238E27FC236}">
                <a16:creationId xmlns:a16="http://schemas.microsoft.com/office/drawing/2014/main" id="{1190656F-4CCC-4E06-8A85-DBED71FDFBD4}"/>
              </a:ext>
            </a:extLst>
          </p:cNvPr>
          <p:cNvSpPr/>
          <p:nvPr/>
        </p:nvSpPr>
        <p:spPr>
          <a:xfrm>
            <a:off x="4610267" y="5133212"/>
            <a:ext cx="1229302" cy="768463"/>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1" dirty="0">
              <a:solidFill>
                <a:schemeClr val="tx1"/>
              </a:solidFill>
            </a:endParaRPr>
          </a:p>
          <a:p>
            <a:r>
              <a:rPr lang="en-US" sz="1051" dirty="0">
                <a:solidFill>
                  <a:schemeClr val="tx1"/>
                </a:solidFill>
              </a:rPr>
              <a:t>Part come from original position for next process</a:t>
            </a:r>
            <a:br>
              <a:rPr lang="en-US" sz="1051" dirty="0">
                <a:solidFill>
                  <a:schemeClr val="tx1"/>
                </a:solidFill>
              </a:rPr>
            </a:br>
            <a:r>
              <a:rPr lang="en-US" sz="1125" u="sng" dirty="0">
                <a:solidFill>
                  <a:schemeClr val="tx1"/>
                </a:solidFill>
              </a:rPr>
              <a:t> </a:t>
            </a:r>
            <a:endParaRPr lang="en-IN" sz="1125" u="sng" dirty="0">
              <a:solidFill>
                <a:schemeClr val="tx1"/>
              </a:solidFill>
            </a:endParaRPr>
          </a:p>
        </p:txBody>
      </p:sp>
      <p:sp>
        <p:nvSpPr>
          <p:cNvPr id="10" name="Rectangle 9">
            <a:extLst>
              <a:ext uri="{FF2B5EF4-FFF2-40B4-BE49-F238E27FC236}">
                <a16:creationId xmlns:a16="http://schemas.microsoft.com/office/drawing/2014/main" id="{CD39EF8B-12E6-1616-3F6A-710A895D89B0}"/>
              </a:ext>
            </a:extLst>
          </p:cNvPr>
          <p:cNvSpPr/>
          <p:nvPr/>
        </p:nvSpPr>
        <p:spPr>
          <a:xfrm>
            <a:off x="7451224" y="4178495"/>
            <a:ext cx="1229302" cy="768463"/>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25" dirty="0">
                <a:solidFill>
                  <a:schemeClr val="tx1"/>
                </a:solidFill>
              </a:rPr>
              <a:t>Part slide from FR to RR by clamping holder </a:t>
            </a:r>
            <a:endParaRPr lang="en-IN" sz="1125" dirty="0">
              <a:solidFill>
                <a:schemeClr val="tx1"/>
              </a:solidFill>
            </a:endParaRPr>
          </a:p>
        </p:txBody>
      </p:sp>
      <p:sp>
        <p:nvSpPr>
          <p:cNvPr id="11" name="Rectangle 10">
            <a:extLst>
              <a:ext uri="{FF2B5EF4-FFF2-40B4-BE49-F238E27FC236}">
                <a16:creationId xmlns:a16="http://schemas.microsoft.com/office/drawing/2014/main" id="{8243DDC4-6259-5C24-599B-5528FE257C23}"/>
              </a:ext>
            </a:extLst>
          </p:cNvPr>
          <p:cNvSpPr/>
          <p:nvPr/>
        </p:nvSpPr>
        <p:spPr>
          <a:xfrm>
            <a:off x="7478960" y="5173843"/>
            <a:ext cx="1557384" cy="768464"/>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25" dirty="0">
                <a:solidFill>
                  <a:schemeClr val="tx1"/>
                </a:solidFill>
              </a:rPr>
              <a:t>Upper rail squeezing  by  pusher clamp then ball guide clamp with upper rail in FR side </a:t>
            </a:r>
            <a:endParaRPr lang="en-IN" sz="1125" dirty="0">
              <a:solidFill>
                <a:schemeClr val="tx1"/>
              </a:solidFill>
            </a:endParaRPr>
          </a:p>
        </p:txBody>
      </p:sp>
      <p:sp>
        <p:nvSpPr>
          <p:cNvPr id="12" name="Rectangle 11">
            <a:extLst>
              <a:ext uri="{FF2B5EF4-FFF2-40B4-BE49-F238E27FC236}">
                <a16:creationId xmlns:a16="http://schemas.microsoft.com/office/drawing/2014/main" id="{B7E04834-5FC9-6C78-10CA-7DFF2BB69691}"/>
              </a:ext>
            </a:extLst>
          </p:cNvPr>
          <p:cNvSpPr/>
          <p:nvPr/>
        </p:nvSpPr>
        <p:spPr>
          <a:xfrm>
            <a:off x="6040157" y="5150053"/>
            <a:ext cx="1229302" cy="768463"/>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25" dirty="0">
                <a:solidFill>
                  <a:schemeClr val="tx1"/>
                </a:solidFill>
              </a:rPr>
              <a:t>Ball guide insert in between upper and lower rail by pusher rod</a:t>
            </a:r>
            <a:endParaRPr lang="en-IN" sz="1125" dirty="0">
              <a:solidFill>
                <a:schemeClr val="tx1"/>
              </a:solidFill>
            </a:endParaRPr>
          </a:p>
        </p:txBody>
      </p:sp>
      <p:sp>
        <p:nvSpPr>
          <p:cNvPr id="13" name="Rectangle 12">
            <a:extLst>
              <a:ext uri="{FF2B5EF4-FFF2-40B4-BE49-F238E27FC236}">
                <a16:creationId xmlns:a16="http://schemas.microsoft.com/office/drawing/2014/main" id="{4FF75B88-DBFE-E9F7-6606-EEF2B5F5CAF1}"/>
              </a:ext>
            </a:extLst>
          </p:cNvPr>
          <p:cNvSpPr/>
          <p:nvPr/>
        </p:nvSpPr>
        <p:spPr>
          <a:xfrm>
            <a:off x="2562039" y="5123638"/>
            <a:ext cx="1847640" cy="753248"/>
          </a:xfrm>
          <a:prstGeom prst="rect">
            <a:avLst/>
          </a:prstGeom>
          <a:solidFill>
            <a:srgbClr val="FFC000"/>
          </a:solid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51" dirty="0">
              <a:solidFill>
                <a:schemeClr val="tx1"/>
              </a:solidFill>
            </a:endParaRPr>
          </a:p>
          <a:p>
            <a:r>
              <a:rPr lang="en-US" sz="1051" dirty="0">
                <a:solidFill>
                  <a:schemeClr val="tx1"/>
                </a:solidFill>
              </a:rPr>
              <a:t>Operator part unload  from  machine and kept on semi-auto machine for force checking</a:t>
            </a:r>
            <a:br>
              <a:rPr lang="en-US" sz="1051" dirty="0">
                <a:solidFill>
                  <a:schemeClr val="tx1"/>
                </a:solidFill>
              </a:rPr>
            </a:br>
            <a:r>
              <a:rPr lang="en-US" sz="1125" u="sng" dirty="0">
                <a:solidFill>
                  <a:schemeClr val="tx1"/>
                </a:solidFill>
              </a:rPr>
              <a:t> </a:t>
            </a:r>
            <a:endParaRPr lang="en-IN" sz="1125" u="sng" dirty="0">
              <a:solidFill>
                <a:schemeClr val="tx1"/>
              </a:solidFill>
            </a:endParaRPr>
          </a:p>
        </p:txBody>
      </p:sp>
      <p:sp>
        <p:nvSpPr>
          <p:cNvPr id="14" name="Arrow: Right 13">
            <a:extLst>
              <a:ext uri="{FF2B5EF4-FFF2-40B4-BE49-F238E27FC236}">
                <a16:creationId xmlns:a16="http://schemas.microsoft.com/office/drawing/2014/main" id="{1709B704-74B5-B003-4584-9CD98996E917}"/>
              </a:ext>
            </a:extLst>
          </p:cNvPr>
          <p:cNvSpPr/>
          <p:nvPr/>
        </p:nvSpPr>
        <p:spPr>
          <a:xfrm>
            <a:off x="1307121" y="4422570"/>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898984AE-A954-D8FA-09BA-C1D1E10CBA97}"/>
              </a:ext>
            </a:extLst>
          </p:cNvPr>
          <p:cNvSpPr/>
          <p:nvPr/>
        </p:nvSpPr>
        <p:spPr>
          <a:xfrm>
            <a:off x="2735741" y="4373159"/>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0F1A17F3-8C76-3444-68F2-D78293196252}"/>
              </a:ext>
            </a:extLst>
          </p:cNvPr>
          <p:cNvSpPr/>
          <p:nvPr/>
        </p:nvSpPr>
        <p:spPr>
          <a:xfrm>
            <a:off x="4123885" y="4373159"/>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600D7C59-537D-112B-0824-304A9E56C434}"/>
              </a:ext>
            </a:extLst>
          </p:cNvPr>
          <p:cNvSpPr/>
          <p:nvPr/>
        </p:nvSpPr>
        <p:spPr>
          <a:xfrm rot="10800000">
            <a:off x="7269461" y="5374881"/>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62486CEB-D76C-6259-4E30-766A36A636B2}"/>
              </a:ext>
            </a:extLst>
          </p:cNvPr>
          <p:cNvSpPr/>
          <p:nvPr/>
        </p:nvSpPr>
        <p:spPr>
          <a:xfrm>
            <a:off x="7269461" y="4373159"/>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25F698F2-B461-8FDB-67C2-F63269630DB8}"/>
              </a:ext>
            </a:extLst>
          </p:cNvPr>
          <p:cNvSpPr/>
          <p:nvPr/>
        </p:nvSpPr>
        <p:spPr>
          <a:xfrm>
            <a:off x="5855357" y="4373159"/>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Bent 28">
            <a:extLst>
              <a:ext uri="{FF2B5EF4-FFF2-40B4-BE49-F238E27FC236}">
                <a16:creationId xmlns:a16="http://schemas.microsoft.com/office/drawing/2014/main" id="{C75526E4-25AA-B452-3184-66DBE51BBB47}"/>
              </a:ext>
            </a:extLst>
          </p:cNvPr>
          <p:cNvSpPr/>
          <p:nvPr/>
        </p:nvSpPr>
        <p:spPr>
          <a:xfrm rot="5400000">
            <a:off x="8489643" y="4717052"/>
            <a:ext cx="623883" cy="24211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5" name="Arrow: Right 34">
            <a:extLst>
              <a:ext uri="{FF2B5EF4-FFF2-40B4-BE49-F238E27FC236}">
                <a16:creationId xmlns:a16="http://schemas.microsoft.com/office/drawing/2014/main" id="{81DF382B-F303-4EF1-2C23-A8929664E9B8}"/>
              </a:ext>
            </a:extLst>
          </p:cNvPr>
          <p:cNvSpPr/>
          <p:nvPr/>
        </p:nvSpPr>
        <p:spPr>
          <a:xfrm rot="10800000">
            <a:off x="4415909" y="5345701"/>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id="{13071698-AB1A-CFC8-DEF6-41DAB654DB2D}"/>
              </a:ext>
            </a:extLst>
          </p:cNvPr>
          <p:cNvSpPr/>
          <p:nvPr/>
        </p:nvSpPr>
        <p:spPr>
          <a:xfrm rot="10800000">
            <a:off x="5839570" y="5386333"/>
            <a:ext cx="165284" cy="3434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73050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CEC9CE4-0123-E263-9926-834B292A217C}"/>
              </a:ext>
            </a:extLst>
          </p:cNvPr>
          <p:cNvPicPr>
            <a:picLocks noChangeAspect="1"/>
          </p:cNvPicPr>
          <p:nvPr/>
        </p:nvPicPr>
        <p:blipFill>
          <a:blip r:embed="rId2"/>
          <a:stretch>
            <a:fillRect/>
          </a:stretch>
        </p:blipFill>
        <p:spPr>
          <a:xfrm>
            <a:off x="4650512" y="758635"/>
            <a:ext cx="4417291" cy="2397890"/>
          </a:xfrm>
          <a:prstGeom prst="rect">
            <a:avLst/>
          </a:prstGeom>
          <a:ln>
            <a:solidFill>
              <a:schemeClr val="tx2">
                <a:lumMod val="75000"/>
              </a:schemeClr>
            </a:solidFill>
          </a:ln>
        </p:spPr>
      </p:pic>
      <p:sp>
        <p:nvSpPr>
          <p:cNvPr id="2" name="Rectangle 1"/>
          <p:cNvSpPr/>
          <p:nvPr/>
        </p:nvSpPr>
        <p:spPr>
          <a:xfrm>
            <a:off x="2057400" y="93846"/>
            <a:ext cx="6477000" cy="5919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FORCE COMPARISON OF ALL RAIL in 5.5 mm BALL GUIDE</a:t>
            </a:r>
          </a:p>
        </p:txBody>
      </p:sp>
      <p:sp>
        <p:nvSpPr>
          <p:cNvPr id="3" name="AutoShape 5"/>
          <p:cNvSpPr>
            <a:spLocks noChangeArrowheads="1"/>
          </p:cNvSpPr>
          <p:nvPr/>
        </p:nvSpPr>
        <p:spPr bwMode="auto">
          <a:xfrm>
            <a:off x="-7219" y="17647"/>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pic>
        <p:nvPicPr>
          <p:cNvPr id="10" name="Picture 9">
            <a:extLst>
              <a:ext uri="{FF2B5EF4-FFF2-40B4-BE49-F238E27FC236}">
                <a16:creationId xmlns:a16="http://schemas.microsoft.com/office/drawing/2014/main" id="{11F156A1-D597-2D6A-F410-38870627EEAA}"/>
              </a:ext>
            </a:extLst>
          </p:cNvPr>
          <p:cNvPicPr>
            <a:picLocks noChangeAspect="1"/>
          </p:cNvPicPr>
          <p:nvPr/>
        </p:nvPicPr>
        <p:blipFill>
          <a:blip r:embed="rId3"/>
          <a:stretch>
            <a:fillRect/>
          </a:stretch>
        </p:blipFill>
        <p:spPr>
          <a:xfrm>
            <a:off x="129312" y="760945"/>
            <a:ext cx="4417291" cy="2397891"/>
          </a:xfrm>
          <a:prstGeom prst="rect">
            <a:avLst/>
          </a:prstGeom>
          <a:ln>
            <a:solidFill>
              <a:schemeClr val="tx2">
                <a:lumMod val="75000"/>
              </a:schemeClr>
            </a:solidFill>
          </a:ln>
        </p:spPr>
      </p:pic>
      <p:pic>
        <p:nvPicPr>
          <p:cNvPr id="14" name="Picture 13">
            <a:extLst>
              <a:ext uri="{FF2B5EF4-FFF2-40B4-BE49-F238E27FC236}">
                <a16:creationId xmlns:a16="http://schemas.microsoft.com/office/drawing/2014/main" id="{248D8A9F-EC45-5B96-8F30-A93B190E9CBA}"/>
              </a:ext>
            </a:extLst>
          </p:cNvPr>
          <p:cNvPicPr>
            <a:picLocks noChangeAspect="1"/>
          </p:cNvPicPr>
          <p:nvPr/>
        </p:nvPicPr>
        <p:blipFill>
          <a:blip r:embed="rId4"/>
          <a:stretch>
            <a:fillRect/>
          </a:stretch>
        </p:blipFill>
        <p:spPr>
          <a:xfrm>
            <a:off x="129311" y="3233980"/>
            <a:ext cx="4417291" cy="2318714"/>
          </a:xfrm>
          <a:prstGeom prst="rect">
            <a:avLst/>
          </a:prstGeom>
          <a:ln>
            <a:solidFill>
              <a:schemeClr val="tx2">
                <a:lumMod val="75000"/>
              </a:schemeClr>
            </a:solidFill>
          </a:ln>
        </p:spPr>
      </p:pic>
      <p:pic>
        <p:nvPicPr>
          <p:cNvPr id="7" name="Picture 6">
            <a:extLst>
              <a:ext uri="{FF2B5EF4-FFF2-40B4-BE49-F238E27FC236}">
                <a16:creationId xmlns:a16="http://schemas.microsoft.com/office/drawing/2014/main" id="{7A65C37B-642F-9E39-297F-A434DB301617}"/>
              </a:ext>
            </a:extLst>
          </p:cNvPr>
          <p:cNvPicPr>
            <a:picLocks noChangeAspect="1"/>
          </p:cNvPicPr>
          <p:nvPr/>
        </p:nvPicPr>
        <p:blipFill>
          <a:blip r:embed="rId5"/>
          <a:stretch>
            <a:fillRect/>
          </a:stretch>
        </p:blipFill>
        <p:spPr>
          <a:xfrm>
            <a:off x="4648201" y="3233980"/>
            <a:ext cx="4417291" cy="2318714"/>
          </a:xfrm>
          <a:prstGeom prst="rect">
            <a:avLst/>
          </a:prstGeom>
          <a:ln>
            <a:solidFill>
              <a:schemeClr val="tx1"/>
            </a:solidFill>
          </a:ln>
        </p:spPr>
      </p:pic>
      <p:sp>
        <p:nvSpPr>
          <p:cNvPr id="4" name="Rectangle 3">
            <a:extLst>
              <a:ext uri="{FF2B5EF4-FFF2-40B4-BE49-F238E27FC236}">
                <a16:creationId xmlns:a16="http://schemas.microsoft.com/office/drawing/2014/main" id="{8398EB44-7A66-5BA6-FEBE-71FAF9A97B4F}"/>
              </a:ext>
            </a:extLst>
          </p:cNvPr>
          <p:cNvSpPr/>
          <p:nvPr/>
        </p:nvSpPr>
        <p:spPr>
          <a:xfrm>
            <a:off x="140568" y="5627838"/>
            <a:ext cx="8862864" cy="7654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sz="1900" dirty="0">
                <a:solidFill>
                  <a:schemeClr val="tx1"/>
                </a:solidFill>
              </a:rPr>
              <a:t>Almost all KPIVs were the same; only the upper and lower rails were different. It was found that in 5.5 mm ball guides, the sliding force is different in all rails.  </a:t>
            </a:r>
          </a:p>
        </p:txBody>
      </p:sp>
    </p:spTree>
    <p:extLst>
      <p:ext uri="{BB962C8B-B14F-4D97-AF65-F5344CB8AC3E}">
        <p14:creationId xmlns:p14="http://schemas.microsoft.com/office/powerpoint/2010/main" val="1715869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41BB-A59C-A254-12D2-0EBF72BC53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4DCD07-70CD-72F0-3C9D-4520576659A5}"/>
              </a:ext>
            </a:extLst>
          </p:cNvPr>
          <p:cNvSpPr/>
          <p:nvPr/>
        </p:nvSpPr>
        <p:spPr>
          <a:xfrm>
            <a:off x="2064619" y="93847"/>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FORCE COMPARISON OF ALL RAIL in 5.6 mm BALL GUIDE</a:t>
            </a:r>
          </a:p>
        </p:txBody>
      </p:sp>
      <p:sp>
        <p:nvSpPr>
          <p:cNvPr id="3" name="AutoShape 5">
            <a:extLst>
              <a:ext uri="{FF2B5EF4-FFF2-40B4-BE49-F238E27FC236}">
                <a16:creationId xmlns:a16="http://schemas.microsoft.com/office/drawing/2014/main" id="{EFA9E4DD-BF79-A197-553D-15CCDF9A50C5}"/>
              </a:ext>
            </a:extLst>
          </p:cNvPr>
          <p:cNvSpPr>
            <a:spLocks noChangeArrowheads="1"/>
          </p:cNvSpPr>
          <p:nvPr/>
        </p:nvSpPr>
        <p:spPr bwMode="auto">
          <a:xfrm>
            <a:off x="0" y="39623"/>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pic>
        <p:nvPicPr>
          <p:cNvPr id="5" name="Picture 4">
            <a:extLst>
              <a:ext uri="{FF2B5EF4-FFF2-40B4-BE49-F238E27FC236}">
                <a16:creationId xmlns:a16="http://schemas.microsoft.com/office/drawing/2014/main" id="{80BF826B-4852-A16A-7A39-70A656E5B7F5}"/>
              </a:ext>
            </a:extLst>
          </p:cNvPr>
          <p:cNvPicPr>
            <a:picLocks noChangeAspect="1"/>
          </p:cNvPicPr>
          <p:nvPr/>
        </p:nvPicPr>
        <p:blipFill>
          <a:blip r:embed="rId2"/>
          <a:stretch>
            <a:fillRect/>
          </a:stretch>
        </p:blipFill>
        <p:spPr>
          <a:xfrm>
            <a:off x="140568" y="668583"/>
            <a:ext cx="4417291" cy="2499491"/>
          </a:xfrm>
          <a:prstGeom prst="rect">
            <a:avLst/>
          </a:prstGeom>
          <a:ln>
            <a:solidFill>
              <a:schemeClr val="tx1"/>
            </a:solidFill>
          </a:ln>
        </p:spPr>
      </p:pic>
      <p:pic>
        <p:nvPicPr>
          <p:cNvPr id="7" name="Picture 6">
            <a:extLst>
              <a:ext uri="{FF2B5EF4-FFF2-40B4-BE49-F238E27FC236}">
                <a16:creationId xmlns:a16="http://schemas.microsoft.com/office/drawing/2014/main" id="{C4C43ABC-A394-9D84-26AF-57C67C50C6A5}"/>
              </a:ext>
            </a:extLst>
          </p:cNvPr>
          <p:cNvPicPr>
            <a:picLocks noChangeAspect="1"/>
          </p:cNvPicPr>
          <p:nvPr/>
        </p:nvPicPr>
        <p:blipFill>
          <a:blip r:embed="rId3"/>
          <a:stretch>
            <a:fillRect/>
          </a:stretch>
        </p:blipFill>
        <p:spPr>
          <a:xfrm>
            <a:off x="4661769" y="667746"/>
            <a:ext cx="4341664" cy="2500328"/>
          </a:xfrm>
          <a:prstGeom prst="rect">
            <a:avLst/>
          </a:prstGeom>
          <a:ln>
            <a:solidFill>
              <a:schemeClr val="tx1"/>
            </a:solidFill>
          </a:ln>
        </p:spPr>
      </p:pic>
      <p:pic>
        <p:nvPicPr>
          <p:cNvPr id="9" name="Picture 8">
            <a:extLst>
              <a:ext uri="{FF2B5EF4-FFF2-40B4-BE49-F238E27FC236}">
                <a16:creationId xmlns:a16="http://schemas.microsoft.com/office/drawing/2014/main" id="{55565616-5F58-FFA7-F1EB-3CE8E2FA6BD4}"/>
              </a:ext>
            </a:extLst>
          </p:cNvPr>
          <p:cNvPicPr>
            <a:picLocks noChangeAspect="1"/>
          </p:cNvPicPr>
          <p:nvPr/>
        </p:nvPicPr>
        <p:blipFill>
          <a:blip r:embed="rId4"/>
          <a:stretch>
            <a:fillRect/>
          </a:stretch>
        </p:blipFill>
        <p:spPr>
          <a:xfrm>
            <a:off x="138258" y="3228122"/>
            <a:ext cx="4417291" cy="2390063"/>
          </a:xfrm>
          <a:prstGeom prst="rect">
            <a:avLst/>
          </a:prstGeom>
          <a:ln>
            <a:solidFill>
              <a:schemeClr val="tx1"/>
            </a:solidFill>
          </a:ln>
        </p:spPr>
      </p:pic>
      <p:pic>
        <p:nvPicPr>
          <p:cNvPr id="11" name="Picture 10">
            <a:extLst>
              <a:ext uri="{FF2B5EF4-FFF2-40B4-BE49-F238E27FC236}">
                <a16:creationId xmlns:a16="http://schemas.microsoft.com/office/drawing/2014/main" id="{358CA055-6333-F9AC-155B-C4F3DA39D703}"/>
              </a:ext>
            </a:extLst>
          </p:cNvPr>
          <p:cNvPicPr>
            <a:picLocks noChangeAspect="1"/>
          </p:cNvPicPr>
          <p:nvPr/>
        </p:nvPicPr>
        <p:blipFill>
          <a:blip r:embed="rId5"/>
          <a:stretch>
            <a:fillRect/>
          </a:stretch>
        </p:blipFill>
        <p:spPr>
          <a:xfrm>
            <a:off x="4661769" y="3228122"/>
            <a:ext cx="4341664" cy="2385945"/>
          </a:xfrm>
          <a:prstGeom prst="rect">
            <a:avLst/>
          </a:prstGeom>
          <a:ln>
            <a:solidFill>
              <a:schemeClr val="tx1"/>
            </a:solidFill>
          </a:ln>
        </p:spPr>
      </p:pic>
      <p:sp>
        <p:nvSpPr>
          <p:cNvPr id="4" name="Rectangle 3">
            <a:extLst>
              <a:ext uri="{FF2B5EF4-FFF2-40B4-BE49-F238E27FC236}">
                <a16:creationId xmlns:a16="http://schemas.microsoft.com/office/drawing/2014/main" id="{E430BF39-3025-3541-80B9-654349123CE7}"/>
              </a:ext>
            </a:extLst>
          </p:cNvPr>
          <p:cNvSpPr/>
          <p:nvPr/>
        </p:nvSpPr>
        <p:spPr>
          <a:xfrm>
            <a:off x="140568" y="5671127"/>
            <a:ext cx="8862864" cy="7221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dirty="0">
              <a:solidFill>
                <a:schemeClr val="tx1"/>
              </a:solidFill>
            </a:endParaRPr>
          </a:p>
        </p:txBody>
      </p:sp>
      <p:sp>
        <p:nvSpPr>
          <p:cNvPr id="8" name="Rectangle 7">
            <a:extLst>
              <a:ext uri="{FF2B5EF4-FFF2-40B4-BE49-F238E27FC236}">
                <a16:creationId xmlns:a16="http://schemas.microsoft.com/office/drawing/2014/main" id="{AE33D1DC-9940-36FA-69D6-C0E3E18FB464}"/>
              </a:ext>
            </a:extLst>
          </p:cNvPr>
          <p:cNvSpPr/>
          <p:nvPr/>
        </p:nvSpPr>
        <p:spPr>
          <a:xfrm>
            <a:off x="140568" y="5627838"/>
            <a:ext cx="8862864" cy="7654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dirty="0">
                <a:solidFill>
                  <a:schemeClr val="tx1"/>
                </a:solidFill>
              </a:rPr>
              <a:t>Again almost all KPIVs were the same; only the upper and lower rails were different. It was found that in 5.6 mm ball guides, the sliding force is different in all rails.  </a:t>
            </a:r>
          </a:p>
        </p:txBody>
      </p:sp>
    </p:spTree>
    <p:extLst>
      <p:ext uri="{BB962C8B-B14F-4D97-AF65-F5344CB8AC3E}">
        <p14:creationId xmlns:p14="http://schemas.microsoft.com/office/powerpoint/2010/main" val="3135475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2C04F1-D670-80E0-FFD3-C79488388E00}"/>
              </a:ext>
            </a:extLst>
          </p:cNvPr>
          <p:cNvSpPr>
            <a:spLocks noGrp="1"/>
          </p:cNvSpPr>
          <p:nvPr>
            <p:ph type="sldNum" sz="quarter" idx="12"/>
          </p:nvPr>
        </p:nvSpPr>
        <p:spPr/>
        <p:txBody>
          <a:bodyPr/>
          <a:lstStyle/>
          <a:p>
            <a:fld id="{48F63A3B-78C7-47BE-AE5E-E10140E04643}" type="slidenum">
              <a:rPr lang="en-US" smtClean="0"/>
              <a:t>21</a:t>
            </a:fld>
            <a:endParaRPr lang="en-US" dirty="0"/>
          </a:p>
        </p:txBody>
      </p:sp>
      <p:pic>
        <p:nvPicPr>
          <p:cNvPr id="6" name="Picture 5">
            <a:extLst>
              <a:ext uri="{FF2B5EF4-FFF2-40B4-BE49-F238E27FC236}">
                <a16:creationId xmlns:a16="http://schemas.microsoft.com/office/drawing/2014/main" id="{32573812-4AB0-BC1A-E114-8F165F644991}"/>
              </a:ext>
            </a:extLst>
          </p:cNvPr>
          <p:cNvPicPr>
            <a:picLocks noChangeAspect="1"/>
          </p:cNvPicPr>
          <p:nvPr/>
        </p:nvPicPr>
        <p:blipFill>
          <a:blip r:embed="rId2"/>
          <a:stretch>
            <a:fillRect/>
          </a:stretch>
        </p:blipFill>
        <p:spPr>
          <a:xfrm>
            <a:off x="3094044" y="667434"/>
            <a:ext cx="2940051" cy="2013620"/>
          </a:xfrm>
          <a:prstGeom prst="rect">
            <a:avLst/>
          </a:prstGeom>
          <a:ln>
            <a:solidFill>
              <a:schemeClr val="tx1"/>
            </a:solidFill>
          </a:ln>
        </p:spPr>
      </p:pic>
      <p:pic>
        <p:nvPicPr>
          <p:cNvPr id="8" name="Picture 7">
            <a:extLst>
              <a:ext uri="{FF2B5EF4-FFF2-40B4-BE49-F238E27FC236}">
                <a16:creationId xmlns:a16="http://schemas.microsoft.com/office/drawing/2014/main" id="{079950AB-1DE5-03F9-134F-31030C3AC721}"/>
              </a:ext>
            </a:extLst>
          </p:cNvPr>
          <p:cNvPicPr>
            <a:picLocks noChangeAspect="1"/>
          </p:cNvPicPr>
          <p:nvPr/>
        </p:nvPicPr>
        <p:blipFill>
          <a:blip r:embed="rId3"/>
          <a:stretch>
            <a:fillRect/>
          </a:stretch>
        </p:blipFill>
        <p:spPr>
          <a:xfrm>
            <a:off x="3094044" y="2751549"/>
            <a:ext cx="2940050" cy="2015452"/>
          </a:xfrm>
          <a:prstGeom prst="rect">
            <a:avLst/>
          </a:prstGeom>
          <a:ln>
            <a:solidFill>
              <a:schemeClr val="tx1"/>
            </a:solidFill>
          </a:ln>
        </p:spPr>
      </p:pic>
      <p:pic>
        <p:nvPicPr>
          <p:cNvPr id="10" name="Picture 9">
            <a:extLst>
              <a:ext uri="{FF2B5EF4-FFF2-40B4-BE49-F238E27FC236}">
                <a16:creationId xmlns:a16="http://schemas.microsoft.com/office/drawing/2014/main" id="{CE0D350E-755D-F5B8-51AB-E073FCFEB190}"/>
              </a:ext>
            </a:extLst>
          </p:cNvPr>
          <p:cNvPicPr>
            <a:picLocks noChangeAspect="1"/>
          </p:cNvPicPr>
          <p:nvPr/>
        </p:nvPicPr>
        <p:blipFill>
          <a:blip r:embed="rId4"/>
          <a:stretch>
            <a:fillRect/>
          </a:stretch>
        </p:blipFill>
        <p:spPr>
          <a:xfrm>
            <a:off x="98713" y="665602"/>
            <a:ext cx="2940051" cy="2015452"/>
          </a:xfrm>
          <a:prstGeom prst="rect">
            <a:avLst/>
          </a:prstGeom>
          <a:ln>
            <a:solidFill>
              <a:schemeClr val="tx1"/>
            </a:solidFill>
          </a:ln>
        </p:spPr>
      </p:pic>
      <p:pic>
        <p:nvPicPr>
          <p:cNvPr id="12" name="Picture 11">
            <a:extLst>
              <a:ext uri="{FF2B5EF4-FFF2-40B4-BE49-F238E27FC236}">
                <a16:creationId xmlns:a16="http://schemas.microsoft.com/office/drawing/2014/main" id="{F6E378AE-35AE-22B5-B5CE-42FEF763FAC0}"/>
              </a:ext>
            </a:extLst>
          </p:cNvPr>
          <p:cNvPicPr>
            <a:picLocks noChangeAspect="1"/>
          </p:cNvPicPr>
          <p:nvPr/>
        </p:nvPicPr>
        <p:blipFill>
          <a:blip r:embed="rId5"/>
          <a:stretch>
            <a:fillRect/>
          </a:stretch>
        </p:blipFill>
        <p:spPr>
          <a:xfrm>
            <a:off x="98713" y="2751930"/>
            <a:ext cx="2940051" cy="2015452"/>
          </a:xfrm>
          <a:prstGeom prst="rect">
            <a:avLst/>
          </a:prstGeom>
          <a:ln>
            <a:solidFill>
              <a:schemeClr val="tx1"/>
            </a:solidFill>
          </a:ln>
        </p:spPr>
      </p:pic>
      <p:pic>
        <p:nvPicPr>
          <p:cNvPr id="15" name="Picture 14">
            <a:extLst>
              <a:ext uri="{FF2B5EF4-FFF2-40B4-BE49-F238E27FC236}">
                <a16:creationId xmlns:a16="http://schemas.microsoft.com/office/drawing/2014/main" id="{4B5A1D91-53E7-298D-AF1B-351D2D04DA99}"/>
              </a:ext>
            </a:extLst>
          </p:cNvPr>
          <p:cNvPicPr>
            <a:picLocks noChangeAspect="1"/>
          </p:cNvPicPr>
          <p:nvPr/>
        </p:nvPicPr>
        <p:blipFill>
          <a:blip r:embed="rId6"/>
          <a:stretch>
            <a:fillRect/>
          </a:stretch>
        </p:blipFill>
        <p:spPr>
          <a:xfrm>
            <a:off x="6105238" y="667434"/>
            <a:ext cx="2940048" cy="2015452"/>
          </a:xfrm>
          <a:prstGeom prst="rect">
            <a:avLst/>
          </a:prstGeom>
          <a:ln>
            <a:solidFill>
              <a:schemeClr val="tx1"/>
            </a:solidFill>
          </a:ln>
        </p:spPr>
      </p:pic>
      <p:pic>
        <p:nvPicPr>
          <p:cNvPr id="17" name="Picture 16">
            <a:extLst>
              <a:ext uri="{FF2B5EF4-FFF2-40B4-BE49-F238E27FC236}">
                <a16:creationId xmlns:a16="http://schemas.microsoft.com/office/drawing/2014/main" id="{E1D7C39F-022A-0A67-933F-F839D5EE945E}"/>
              </a:ext>
            </a:extLst>
          </p:cNvPr>
          <p:cNvPicPr>
            <a:picLocks noChangeAspect="1"/>
          </p:cNvPicPr>
          <p:nvPr/>
        </p:nvPicPr>
        <p:blipFill>
          <a:blip r:embed="rId7"/>
          <a:stretch>
            <a:fillRect/>
          </a:stretch>
        </p:blipFill>
        <p:spPr>
          <a:xfrm>
            <a:off x="6105239" y="2753763"/>
            <a:ext cx="2940048" cy="2013619"/>
          </a:xfrm>
          <a:prstGeom prst="rect">
            <a:avLst/>
          </a:prstGeom>
          <a:ln>
            <a:solidFill>
              <a:schemeClr val="tx1"/>
            </a:solidFill>
          </a:ln>
        </p:spPr>
      </p:pic>
      <p:sp>
        <p:nvSpPr>
          <p:cNvPr id="18" name="Rectangle 17">
            <a:extLst>
              <a:ext uri="{FF2B5EF4-FFF2-40B4-BE49-F238E27FC236}">
                <a16:creationId xmlns:a16="http://schemas.microsoft.com/office/drawing/2014/main" id="{1621D07A-6C46-C6DD-FA66-DAF1F84A3C98}"/>
              </a:ext>
            </a:extLst>
          </p:cNvPr>
          <p:cNvSpPr/>
          <p:nvPr/>
        </p:nvSpPr>
        <p:spPr>
          <a:xfrm>
            <a:off x="2064619" y="93847"/>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FORCE COMPARISON IN SAME UPPER RAIL</a:t>
            </a:r>
          </a:p>
        </p:txBody>
      </p:sp>
      <p:sp>
        <p:nvSpPr>
          <p:cNvPr id="19" name="AutoShape 5">
            <a:extLst>
              <a:ext uri="{FF2B5EF4-FFF2-40B4-BE49-F238E27FC236}">
                <a16:creationId xmlns:a16="http://schemas.microsoft.com/office/drawing/2014/main" id="{3ADD5AA3-7798-1264-833C-5D21D8596B8E}"/>
              </a:ext>
            </a:extLst>
          </p:cNvPr>
          <p:cNvSpPr>
            <a:spLocks noChangeArrowheads="1"/>
          </p:cNvSpPr>
          <p:nvPr/>
        </p:nvSpPr>
        <p:spPr bwMode="auto">
          <a:xfrm>
            <a:off x="0" y="39623"/>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20" name="Rectangle 19">
            <a:extLst>
              <a:ext uri="{FF2B5EF4-FFF2-40B4-BE49-F238E27FC236}">
                <a16:creationId xmlns:a16="http://schemas.microsoft.com/office/drawing/2014/main" id="{151031B6-D274-5C0A-908A-7AF2718E0E2A}"/>
              </a:ext>
            </a:extLst>
          </p:cNvPr>
          <p:cNvSpPr/>
          <p:nvPr/>
        </p:nvSpPr>
        <p:spPr>
          <a:xfrm>
            <a:off x="98713" y="5671127"/>
            <a:ext cx="8946573" cy="7221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sz="2000" dirty="0">
                <a:solidFill>
                  <a:schemeClr val="tx1"/>
                </a:solidFill>
              </a:rPr>
              <a:t>The difference in sliding force due to the lower rail can be a minimum of 6.7N and a maximum of 20.1N</a:t>
            </a:r>
          </a:p>
        </p:txBody>
      </p:sp>
      <p:pic>
        <p:nvPicPr>
          <p:cNvPr id="24" name="Picture 23">
            <a:extLst>
              <a:ext uri="{FF2B5EF4-FFF2-40B4-BE49-F238E27FC236}">
                <a16:creationId xmlns:a16="http://schemas.microsoft.com/office/drawing/2014/main" id="{8BC44E86-ED0A-92B3-C862-2560A6C9AA1D}"/>
              </a:ext>
            </a:extLst>
          </p:cNvPr>
          <p:cNvPicPr>
            <a:picLocks noChangeAspect="1"/>
          </p:cNvPicPr>
          <p:nvPr/>
        </p:nvPicPr>
        <p:blipFill>
          <a:blip r:embed="rId8"/>
          <a:stretch>
            <a:fillRect/>
          </a:stretch>
        </p:blipFill>
        <p:spPr>
          <a:xfrm>
            <a:off x="98712" y="4838258"/>
            <a:ext cx="2940051" cy="746760"/>
          </a:xfrm>
          <a:prstGeom prst="rect">
            <a:avLst/>
          </a:prstGeom>
        </p:spPr>
      </p:pic>
      <p:pic>
        <p:nvPicPr>
          <p:cNvPr id="25" name="Picture 24">
            <a:extLst>
              <a:ext uri="{FF2B5EF4-FFF2-40B4-BE49-F238E27FC236}">
                <a16:creationId xmlns:a16="http://schemas.microsoft.com/office/drawing/2014/main" id="{D76989B3-1BA5-82A7-EFF0-320489FAAAD2}"/>
              </a:ext>
            </a:extLst>
          </p:cNvPr>
          <p:cNvPicPr>
            <a:picLocks noChangeAspect="1"/>
          </p:cNvPicPr>
          <p:nvPr/>
        </p:nvPicPr>
        <p:blipFill>
          <a:blip r:embed="rId9"/>
          <a:stretch>
            <a:fillRect/>
          </a:stretch>
        </p:blipFill>
        <p:spPr>
          <a:xfrm>
            <a:off x="3094043" y="4845684"/>
            <a:ext cx="2940051" cy="746760"/>
          </a:xfrm>
          <a:prstGeom prst="rect">
            <a:avLst/>
          </a:prstGeom>
        </p:spPr>
      </p:pic>
      <p:pic>
        <p:nvPicPr>
          <p:cNvPr id="26" name="Picture 25">
            <a:extLst>
              <a:ext uri="{FF2B5EF4-FFF2-40B4-BE49-F238E27FC236}">
                <a16:creationId xmlns:a16="http://schemas.microsoft.com/office/drawing/2014/main" id="{B1213C26-95AD-A279-94A6-771FB226E060}"/>
              </a:ext>
            </a:extLst>
          </p:cNvPr>
          <p:cNvPicPr>
            <a:picLocks noChangeAspect="1"/>
          </p:cNvPicPr>
          <p:nvPr/>
        </p:nvPicPr>
        <p:blipFill>
          <a:blip r:embed="rId10"/>
          <a:stretch>
            <a:fillRect/>
          </a:stretch>
        </p:blipFill>
        <p:spPr>
          <a:xfrm>
            <a:off x="6105239" y="4838258"/>
            <a:ext cx="2940048" cy="746760"/>
          </a:xfrm>
          <a:prstGeom prst="rect">
            <a:avLst/>
          </a:prstGeom>
        </p:spPr>
      </p:pic>
    </p:spTree>
    <p:extLst>
      <p:ext uri="{BB962C8B-B14F-4D97-AF65-F5344CB8AC3E}">
        <p14:creationId xmlns:p14="http://schemas.microsoft.com/office/powerpoint/2010/main" val="460328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3AA-57A9-5CBC-C2C5-755E965A37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70B94D2-331B-8D7B-4E14-4A4B8AD10115}"/>
              </a:ext>
            </a:extLst>
          </p:cNvPr>
          <p:cNvPicPr>
            <a:picLocks noChangeAspect="1"/>
          </p:cNvPicPr>
          <p:nvPr/>
        </p:nvPicPr>
        <p:blipFill>
          <a:blip r:embed="rId2"/>
          <a:stretch>
            <a:fillRect/>
          </a:stretch>
        </p:blipFill>
        <p:spPr>
          <a:xfrm>
            <a:off x="140568" y="665604"/>
            <a:ext cx="2898196" cy="2015452"/>
          </a:xfrm>
          <a:prstGeom prst="rect">
            <a:avLst/>
          </a:prstGeom>
          <a:ln>
            <a:solidFill>
              <a:schemeClr val="tx1"/>
            </a:solidFill>
          </a:ln>
        </p:spPr>
      </p:pic>
      <p:sp>
        <p:nvSpPr>
          <p:cNvPr id="2" name="Slide Number Placeholder 1">
            <a:extLst>
              <a:ext uri="{FF2B5EF4-FFF2-40B4-BE49-F238E27FC236}">
                <a16:creationId xmlns:a16="http://schemas.microsoft.com/office/drawing/2014/main" id="{AF548103-DFFC-0B6D-B5D7-85B8E014AA2C}"/>
              </a:ext>
            </a:extLst>
          </p:cNvPr>
          <p:cNvSpPr>
            <a:spLocks noGrp="1"/>
          </p:cNvSpPr>
          <p:nvPr>
            <p:ph type="sldNum" sz="quarter" idx="12"/>
          </p:nvPr>
        </p:nvSpPr>
        <p:spPr/>
        <p:txBody>
          <a:bodyPr/>
          <a:lstStyle/>
          <a:p>
            <a:fld id="{48F63A3B-78C7-47BE-AE5E-E10140E04643}" type="slidenum">
              <a:rPr lang="en-US" smtClean="0"/>
              <a:t>22</a:t>
            </a:fld>
            <a:endParaRPr lang="en-US" dirty="0"/>
          </a:p>
        </p:txBody>
      </p:sp>
      <p:sp>
        <p:nvSpPr>
          <p:cNvPr id="19" name="AutoShape 5">
            <a:extLst>
              <a:ext uri="{FF2B5EF4-FFF2-40B4-BE49-F238E27FC236}">
                <a16:creationId xmlns:a16="http://schemas.microsoft.com/office/drawing/2014/main" id="{5EBA147B-7D14-EDE7-DF66-5FFBFACBADEC}"/>
              </a:ext>
            </a:extLst>
          </p:cNvPr>
          <p:cNvSpPr>
            <a:spLocks noChangeArrowheads="1"/>
          </p:cNvSpPr>
          <p:nvPr/>
        </p:nvSpPr>
        <p:spPr bwMode="auto">
          <a:xfrm>
            <a:off x="0" y="39623"/>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pic>
        <p:nvPicPr>
          <p:cNvPr id="7" name="Picture 6">
            <a:extLst>
              <a:ext uri="{FF2B5EF4-FFF2-40B4-BE49-F238E27FC236}">
                <a16:creationId xmlns:a16="http://schemas.microsoft.com/office/drawing/2014/main" id="{7C3D539F-9C96-7F04-8E6D-E720D419CF0F}"/>
              </a:ext>
            </a:extLst>
          </p:cNvPr>
          <p:cNvPicPr>
            <a:picLocks noChangeAspect="1"/>
          </p:cNvPicPr>
          <p:nvPr/>
        </p:nvPicPr>
        <p:blipFill>
          <a:blip r:embed="rId3"/>
          <a:stretch>
            <a:fillRect/>
          </a:stretch>
        </p:blipFill>
        <p:spPr>
          <a:xfrm>
            <a:off x="140568" y="2768193"/>
            <a:ext cx="2898196" cy="2015452"/>
          </a:xfrm>
          <a:prstGeom prst="rect">
            <a:avLst/>
          </a:prstGeom>
          <a:ln>
            <a:solidFill>
              <a:schemeClr val="tx1"/>
            </a:solidFill>
          </a:ln>
        </p:spPr>
      </p:pic>
      <p:pic>
        <p:nvPicPr>
          <p:cNvPr id="11" name="Picture 10">
            <a:extLst>
              <a:ext uri="{FF2B5EF4-FFF2-40B4-BE49-F238E27FC236}">
                <a16:creationId xmlns:a16="http://schemas.microsoft.com/office/drawing/2014/main" id="{C39CE845-FA65-9765-C642-66071B18F235}"/>
              </a:ext>
            </a:extLst>
          </p:cNvPr>
          <p:cNvPicPr>
            <a:picLocks noChangeAspect="1"/>
          </p:cNvPicPr>
          <p:nvPr/>
        </p:nvPicPr>
        <p:blipFill>
          <a:blip r:embed="rId4"/>
          <a:stretch>
            <a:fillRect/>
          </a:stretch>
        </p:blipFill>
        <p:spPr>
          <a:xfrm>
            <a:off x="3109768" y="665604"/>
            <a:ext cx="2893001" cy="2015452"/>
          </a:xfrm>
          <a:prstGeom prst="rect">
            <a:avLst/>
          </a:prstGeom>
          <a:ln>
            <a:solidFill>
              <a:schemeClr val="tx1"/>
            </a:solidFill>
          </a:ln>
        </p:spPr>
      </p:pic>
      <p:pic>
        <p:nvPicPr>
          <p:cNvPr id="14" name="Picture 13">
            <a:extLst>
              <a:ext uri="{FF2B5EF4-FFF2-40B4-BE49-F238E27FC236}">
                <a16:creationId xmlns:a16="http://schemas.microsoft.com/office/drawing/2014/main" id="{7B000722-F3FD-E014-3EC9-CEC1937BC0C0}"/>
              </a:ext>
            </a:extLst>
          </p:cNvPr>
          <p:cNvPicPr>
            <a:picLocks noChangeAspect="1"/>
          </p:cNvPicPr>
          <p:nvPr/>
        </p:nvPicPr>
        <p:blipFill>
          <a:blip r:embed="rId5"/>
          <a:stretch>
            <a:fillRect/>
          </a:stretch>
        </p:blipFill>
        <p:spPr>
          <a:xfrm>
            <a:off x="3109768" y="2768193"/>
            <a:ext cx="2893001" cy="2015452"/>
          </a:xfrm>
          <a:prstGeom prst="rect">
            <a:avLst/>
          </a:prstGeom>
          <a:ln>
            <a:solidFill>
              <a:schemeClr val="tx1"/>
            </a:solidFill>
          </a:ln>
        </p:spPr>
      </p:pic>
      <p:pic>
        <p:nvPicPr>
          <p:cNvPr id="20" name="Picture 19">
            <a:extLst>
              <a:ext uri="{FF2B5EF4-FFF2-40B4-BE49-F238E27FC236}">
                <a16:creationId xmlns:a16="http://schemas.microsoft.com/office/drawing/2014/main" id="{1D4D1FCF-6BF7-381F-2B8D-957FC6D4597A}"/>
              </a:ext>
            </a:extLst>
          </p:cNvPr>
          <p:cNvPicPr>
            <a:picLocks noChangeAspect="1"/>
          </p:cNvPicPr>
          <p:nvPr/>
        </p:nvPicPr>
        <p:blipFill>
          <a:blip r:embed="rId6"/>
          <a:stretch>
            <a:fillRect/>
          </a:stretch>
        </p:blipFill>
        <p:spPr>
          <a:xfrm>
            <a:off x="6073773" y="665604"/>
            <a:ext cx="2929659" cy="2015452"/>
          </a:xfrm>
          <a:prstGeom prst="rect">
            <a:avLst/>
          </a:prstGeom>
          <a:ln>
            <a:solidFill>
              <a:schemeClr val="tx1"/>
            </a:solidFill>
          </a:ln>
        </p:spPr>
      </p:pic>
      <p:pic>
        <p:nvPicPr>
          <p:cNvPr id="22" name="Picture 21">
            <a:extLst>
              <a:ext uri="{FF2B5EF4-FFF2-40B4-BE49-F238E27FC236}">
                <a16:creationId xmlns:a16="http://schemas.microsoft.com/office/drawing/2014/main" id="{11605C77-F6CE-A964-F979-94A6D2CC80F5}"/>
              </a:ext>
            </a:extLst>
          </p:cNvPr>
          <p:cNvPicPr>
            <a:picLocks noChangeAspect="1"/>
          </p:cNvPicPr>
          <p:nvPr/>
        </p:nvPicPr>
        <p:blipFill>
          <a:blip r:embed="rId7"/>
          <a:stretch>
            <a:fillRect/>
          </a:stretch>
        </p:blipFill>
        <p:spPr>
          <a:xfrm>
            <a:off x="6073773" y="2768193"/>
            <a:ext cx="2929659" cy="2015452"/>
          </a:xfrm>
          <a:prstGeom prst="rect">
            <a:avLst/>
          </a:prstGeom>
          <a:ln>
            <a:solidFill>
              <a:schemeClr val="tx1"/>
            </a:solidFill>
          </a:ln>
        </p:spPr>
      </p:pic>
      <p:pic>
        <p:nvPicPr>
          <p:cNvPr id="23" name="Picture 22">
            <a:extLst>
              <a:ext uri="{FF2B5EF4-FFF2-40B4-BE49-F238E27FC236}">
                <a16:creationId xmlns:a16="http://schemas.microsoft.com/office/drawing/2014/main" id="{EB3783BC-565D-2588-BF22-C67E3800E053}"/>
              </a:ext>
            </a:extLst>
          </p:cNvPr>
          <p:cNvPicPr>
            <a:picLocks noChangeAspect="1"/>
          </p:cNvPicPr>
          <p:nvPr/>
        </p:nvPicPr>
        <p:blipFill>
          <a:blip r:embed="rId8"/>
          <a:stretch>
            <a:fillRect/>
          </a:stretch>
        </p:blipFill>
        <p:spPr>
          <a:xfrm>
            <a:off x="140568" y="4838258"/>
            <a:ext cx="2898196" cy="746760"/>
          </a:xfrm>
          <a:prstGeom prst="rect">
            <a:avLst/>
          </a:prstGeom>
        </p:spPr>
      </p:pic>
      <p:pic>
        <p:nvPicPr>
          <p:cNvPr id="24" name="Picture 23">
            <a:extLst>
              <a:ext uri="{FF2B5EF4-FFF2-40B4-BE49-F238E27FC236}">
                <a16:creationId xmlns:a16="http://schemas.microsoft.com/office/drawing/2014/main" id="{AA519330-1115-1A3B-07F8-CC661204004C}"/>
              </a:ext>
            </a:extLst>
          </p:cNvPr>
          <p:cNvPicPr>
            <a:picLocks noChangeAspect="1"/>
          </p:cNvPicPr>
          <p:nvPr/>
        </p:nvPicPr>
        <p:blipFill>
          <a:blip r:embed="rId9"/>
          <a:stretch>
            <a:fillRect/>
          </a:stretch>
        </p:blipFill>
        <p:spPr>
          <a:xfrm>
            <a:off x="3109768" y="4838258"/>
            <a:ext cx="2893001" cy="746760"/>
          </a:xfrm>
          <a:prstGeom prst="rect">
            <a:avLst/>
          </a:prstGeom>
        </p:spPr>
      </p:pic>
      <p:pic>
        <p:nvPicPr>
          <p:cNvPr id="25" name="Picture 24">
            <a:extLst>
              <a:ext uri="{FF2B5EF4-FFF2-40B4-BE49-F238E27FC236}">
                <a16:creationId xmlns:a16="http://schemas.microsoft.com/office/drawing/2014/main" id="{138EE581-ACCD-BB68-97EF-8D84AF984014}"/>
              </a:ext>
            </a:extLst>
          </p:cNvPr>
          <p:cNvPicPr>
            <a:picLocks noChangeAspect="1"/>
          </p:cNvPicPr>
          <p:nvPr/>
        </p:nvPicPr>
        <p:blipFill>
          <a:blip r:embed="rId10"/>
          <a:stretch>
            <a:fillRect/>
          </a:stretch>
        </p:blipFill>
        <p:spPr>
          <a:xfrm>
            <a:off x="6073773" y="4838258"/>
            <a:ext cx="2929659" cy="746760"/>
          </a:xfrm>
          <a:prstGeom prst="rect">
            <a:avLst/>
          </a:prstGeom>
        </p:spPr>
      </p:pic>
      <p:sp>
        <p:nvSpPr>
          <p:cNvPr id="26" name="Rectangle 25">
            <a:extLst>
              <a:ext uri="{FF2B5EF4-FFF2-40B4-BE49-F238E27FC236}">
                <a16:creationId xmlns:a16="http://schemas.microsoft.com/office/drawing/2014/main" id="{24C07C88-B70A-969B-FB70-D3E7889D0426}"/>
              </a:ext>
            </a:extLst>
          </p:cNvPr>
          <p:cNvSpPr/>
          <p:nvPr/>
        </p:nvSpPr>
        <p:spPr>
          <a:xfrm>
            <a:off x="140568" y="5671127"/>
            <a:ext cx="8862864" cy="7221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sz="2000" dirty="0">
                <a:solidFill>
                  <a:schemeClr val="tx1"/>
                </a:solidFill>
              </a:rPr>
              <a:t>The difference in sliding force due to the upper rail can be a minimum of 11.2N and a maximum of 31.3N</a:t>
            </a:r>
          </a:p>
        </p:txBody>
      </p:sp>
      <p:sp>
        <p:nvSpPr>
          <p:cNvPr id="28" name="Rectangle 27">
            <a:extLst>
              <a:ext uri="{FF2B5EF4-FFF2-40B4-BE49-F238E27FC236}">
                <a16:creationId xmlns:a16="http://schemas.microsoft.com/office/drawing/2014/main" id="{88214D5D-D4A0-3799-7B7C-2997DF6A2E14}"/>
              </a:ext>
            </a:extLst>
          </p:cNvPr>
          <p:cNvSpPr/>
          <p:nvPr/>
        </p:nvSpPr>
        <p:spPr>
          <a:xfrm>
            <a:off x="2064619" y="93847"/>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FORCE COMPARISON IN SAME LOWER RAIL</a:t>
            </a:r>
          </a:p>
        </p:txBody>
      </p:sp>
    </p:spTree>
    <p:extLst>
      <p:ext uri="{BB962C8B-B14F-4D97-AF65-F5344CB8AC3E}">
        <p14:creationId xmlns:p14="http://schemas.microsoft.com/office/powerpoint/2010/main" val="4183421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F40F2-BCAF-B0D2-5570-D31D7549D3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970A26-F0EE-A413-E527-1B33960F23A6}"/>
              </a:ext>
            </a:extLst>
          </p:cNvPr>
          <p:cNvSpPr>
            <a:spLocks noGrp="1"/>
          </p:cNvSpPr>
          <p:nvPr>
            <p:ph type="sldNum" sz="quarter" idx="12"/>
          </p:nvPr>
        </p:nvSpPr>
        <p:spPr/>
        <p:txBody>
          <a:bodyPr/>
          <a:lstStyle/>
          <a:p>
            <a:fld id="{48F63A3B-78C7-47BE-AE5E-E10140E04643}" type="slidenum">
              <a:rPr lang="en-US" smtClean="0"/>
              <a:t>23</a:t>
            </a:fld>
            <a:endParaRPr lang="en-US" dirty="0"/>
          </a:p>
        </p:txBody>
      </p:sp>
      <p:sp>
        <p:nvSpPr>
          <p:cNvPr id="19" name="AutoShape 5">
            <a:extLst>
              <a:ext uri="{FF2B5EF4-FFF2-40B4-BE49-F238E27FC236}">
                <a16:creationId xmlns:a16="http://schemas.microsoft.com/office/drawing/2014/main" id="{FA3E1B40-B891-9D27-B24B-4D81F69CDB90}"/>
              </a:ext>
            </a:extLst>
          </p:cNvPr>
          <p:cNvSpPr>
            <a:spLocks noChangeArrowheads="1"/>
          </p:cNvSpPr>
          <p:nvPr/>
        </p:nvSpPr>
        <p:spPr bwMode="auto">
          <a:xfrm>
            <a:off x="73888" y="48859"/>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28" name="Rectangle 27">
            <a:extLst>
              <a:ext uri="{FF2B5EF4-FFF2-40B4-BE49-F238E27FC236}">
                <a16:creationId xmlns:a16="http://schemas.microsoft.com/office/drawing/2014/main" id="{5D7D4CCF-606D-69F3-91C3-B0769A5B328C}"/>
              </a:ext>
            </a:extLst>
          </p:cNvPr>
          <p:cNvSpPr/>
          <p:nvPr/>
        </p:nvSpPr>
        <p:spPr>
          <a:xfrm>
            <a:off x="2064619" y="84611"/>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DIM. COMPARISION OF YTA &amp; YY8 UPPER RAIL </a:t>
            </a:r>
          </a:p>
        </p:txBody>
      </p:sp>
      <p:pic>
        <p:nvPicPr>
          <p:cNvPr id="8" name="Picture 7">
            <a:extLst>
              <a:ext uri="{FF2B5EF4-FFF2-40B4-BE49-F238E27FC236}">
                <a16:creationId xmlns:a16="http://schemas.microsoft.com/office/drawing/2014/main" id="{21994CF1-9342-454A-7404-C9EDD1119D1E}"/>
              </a:ext>
            </a:extLst>
          </p:cNvPr>
          <p:cNvPicPr>
            <a:picLocks noChangeAspect="1"/>
          </p:cNvPicPr>
          <p:nvPr/>
        </p:nvPicPr>
        <p:blipFill>
          <a:blip r:embed="rId2"/>
          <a:stretch>
            <a:fillRect/>
          </a:stretch>
        </p:blipFill>
        <p:spPr>
          <a:xfrm>
            <a:off x="4572000" y="632690"/>
            <a:ext cx="4348306" cy="3036190"/>
          </a:xfrm>
          <a:prstGeom prst="rect">
            <a:avLst/>
          </a:prstGeom>
          <a:ln>
            <a:solidFill>
              <a:schemeClr val="tx1"/>
            </a:solidFill>
          </a:ln>
        </p:spPr>
      </p:pic>
      <p:sp>
        <p:nvSpPr>
          <p:cNvPr id="15" name="Rectangle 14">
            <a:extLst>
              <a:ext uri="{FF2B5EF4-FFF2-40B4-BE49-F238E27FC236}">
                <a16:creationId xmlns:a16="http://schemas.microsoft.com/office/drawing/2014/main" id="{2A418513-4655-FB4D-820E-7244B3A199C5}"/>
              </a:ext>
            </a:extLst>
          </p:cNvPr>
          <p:cNvSpPr/>
          <p:nvPr/>
        </p:nvSpPr>
        <p:spPr>
          <a:xfrm>
            <a:off x="140568" y="5312481"/>
            <a:ext cx="8779738" cy="10438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u="sng" dirty="0">
                <a:solidFill>
                  <a:schemeClr val="tx1"/>
                </a:solidFill>
              </a:rPr>
              <a:t>FINAL CONCLUSION</a:t>
            </a:r>
            <a:r>
              <a:rPr lang="en-US" sz="1600" b="1" dirty="0">
                <a:solidFill>
                  <a:schemeClr val="tx1"/>
                </a:solidFill>
              </a:rPr>
              <a:t>:- </a:t>
            </a:r>
            <a:r>
              <a:rPr lang="en-US" sz="1600" dirty="0">
                <a:solidFill>
                  <a:schemeClr val="tx1"/>
                </a:solidFill>
              </a:rPr>
              <a:t>B</a:t>
            </a:r>
            <a:r>
              <a:rPr lang="en-US" dirty="0">
                <a:solidFill>
                  <a:schemeClr val="tx1"/>
                </a:solidFill>
              </a:rPr>
              <a:t>oth parts mean is different, so there is a possibility of impact in sliding force.</a:t>
            </a:r>
            <a:endParaRPr lang="en-US" sz="1700" dirty="0">
              <a:solidFill>
                <a:schemeClr val="tx1"/>
              </a:solidFill>
            </a:endParaRPr>
          </a:p>
        </p:txBody>
      </p:sp>
      <p:sp>
        <p:nvSpPr>
          <p:cNvPr id="5" name="Rectangle 4">
            <a:extLst>
              <a:ext uri="{FF2B5EF4-FFF2-40B4-BE49-F238E27FC236}">
                <a16:creationId xmlns:a16="http://schemas.microsoft.com/office/drawing/2014/main" id="{582F113B-EF6B-3EA2-6E35-69C86E668C3D}"/>
              </a:ext>
            </a:extLst>
          </p:cNvPr>
          <p:cNvSpPr/>
          <p:nvPr/>
        </p:nvSpPr>
        <p:spPr>
          <a:xfrm>
            <a:off x="4572000" y="3777636"/>
            <a:ext cx="4348306" cy="14260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YTA and YY8 have similar mean values, both within the expected range.</a:t>
            </a:r>
          </a:p>
          <a:p>
            <a:pPr marL="285750" indent="-285750">
              <a:buFont typeface="Arial" panose="020B0604020202020204" pitchFamily="34" charset="0"/>
              <a:buChar char="•"/>
            </a:pPr>
            <a:r>
              <a:rPr lang="en-US" sz="1400" dirty="0">
                <a:solidFill>
                  <a:schemeClr val="tx1"/>
                </a:solidFill>
              </a:rPr>
              <a:t>YTA appears slightly more aligned with the target value.</a:t>
            </a:r>
          </a:p>
        </p:txBody>
      </p:sp>
      <p:sp>
        <p:nvSpPr>
          <p:cNvPr id="6" name="Rectangle 5">
            <a:extLst>
              <a:ext uri="{FF2B5EF4-FFF2-40B4-BE49-F238E27FC236}">
                <a16:creationId xmlns:a16="http://schemas.microsoft.com/office/drawing/2014/main" id="{65A3615C-3916-A579-989E-944B3A0CBDA9}"/>
              </a:ext>
            </a:extLst>
          </p:cNvPr>
          <p:cNvSpPr/>
          <p:nvPr/>
        </p:nvSpPr>
        <p:spPr>
          <a:xfrm>
            <a:off x="140567" y="3777636"/>
            <a:ext cx="4348306" cy="14260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YTA has a mean of ~20.99, close to the lower bound of the target range.</a:t>
            </a:r>
          </a:p>
          <a:p>
            <a:pPr marL="285750" indent="-285750">
              <a:buFont typeface="Arial" panose="020B0604020202020204" pitchFamily="34" charset="0"/>
              <a:buChar char="•"/>
            </a:pPr>
            <a:r>
              <a:rPr lang="en-US" sz="1400" dirty="0">
                <a:solidFill>
                  <a:schemeClr val="tx1"/>
                </a:solidFill>
              </a:rPr>
              <a:t>YY8 has a lower mean (~20.91), near the edge of the acceptable range.</a:t>
            </a:r>
          </a:p>
        </p:txBody>
      </p:sp>
      <p:pic>
        <p:nvPicPr>
          <p:cNvPr id="7" name="Picture 6">
            <a:extLst>
              <a:ext uri="{FF2B5EF4-FFF2-40B4-BE49-F238E27FC236}">
                <a16:creationId xmlns:a16="http://schemas.microsoft.com/office/drawing/2014/main" id="{C2BEB3A8-C87F-0D54-2CA2-4AE596ADD517}"/>
              </a:ext>
            </a:extLst>
          </p:cNvPr>
          <p:cNvPicPr>
            <a:picLocks noChangeAspect="1"/>
          </p:cNvPicPr>
          <p:nvPr/>
        </p:nvPicPr>
        <p:blipFill>
          <a:blip r:embed="rId3"/>
          <a:stretch>
            <a:fillRect/>
          </a:stretch>
        </p:blipFill>
        <p:spPr>
          <a:xfrm>
            <a:off x="140568" y="632690"/>
            <a:ext cx="4348305" cy="3036190"/>
          </a:xfrm>
          <a:prstGeom prst="rect">
            <a:avLst/>
          </a:prstGeom>
          <a:ln>
            <a:solidFill>
              <a:schemeClr val="tx1"/>
            </a:solidFill>
          </a:ln>
        </p:spPr>
      </p:pic>
    </p:spTree>
    <p:extLst>
      <p:ext uri="{BB962C8B-B14F-4D97-AF65-F5344CB8AC3E}">
        <p14:creationId xmlns:p14="http://schemas.microsoft.com/office/powerpoint/2010/main" val="820530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BA66C-C706-584B-34A9-5236414609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5058CC-254A-8E67-A280-843D283423ED}"/>
              </a:ext>
            </a:extLst>
          </p:cNvPr>
          <p:cNvSpPr>
            <a:spLocks noGrp="1"/>
          </p:cNvSpPr>
          <p:nvPr>
            <p:ph type="sldNum" sz="quarter" idx="12"/>
          </p:nvPr>
        </p:nvSpPr>
        <p:spPr/>
        <p:txBody>
          <a:bodyPr/>
          <a:lstStyle/>
          <a:p>
            <a:fld id="{48F63A3B-78C7-47BE-AE5E-E10140E04643}" type="slidenum">
              <a:rPr lang="en-US" smtClean="0"/>
              <a:t>24</a:t>
            </a:fld>
            <a:endParaRPr lang="en-US" dirty="0"/>
          </a:p>
        </p:txBody>
      </p:sp>
      <p:sp>
        <p:nvSpPr>
          <p:cNvPr id="19" name="AutoShape 5">
            <a:extLst>
              <a:ext uri="{FF2B5EF4-FFF2-40B4-BE49-F238E27FC236}">
                <a16:creationId xmlns:a16="http://schemas.microsoft.com/office/drawing/2014/main" id="{F64311CD-2A46-7B92-87C5-8F46037D92EF}"/>
              </a:ext>
            </a:extLst>
          </p:cNvPr>
          <p:cNvSpPr>
            <a:spLocks noChangeArrowheads="1"/>
          </p:cNvSpPr>
          <p:nvPr/>
        </p:nvSpPr>
        <p:spPr bwMode="auto">
          <a:xfrm>
            <a:off x="73888" y="48859"/>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28" name="Rectangle 27">
            <a:extLst>
              <a:ext uri="{FF2B5EF4-FFF2-40B4-BE49-F238E27FC236}">
                <a16:creationId xmlns:a16="http://schemas.microsoft.com/office/drawing/2014/main" id="{1E95D9EE-1E4A-0A43-AE36-BD2749ED78EA}"/>
              </a:ext>
            </a:extLst>
          </p:cNvPr>
          <p:cNvSpPr/>
          <p:nvPr/>
        </p:nvSpPr>
        <p:spPr>
          <a:xfrm>
            <a:off x="2064619" y="84611"/>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DIM. COMPARISION OF YTA &amp; YY8 UPPER RAIL </a:t>
            </a:r>
          </a:p>
        </p:txBody>
      </p:sp>
      <p:sp>
        <p:nvSpPr>
          <p:cNvPr id="15" name="Rectangle 14">
            <a:extLst>
              <a:ext uri="{FF2B5EF4-FFF2-40B4-BE49-F238E27FC236}">
                <a16:creationId xmlns:a16="http://schemas.microsoft.com/office/drawing/2014/main" id="{DFC7C297-C4B6-3FF5-D79A-99415E13AA0E}"/>
              </a:ext>
            </a:extLst>
          </p:cNvPr>
          <p:cNvSpPr/>
          <p:nvPr/>
        </p:nvSpPr>
        <p:spPr>
          <a:xfrm>
            <a:off x="140568" y="5312481"/>
            <a:ext cx="8779738" cy="10438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u="sng" dirty="0">
                <a:solidFill>
                  <a:schemeClr val="tx1"/>
                </a:solidFill>
              </a:rPr>
              <a:t>FINAL CONCLUSION</a:t>
            </a:r>
            <a:r>
              <a:rPr lang="en-US" sz="1600" b="1" dirty="0">
                <a:solidFill>
                  <a:schemeClr val="tx1"/>
                </a:solidFill>
              </a:rPr>
              <a:t>:-</a:t>
            </a:r>
            <a:r>
              <a:rPr lang="en-US" dirty="0">
                <a:solidFill>
                  <a:schemeClr val="tx1"/>
                </a:solidFill>
              </a:rPr>
              <a:t>YTA values are closer to the target and more consistent than YY8, so there is a possibility of impact in sliding force. </a:t>
            </a:r>
            <a:endParaRPr lang="en-US" sz="1700" dirty="0">
              <a:solidFill>
                <a:schemeClr val="tx1"/>
              </a:solidFill>
            </a:endParaRPr>
          </a:p>
        </p:txBody>
      </p:sp>
      <p:sp>
        <p:nvSpPr>
          <p:cNvPr id="3" name="Rectangle 2">
            <a:extLst>
              <a:ext uri="{FF2B5EF4-FFF2-40B4-BE49-F238E27FC236}">
                <a16:creationId xmlns:a16="http://schemas.microsoft.com/office/drawing/2014/main" id="{4A5552D8-EAE2-BBDF-958F-B01F2F37A3D0}"/>
              </a:ext>
            </a:extLst>
          </p:cNvPr>
          <p:cNvSpPr/>
          <p:nvPr/>
        </p:nvSpPr>
        <p:spPr>
          <a:xfrm>
            <a:off x="140567" y="3850639"/>
            <a:ext cx="4348306" cy="14260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300" dirty="0">
                <a:solidFill>
                  <a:schemeClr val="tx1"/>
                </a:solidFill>
              </a:rPr>
              <a:t>YTA has a higher median (~21.00) and is more centered around the target value.</a:t>
            </a:r>
          </a:p>
          <a:p>
            <a:pPr marL="285750" indent="-285750">
              <a:buFont typeface="Arial" panose="020B0604020202020204" pitchFamily="34" charset="0"/>
              <a:buChar char="•"/>
            </a:pPr>
            <a:r>
              <a:rPr lang="en-US" sz="1300" dirty="0">
                <a:solidFill>
                  <a:schemeClr val="tx1"/>
                </a:solidFill>
              </a:rPr>
              <a:t>YY8 has a lower median (~20.90) and greater variability.</a:t>
            </a:r>
          </a:p>
          <a:p>
            <a:pPr marL="285750" indent="-285750">
              <a:buFont typeface="Arial" panose="020B0604020202020204" pitchFamily="34" charset="0"/>
              <a:buChar char="•"/>
            </a:pPr>
            <a:r>
              <a:rPr lang="en-US" sz="1300" dirty="0">
                <a:solidFill>
                  <a:schemeClr val="tx1"/>
                </a:solidFill>
              </a:rPr>
              <a:t>YTA demonstrates better consistency and alignment with the target range.</a:t>
            </a:r>
          </a:p>
        </p:txBody>
      </p:sp>
      <p:pic>
        <p:nvPicPr>
          <p:cNvPr id="4" name="Picture 3">
            <a:extLst>
              <a:ext uri="{FF2B5EF4-FFF2-40B4-BE49-F238E27FC236}">
                <a16:creationId xmlns:a16="http://schemas.microsoft.com/office/drawing/2014/main" id="{DF53425A-6D32-D526-FC7D-29B9710AE86F}"/>
              </a:ext>
            </a:extLst>
          </p:cNvPr>
          <p:cNvPicPr>
            <a:picLocks noChangeAspect="1"/>
          </p:cNvPicPr>
          <p:nvPr/>
        </p:nvPicPr>
        <p:blipFill>
          <a:blip r:embed="rId2"/>
          <a:stretch>
            <a:fillRect/>
          </a:stretch>
        </p:blipFill>
        <p:spPr>
          <a:xfrm>
            <a:off x="140568" y="685867"/>
            <a:ext cx="4348305" cy="3053013"/>
          </a:xfrm>
          <a:prstGeom prst="rect">
            <a:avLst/>
          </a:prstGeom>
          <a:ln>
            <a:solidFill>
              <a:schemeClr val="tx1"/>
            </a:solidFill>
          </a:ln>
        </p:spPr>
      </p:pic>
      <p:pic>
        <p:nvPicPr>
          <p:cNvPr id="7" name="Picture 6">
            <a:extLst>
              <a:ext uri="{FF2B5EF4-FFF2-40B4-BE49-F238E27FC236}">
                <a16:creationId xmlns:a16="http://schemas.microsoft.com/office/drawing/2014/main" id="{ACF1134D-BF5A-66A8-16A1-58D5D2DB6E5D}"/>
              </a:ext>
            </a:extLst>
          </p:cNvPr>
          <p:cNvPicPr>
            <a:picLocks noChangeAspect="1"/>
          </p:cNvPicPr>
          <p:nvPr/>
        </p:nvPicPr>
        <p:blipFill>
          <a:blip r:embed="rId3"/>
          <a:stretch>
            <a:fillRect/>
          </a:stretch>
        </p:blipFill>
        <p:spPr>
          <a:xfrm>
            <a:off x="4572000" y="685867"/>
            <a:ext cx="4348306" cy="3053013"/>
          </a:xfrm>
          <a:prstGeom prst="rect">
            <a:avLst/>
          </a:prstGeom>
          <a:ln>
            <a:solidFill>
              <a:schemeClr val="tx1"/>
            </a:solidFill>
          </a:ln>
        </p:spPr>
      </p:pic>
      <p:sp>
        <p:nvSpPr>
          <p:cNvPr id="9" name="Rectangle 8">
            <a:extLst>
              <a:ext uri="{FF2B5EF4-FFF2-40B4-BE49-F238E27FC236}">
                <a16:creationId xmlns:a16="http://schemas.microsoft.com/office/drawing/2014/main" id="{8E9B9C71-FE74-D6D9-EC54-AB4CFA959D92}"/>
              </a:ext>
            </a:extLst>
          </p:cNvPr>
          <p:cNvSpPr/>
          <p:nvPr/>
        </p:nvSpPr>
        <p:spPr>
          <a:xfrm>
            <a:off x="4572000" y="3846247"/>
            <a:ext cx="4348306" cy="14260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300" dirty="0">
                <a:solidFill>
                  <a:schemeClr val="tx1"/>
                </a:solidFill>
              </a:rPr>
              <a:t>YTA and YY8 have similar medians (~19.45).</a:t>
            </a:r>
          </a:p>
          <a:p>
            <a:pPr marL="171450" indent="-171450">
              <a:buFont typeface="Arial" panose="020B0604020202020204" pitchFamily="34" charset="0"/>
              <a:buChar char="•"/>
            </a:pPr>
            <a:r>
              <a:rPr lang="en-US" sz="1300" dirty="0">
                <a:solidFill>
                  <a:schemeClr val="tx1"/>
                </a:solidFill>
              </a:rPr>
              <a:t>YTA shows slightly more variability with a wider interquartile range and a lower outlier (~19.30).</a:t>
            </a:r>
          </a:p>
          <a:p>
            <a:pPr marL="171450" indent="-171450">
              <a:buFont typeface="Arial" panose="020B0604020202020204" pitchFamily="34" charset="0"/>
              <a:buChar char="•"/>
            </a:pPr>
            <a:r>
              <a:rPr lang="en-US" sz="1300" dirty="0">
                <a:solidFill>
                  <a:schemeClr val="tx1"/>
                </a:solidFill>
              </a:rPr>
              <a:t>YY8 has a tighter spread but includes a high outlier (~19.54).</a:t>
            </a:r>
          </a:p>
          <a:p>
            <a:pPr marL="171450" indent="-171450">
              <a:buFont typeface="Arial" panose="020B0604020202020204" pitchFamily="34" charset="0"/>
              <a:buChar char="•"/>
            </a:pPr>
            <a:r>
              <a:rPr lang="en-US" sz="1300" dirty="0">
                <a:solidFill>
                  <a:schemeClr val="tx1"/>
                </a:solidFill>
              </a:rPr>
              <a:t>Both datasets are within the expected range, but YTA shows more dispersion.</a:t>
            </a:r>
          </a:p>
        </p:txBody>
      </p:sp>
    </p:spTree>
    <p:extLst>
      <p:ext uri="{BB962C8B-B14F-4D97-AF65-F5344CB8AC3E}">
        <p14:creationId xmlns:p14="http://schemas.microsoft.com/office/powerpoint/2010/main" val="1585073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DF8A-E4ED-2573-03FC-20E3CEAD88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AF01A5-5B6E-F0DE-8155-D3F4AEBB1952}"/>
              </a:ext>
            </a:extLst>
          </p:cNvPr>
          <p:cNvSpPr>
            <a:spLocks noGrp="1"/>
          </p:cNvSpPr>
          <p:nvPr>
            <p:ph type="sldNum" sz="quarter" idx="12"/>
          </p:nvPr>
        </p:nvSpPr>
        <p:spPr/>
        <p:txBody>
          <a:bodyPr/>
          <a:lstStyle/>
          <a:p>
            <a:fld id="{48F63A3B-78C7-47BE-AE5E-E10140E04643}" type="slidenum">
              <a:rPr lang="en-US" smtClean="0"/>
              <a:t>25</a:t>
            </a:fld>
            <a:endParaRPr lang="en-US" dirty="0"/>
          </a:p>
        </p:txBody>
      </p:sp>
      <p:sp>
        <p:nvSpPr>
          <p:cNvPr id="19" name="AutoShape 5">
            <a:extLst>
              <a:ext uri="{FF2B5EF4-FFF2-40B4-BE49-F238E27FC236}">
                <a16:creationId xmlns:a16="http://schemas.microsoft.com/office/drawing/2014/main" id="{E3142197-3E57-2E5E-8E66-3B37A7C42EED}"/>
              </a:ext>
            </a:extLst>
          </p:cNvPr>
          <p:cNvSpPr>
            <a:spLocks noChangeArrowheads="1"/>
          </p:cNvSpPr>
          <p:nvPr/>
        </p:nvSpPr>
        <p:spPr bwMode="auto">
          <a:xfrm>
            <a:off x="0" y="39623"/>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26" name="Rectangle 25">
            <a:extLst>
              <a:ext uri="{FF2B5EF4-FFF2-40B4-BE49-F238E27FC236}">
                <a16:creationId xmlns:a16="http://schemas.microsoft.com/office/drawing/2014/main" id="{1CE0F021-D4EB-59C4-EB12-F58BB7BB6BE0}"/>
              </a:ext>
            </a:extLst>
          </p:cNvPr>
          <p:cNvSpPr/>
          <p:nvPr/>
        </p:nvSpPr>
        <p:spPr>
          <a:xfrm>
            <a:off x="140568" y="5388301"/>
            <a:ext cx="8862864" cy="968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sz="2000" dirty="0">
                <a:solidFill>
                  <a:schemeClr val="tx1"/>
                </a:solidFill>
              </a:rPr>
              <a:t>No any relation found between upper rail Dim. and sliding force. So that this dimensions is not our significant cause.</a:t>
            </a:r>
          </a:p>
        </p:txBody>
      </p:sp>
      <p:sp>
        <p:nvSpPr>
          <p:cNvPr id="28" name="Rectangle 27">
            <a:extLst>
              <a:ext uri="{FF2B5EF4-FFF2-40B4-BE49-F238E27FC236}">
                <a16:creationId xmlns:a16="http://schemas.microsoft.com/office/drawing/2014/main" id="{CBB4D220-1B77-096C-9C2C-A9D11EA94AFB}"/>
              </a:ext>
            </a:extLst>
          </p:cNvPr>
          <p:cNvSpPr/>
          <p:nvPr/>
        </p:nvSpPr>
        <p:spPr>
          <a:xfrm>
            <a:off x="2064619" y="93847"/>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RELATION BETWEEN UPPER RAIL DIM. &amp; FORCE</a:t>
            </a:r>
          </a:p>
        </p:txBody>
      </p:sp>
      <p:pic>
        <p:nvPicPr>
          <p:cNvPr id="6" name="Picture 5">
            <a:extLst>
              <a:ext uri="{FF2B5EF4-FFF2-40B4-BE49-F238E27FC236}">
                <a16:creationId xmlns:a16="http://schemas.microsoft.com/office/drawing/2014/main" id="{4781DA3A-0827-A103-0317-66F07C5A1EBC}"/>
              </a:ext>
            </a:extLst>
          </p:cNvPr>
          <p:cNvPicPr>
            <a:picLocks noChangeAspect="1"/>
          </p:cNvPicPr>
          <p:nvPr/>
        </p:nvPicPr>
        <p:blipFill>
          <a:blip r:embed="rId2"/>
          <a:stretch>
            <a:fillRect/>
          </a:stretch>
        </p:blipFill>
        <p:spPr>
          <a:xfrm>
            <a:off x="119227" y="640811"/>
            <a:ext cx="4362447" cy="2267527"/>
          </a:xfrm>
          <a:prstGeom prst="rect">
            <a:avLst/>
          </a:prstGeom>
          <a:ln>
            <a:solidFill>
              <a:schemeClr val="tx1"/>
            </a:solidFill>
          </a:ln>
        </p:spPr>
      </p:pic>
      <p:pic>
        <p:nvPicPr>
          <p:cNvPr id="8" name="Picture 7">
            <a:extLst>
              <a:ext uri="{FF2B5EF4-FFF2-40B4-BE49-F238E27FC236}">
                <a16:creationId xmlns:a16="http://schemas.microsoft.com/office/drawing/2014/main" id="{81ABA541-7745-337F-2C0A-3E05179F0B60}"/>
              </a:ext>
            </a:extLst>
          </p:cNvPr>
          <p:cNvPicPr>
            <a:picLocks noChangeAspect="1"/>
          </p:cNvPicPr>
          <p:nvPr/>
        </p:nvPicPr>
        <p:blipFill>
          <a:blip r:embed="rId3"/>
          <a:stretch>
            <a:fillRect/>
          </a:stretch>
        </p:blipFill>
        <p:spPr>
          <a:xfrm>
            <a:off x="133369" y="3005320"/>
            <a:ext cx="4348305" cy="2267527"/>
          </a:xfrm>
          <a:prstGeom prst="rect">
            <a:avLst/>
          </a:prstGeom>
          <a:ln>
            <a:solidFill>
              <a:schemeClr val="tx1"/>
            </a:solidFill>
          </a:ln>
        </p:spPr>
      </p:pic>
      <p:pic>
        <p:nvPicPr>
          <p:cNvPr id="14" name="Picture 13">
            <a:extLst>
              <a:ext uri="{FF2B5EF4-FFF2-40B4-BE49-F238E27FC236}">
                <a16:creationId xmlns:a16="http://schemas.microsoft.com/office/drawing/2014/main" id="{6752BB46-1479-F3A7-D56F-1FEEA60D9C5D}"/>
              </a:ext>
            </a:extLst>
          </p:cNvPr>
          <p:cNvPicPr>
            <a:picLocks noChangeAspect="1"/>
          </p:cNvPicPr>
          <p:nvPr/>
        </p:nvPicPr>
        <p:blipFill>
          <a:blip r:embed="rId4"/>
          <a:stretch>
            <a:fillRect/>
          </a:stretch>
        </p:blipFill>
        <p:spPr>
          <a:xfrm>
            <a:off x="4648184" y="3015672"/>
            <a:ext cx="4362447" cy="2257175"/>
          </a:xfrm>
          <a:prstGeom prst="rect">
            <a:avLst/>
          </a:prstGeom>
          <a:ln>
            <a:solidFill>
              <a:schemeClr val="tx1"/>
            </a:solidFill>
          </a:ln>
        </p:spPr>
      </p:pic>
      <p:pic>
        <p:nvPicPr>
          <p:cNvPr id="16" name="Picture 15">
            <a:extLst>
              <a:ext uri="{FF2B5EF4-FFF2-40B4-BE49-F238E27FC236}">
                <a16:creationId xmlns:a16="http://schemas.microsoft.com/office/drawing/2014/main" id="{BF31F0E5-11E8-3E35-B22A-DD84DAF06F83}"/>
              </a:ext>
            </a:extLst>
          </p:cNvPr>
          <p:cNvPicPr>
            <a:picLocks noChangeAspect="1"/>
          </p:cNvPicPr>
          <p:nvPr/>
        </p:nvPicPr>
        <p:blipFill>
          <a:blip r:embed="rId5"/>
          <a:stretch>
            <a:fillRect/>
          </a:stretch>
        </p:blipFill>
        <p:spPr>
          <a:xfrm>
            <a:off x="4648184" y="659285"/>
            <a:ext cx="4348306" cy="2267527"/>
          </a:xfrm>
          <a:prstGeom prst="rect">
            <a:avLst/>
          </a:prstGeom>
          <a:ln>
            <a:solidFill>
              <a:schemeClr val="tx1"/>
            </a:solidFill>
          </a:ln>
        </p:spPr>
      </p:pic>
    </p:spTree>
    <p:extLst>
      <p:ext uri="{BB962C8B-B14F-4D97-AF65-F5344CB8AC3E}">
        <p14:creationId xmlns:p14="http://schemas.microsoft.com/office/powerpoint/2010/main" val="1984152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E2208-225D-3A8B-9B3C-B5F75C3F380D}"/>
            </a:ext>
          </a:extLst>
        </p:cNvPr>
        <p:cNvGrpSpPr/>
        <p:nvPr/>
      </p:nvGrpSpPr>
      <p:grpSpPr>
        <a:xfrm>
          <a:off x="0" y="0"/>
          <a:ext cx="0" cy="0"/>
          <a:chOff x="0" y="0"/>
          <a:chExt cx="0" cy="0"/>
        </a:xfrm>
      </p:grpSpPr>
      <p:pic>
        <p:nvPicPr>
          <p:cNvPr id="6" name="Picture 5" descr="Interaction Plot for 4">
            <a:extLst>
              <a:ext uri="{FF2B5EF4-FFF2-40B4-BE49-F238E27FC236}">
                <a16:creationId xmlns:a16="http://schemas.microsoft.com/office/drawing/2014/main" id="{144F10B1-2909-C5C1-5A3B-F50850282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9023" y="3008665"/>
            <a:ext cx="4341487" cy="22675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CF7CEC3-F5D1-F7CA-2E2F-8AEE4CC6A14F}"/>
              </a:ext>
            </a:extLst>
          </p:cNvPr>
          <p:cNvSpPr>
            <a:spLocks noGrp="1"/>
          </p:cNvSpPr>
          <p:nvPr>
            <p:ph type="sldNum" sz="quarter" idx="12"/>
          </p:nvPr>
        </p:nvSpPr>
        <p:spPr/>
        <p:txBody>
          <a:bodyPr/>
          <a:lstStyle/>
          <a:p>
            <a:fld id="{48F63A3B-78C7-47BE-AE5E-E10140E04643}" type="slidenum">
              <a:rPr lang="en-US" smtClean="0"/>
              <a:t>26</a:t>
            </a:fld>
            <a:endParaRPr lang="en-US" dirty="0"/>
          </a:p>
        </p:txBody>
      </p:sp>
      <p:pic>
        <p:nvPicPr>
          <p:cNvPr id="3" name="Picture 2" descr="Interaction Plot for 1">
            <a:extLst>
              <a:ext uri="{FF2B5EF4-FFF2-40B4-BE49-F238E27FC236}">
                <a16:creationId xmlns:a16="http://schemas.microsoft.com/office/drawing/2014/main" id="{A0611C8F-9E4C-B4F9-AA87-B52C9F38E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67" y="632691"/>
            <a:ext cx="4341487" cy="22675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 name="Picture 3" descr="Interaction Plot for 2">
            <a:extLst>
              <a:ext uri="{FF2B5EF4-FFF2-40B4-BE49-F238E27FC236}">
                <a16:creationId xmlns:a16="http://schemas.microsoft.com/office/drawing/2014/main" id="{53AFDD03-D51A-208C-EC0F-D41A11233D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9023" y="632691"/>
            <a:ext cx="4341487" cy="22675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4" descr="Interaction Plot for 3">
            <a:extLst>
              <a:ext uri="{FF2B5EF4-FFF2-40B4-BE49-F238E27FC236}">
                <a16:creationId xmlns:a16="http://schemas.microsoft.com/office/drawing/2014/main" id="{F58D0C62-E3C0-6186-E1D3-D9F999138D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567" y="2999431"/>
            <a:ext cx="4341487" cy="22675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AutoShape 5">
            <a:extLst>
              <a:ext uri="{FF2B5EF4-FFF2-40B4-BE49-F238E27FC236}">
                <a16:creationId xmlns:a16="http://schemas.microsoft.com/office/drawing/2014/main" id="{E6869D92-A2F1-6F88-7AB9-E543BD81130E}"/>
              </a:ext>
            </a:extLst>
          </p:cNvPr>
          <p:cNvSpPr>
            <a:spLocks noChangeArrowheads="1"/>
          </p:cNvSpPr>
          <p:nvPr/>
        </p:nvSpPr>
        <p:spPr bwMode="auto">
          <a:xfrm>
            <a:off x="73888" y="48859"/>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8" name="Rectangle 7">
            <a:extLst>
              <a:ext uri="{FF2B5EF4-FFF2-40B4-BE49-F238E27FC236}">
                <a16:creationId xmlns:a16="http://schemas.microsoft.com/office/drawing/2014/main" id="{778B1FF9-8D03-A783-CD7B-7739FFEE021A}"/>
              </a:ext>
            </a:extLst>
          </p:cNvPr>
          <p:cNvSpPr/>
          <p:nvPr/>
        </p:nvSpPr>
        <p:spPr>
          <a:xfrm>
            <a:off x="2064619" y="84611"/>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RAIL PROFILE COMPARISION OF YTA &amp; YY8 UPPER RAIL </a:t>
            </a:r>
          </a:p>
        </p:txBody>
      </p:sp>
      <p:sp>
        <p:nvSpPr>
          <p:cNvPr id="10" name="Rectangle 9">
            <a:extLst>
              <a:ext uri="{FF2B5EF4-FFF2-40B4-BE49-F238E27FC236}">
                <a16:creationId xmlns:a16="http://schemas.microsoft.com/office/drawing/2014/main" id="{EFB9778D-62F4-D56D-49AE-B4F18A9A7B26}"/>
              </a:ext>
            </a:extLst>
          </p:cNvPr>
          <p:cNvSpPr/>
          <p:nvPr/>
        </p:nvSpPr>
        <p:spPr>
          <a:xfrm>
            <a:off x="140568" y="5384639"/>
            <a:ext cx="8862864" cy="10438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sz="2000" dirty="0">
                <a:solidFill>
                  <a:schemeClr val="tx1"/>
                </a:solidFill>
              </a:rPr>
              <a:t>Both model ( YTA &amp; YY8 ) profile is different so there is a possibility of impact in sliding force.</a:t>
            </a:r>
            <a:r>
              <a:rPr lang="en-US" sz="2000" b="1" dirty="0">
                <a:solidFill>
                  <a:schemeClr val="tx1"/>
                </a:solidFill>
              </a:rPr>
              <a:t>    </a:t>
            </a:r>
            <a:endParaRPr lang="en-US" sz="2000" dirty="0">
              <a:solidFill>
                <a:schemeClr val="tx1"/>
              </a:solidFill>
            </a:endParaRPr>
          </a:p>
        </p:txBody>
      </p:sp>
    </p:spTree>
    <p:extLst>
      <p:ext uri="{BB962C8B-B14F-4D97-AF65-F5344CB8AC3E}">
        <p14:creationId xmlns:p14="http://schemas.microsoft.com/office/powerpoint/2010/main" val="2732757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80A5-729E-E1DD-60C3-1B49690C2B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B187CF-F7D1-424D-4007-E4FABF566307}"/>
              </a:ext>
            </a:extLst>
          </p:cNvPr>
          <p:cNvSpPr>
            <a:spLocks noGrp="1"/>
          </p:cNvSpPr>
          <p:nvPr>
            <p:ph type="sldNum" sz="quarter" idx="12"/>
          </p:nvPr>
        </p:nvSpPr>
        <p:spPr/>
        <p:txBody>
          <a:bodyPr/>
          <a:lstStyle/>
          <a:p>
            <a:fld id="{48F63A3B-78C7-47BE-AE5E-E10140E04643}" type="slidenum">
              <a:rPr lang="en-US" smtClean="0"/>
              <a:t>27</a:t>
            </a:fld>
            <a:endParaRPr lang="en-US" dirty="0"/>
          </a:p>
        </p:txBody>
      </p:sp>
      <p:sp>
        <p:nvSpPr>
          <p:cNvPr id="7" name="AutoShape 5">
            <a:extLst>
              <a:ext uri="{FF2B5EF4-FFF2-40B4-BE49-F238E27FC236}">
                <a16:creationId xmlns:a16="http://schemas.microsoft.com/office/drawing/2014/main" id="{3AD5E811-123E-7090-9BAB-CAA1A90B6A9B}"/>
              </a:ext>
            </a:extLst>
          </p:cNvPr>
          <p:cNvSpPr>
            <a:spLocks noChangeArrowheads="1"/>
          </p:cNvSpPr>
          <p:nvPr/>
        </p:nvSpPr>
        <p:spPr bwMode="auto">
          <a:xfrm>
            <a:off x="73888" y="48859"/>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8" name="Rectangle 7">
            <a:extLst>
              <a:ext uri="{FF2B5EF4-FFF2-40B4-BE49-F238E27FC236}">
                <a16:creationId xmlns:a16="http://schemas.microsoft.com/office/drawing/2014/main" id="{B2A6C0EC-F55A-523E-9C5A-2A67B9F03D18}"/>
              </a:ext>
            </a:extLst>
          </p:cNvPr>
          <p:cNvSpPr/>
          <p:nvPr/>
        </p:nvSpPr>
        <p:spPr>
          <a:xfrm>
            <a:off x="2064618" y="84611"/>
            <a:ext cx="6938813"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RADIUS(5.4) &amp; RADIUS(3.4) COMPARISION OF YTA &amp; YY8 UPPER RAIL </a:t>
            </a:r>
          </a:p>
        </p:txBody>
      </p:sp>
      <p:pic>
        <p:nvPicPr>
          <p:cNvPr id="3073" name="Picture 1" descr="Interaction Plot for 5.4 RADIUS">
            <a:extLst>
              <a:ext uri="{FF2B5EF4-FFF2-40B4-BE49-F238E27FC236}">
                <a16:creationId xmlns:a16="http://schemas.microsoft.com/office/drawing/2014/main" id="{599F8E84-1E30-2E2D-5F2A-F6254444A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37" y="782661"/>
            <a:ext cx="4228809" cy="264633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4" name="Picture 2" descr="Interaction Plot for 3.4 RADIUS">
            <a:extLst>
              <a:ext uri="{FF2B5EF4-FFF2-40B4-BE49-F238E27FC236}">
                <a16:creationId xmlns:a16="http://schemas.microsoft.com/office/drawing/2014/main" id="{BADF3B60-8448-6E82-2930-515B7FCC3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782661"/>
            <a:ext cx="4431432" cy="264633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E0AAE79-8DE4-1441-2024-C2AD7A2CE18F}"/>
              </a:ext>
            </a:extLst>
          </p:cNvPr>
          <p:cNvSpPr/>
          <p:nvPr/>
        </p:nvSpPr>
        <p:spPr>
          <a:xfrm>
            <a:off x="140568" y="3854913"/>
            <a:ext cx="8862864" cy="10438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sz="2000" dirty="0">
                <a:solidFill>
                  <a:schemeClr val="tx1"/>
                </a:solidFill>
              </a:rPr>
              <a:t>Both model ( YTA &amp; YY8 ) radius  is different so there is a possibility of impact in sliding force.</a:t>
            </a:r>
            <a:r>
              <a:rPr lang="en-US" sz="2000" b="1" dirty="0">
                <a:solidFill>
                  <a:schemeClr val="tx1"/>
                </a:solidFill>
              </a:rPr>
              <a:t>    </a:t>
            </a:r>
            <a:endParaRPr lang="en-US" sz="2000" dirty="0">
              <a:solidFill>
                <a:schemeClr val="tx1"/>
              </a:solidFill>
            </a:endParaRPr>
          </a:p>
        </p:txBody>
      </p:sp>
    </p:spTree>
    <p:extLst>
      <p:ext uri="{BB962C8B-B14F-4D97-AF65-F5344CB8AC3E}">
        <p14:creationId xmlns:p14="http://schemas.microsoft.com/office/powerpoint/2010/main" val="3927206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EFFCD-0E03-8AB6-CDD5-DAFCDDFDA7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386A1B-F7EE-360E-9EB9-4DDD6205D903}"/>
              </a:ext>
            </a:extLst>
          </p:cNvPr>
          <p:cNvSpPr>
            <a:spLocks noGrp="1"/>
          </p:cNvSpPr>
          <p:nvPr>
            <p:ph type="sldNum" sz="quarter" idx="12"/>
          </p:nvPr>
        </p:nvSpPr>
        <p:spPr/>
        <p:txBody>
          <a:bodyPr/>
          <a:lstStyle/>
          <a:p>
            <a:fld id="{48F63A3B-78C7-47BE-AE5E-E10140E04643}" type="slidenum">
              <a:rPr lang="en-US" smtClean="0"/>
              <a:t>28</a:t>
            </a:fld>
            <a:endParaRPr lang="en-US" dirty="0"/>
          </a:p>
        </p:txBody>
      </p:sp>
      <p:sp>
        <p:nvSpPr>
          <p:cNvPr id="7" name="AutoShape 5">
            <a:extLst>
              <a:ext uri="{FF2B5EF4-FFF2-40B4-BE49-F238E27FC236}">
                <a16:creationId xmlns:a16="http://schemas.microsoft.com/office/drawing/2014/main" id="{EBEBE8AA-DA4C-4BC4-2A47-EDB713910CF7}"/>
              </a:ext>
            </a:extLst>
          </p:cNvPr>
          <p:cNvSpPr>
            <a:spLocks noChangeArrowheads="1"/>
          </p:cNvSpPr>
          <p:nvPr/>
        </p:nvSpPr>
        <p:spPr bwMode="auto">
          <a:xfrm>
            <a:off x="73888" y="48859"/>
            <a:ext cx="1871547" cy="484620"/>
          </a:xfrm>
          <a:prstGeom prst="chevron">
            <a:avLst>
              <a:gd name="adj" fmla="val 100000"/>
            </a:avLst>
          </a:prstGeom>
          <a:solidFill>
            <a:srgbClr val="FF0000"/>
          </a:solidFill>
          <a:ln w="9525">
            <a:solidFill>
              <a:schemeClr val="tx1"/>
            </a:solidFill>
            <a:miter lim="800000"/>
            <a:headEnd/>
            <a:tailEnd/>
          </a:ln>
          <a:effectLst/>
        </p:spPr>
        <p:txBody>
          <a:bodyPr wrap="none" anchor="ctr"/>
          <a:lstStyle/>
          <a:p>
            <a:pPr algn="ctr" eaLnBrk="0" hangingPunct="0"/>
            <a:r>
              <a:rPr lang="en-US" sz="1600" b="1" dirty="0">
                <a:solidFill>
                  <a:srgbClr val="000000"/>
                </a:solidFill>
                <a:latin typeface="Verdana" pitchFamily="34" charset="0"/>
              </a:rPr>
              <a:t>     ANALYSIS</a:t>
            </a:r>
          </a:p>
        </p:txBody>
      </p:sp>
      <p:sp>
        <p:nvSpPr>
          <p:cNvPr id="8" name="Rectangle 7">
            <a:extLst>
              <a:ext uri="{FF2B5EF4-FFF2-40B4-BE49-F238E27FC236}">
                <a16:creationId xmlns:a16="http://schemas.microsoft.com/office/drawing/2014/main" id="{B6144E42-32B4-D192-6572-352E61A2A89C}"/>
              </a:ext>
            </a:extLst>
          </p:cNvPr>
          <p:cNvSpPr/>
          <p:nvPr/>
        </p:nvSpPr>
        <p:spPr>
          <a:xfrm>
            <a:off x="2064619" y="84611"/>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RELATION BETWEEN UPPER RAIL PROFILE &amp; FORCE</a:t>
            </a:r>
          </a:p>
        </p:txBody>
      </p:sp>
      <p:pic>
        <p:nvPicPr>
          <p:cNvPr id="9" name="Picture 1" descr="Scatterplot of PROFILE vs FORCE">
            <a:extLst>
              <a:ext uri="{FF2B5EF4-FFF2-40B4-BE49-F238E27FC236}">
                <a16:creationId xmlns:a16="http://schemas.microsoft.com/office/drawing/2014/main" id="{0183FD86-8040-8164-DCBF-B14A5D538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41" y="886258"/>
            <a:ext cx="4363359" cy="290890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CE8E70C-745F-2359-B9A2-2EB1B5B9F03E}"/>
              </a:ext>
            </a:extLst>
          </p:cNvPr>
          <p:cNvSpPr/>
          <p:nvPr/>
        </p:nvSpPr>
        <p:spPr>
          <a:xfrm>
            <a:off x="4689201" y="845456"/>
            <a:ext cx="4210959" cy="29497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CONCLUSION</a:t>
            </a:r>
            <a:r>
              <a:rPr lang="en-US" sz="2000" b="1" dirty="0">
                <a:solidFill>
                  <a:schemeClr val="tx1"/>
                </a:solidFill>
              </a:rPr>
              <a:t>:- </a:t>
            </a:r>
            <a:r>
              <a:rPr lang="en-US" dirty="0">
                <a:solidFill>
                  <a:schemeClr val="tx1"/>
                </a:solidFill>
              </a:rPr>
              <a:t>We do not have enough data of profile, but the rest of the data indicates that there is a positive relationship between the profile of upper rail and the sliding force.</a:t>
            </a:r>
            <a:endParaRPr lang="en-US" sz="2000" dirty="0">
              <a:solidFill>
                <a:schemeClr val="tx1"/>
              </a:solidFill>
            </a:endParaRPr>
          </a:p>
        </p:txBody>
      </p:sp>
    </p:spTree>
    <p:extLst>
      <p:ext uri="{BB962C8B-B14F-4D97-AF65-F5344CB8AC3E}">
        <p14:creationId xmlns:p14="http://schemas.microsoft.com/office/powerpoint/2010/main" val="3888047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83CB6-3A29-608D-4643-8F7D016BFC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A9822E-B2C2-5CCB-FED6-FA7B17D2F80E}"/>
              </a:ext>
            </a:extLst>
          </p:cNvPr>
          <p:cNvSpPr>
            <a:spLocks noGrp="1"/>
          </p:cNvSpPr>
          <p:nvPr>
            <p:ph type="sldNum" sz="quarter" idx="12"/>
          </p:nvPr>
        </p:nvSpPr>
        <p:spPr/>
        <p:txBody>
          <a:bodyPr/>
          <a:lstStyle/>
          <a:p>
            <a:fld id="{48F63A3B-78C7-47BE-AE5E-E10140E04643}" type="slidenum">
              <a:rPr lang="en-US" smtClean="0"/>
              <a:t>29</a:t>
            </a:fld>
            <a:endParaRPr lang="en-US" dirty="0"/>
          </a:p>
        </p:txBody>
      </p:sp>
      <p:sp>
        <p:nvSpPr>
          <p:cNvPr id="4" name="Rectangle 3">
            <a:extLst>
              <a:ext uri="{FF2B5EF4-FFF2-40B4-BE49-F238E27FC236}">
                <a16:creationId xmlns:a16="http://schemas.microsoft.com/office/drawing/2014/main" id="{43D34241-4FED-C501-CDCA-4FE1C9EDB4AC}"/>
              </a:ext>
            </a:extLst>
          </p:cNvPr>
          <p:cNvSpPr/>
          <p:nvPr/>
        </p:nvSpPr>
        <p:spPr>
          <a:xfrm>
            <a:off x="208641" y="774823"/>
            <a:ext cx="8691519" cy="2136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We do not have a quick way to collect profile data because in CMM, the inspection time for one part is 2 hour, and it is not practical to do this on a daily basis. Therefore, after discussing with the quality team, a new profile inspection machine will be ordered with a target date of January 2026.</a:t>
            </a:r>
            <a:r>
              <a:rPr lang="en-US" sz="2800" dirty="0">
                <a:solidFill>
                  <a:schemeClr val="tx1"/>
                </a:solidFill>
              </a:rPr>
              <a:t> </a:t>
            </a:r>
          </a:p>
        </p:txBody>
      </p:sp>
      <p:sp>
        <p:nvSpPr>
          <p:cNvPr id="6" name="Rectangle 5">
            <a:extLst>
              <a:ext uri="{FF2B5EF4-FFF2-40B4-BE49-F238E27FC236}">
                <a16:creationId xmlns:a16="http://schemas.microsoft.com/office/drawing/2014/main" id="{8BE0E6F2-2AE4-4F5D-8466-77383E1A7EE1}"/>
              </a:ext>
            </a:extLst>
          </p:cNvPr>
          <p:cNvSpPr/>
          <p:nvPr/>
        </p:nvSpPr>
        <p:spPr>
          <a:xfrm>
            <a:off x="1607419" y="167275"/>
            <a:ext cx="6477000" cy="484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IMPROVE &amp; CONTROL</a:t>
            </a:r>
          </a:p>
        </p:txBody>
      </p:sp>
      <p:sp>
        <p:nvSpPr>
          <p:cNvPr id="10" name="Rectangle 9">
            <a:extLst>
              <a:ext uri="{FF2B5EF4-FFF2-40B4-BE49-F238E27FC236}">
                <a16:creationId xmlns:a16="http://schemas.microsoft.com/office/drawing/2014/main" id="{7611ADE6-481B-2941-AE90-2800C3535747}"/>
              </a:ext>
            </a:extLst>
          </p:cNvPr>
          <p:cNvSpPr/>
          <p:nvPr/>
        </p:nvSpPr>
        <p:spPr>
          <a:xfrm>
            <a:off x="226240" y="3063643"/>
            <a:ext cx="8691519" cy="2136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After purchasing the profile inspection machine, we will improve the profile of the upper rail and the lower rail. Also, the control will be according to the desired specifications of the sliding </a:t>
            </a:r>
            <a:r>
              <a:rPr lang="en-US" sz="2400">
                <a:solidFill>
                  <a:schemeClr val="tx1"/>
                </a:solidFill>
              </a:rPr>
              <a:t>force.</a:t>
            </a:r>
            <a:endParaRPr lang="en-US" sz="2400" dirty="0">
              <a:solidFill>
                <a:schemeClr val="tx1"/>
              </a:solidFill>
            </a:endParaRPr>
          </a:p>
        </p:txBody>
      </p:sp>
    </p:spTree>
    <p:extLst>
      <p:ext uri="{BB962C8B-B14F-4D97-AF65-F5344CB8AC3E}">
        <p14:creationId xmlns:p14="http://schemas.microsoft.com/office/powerpoint/2010/main" val="1057880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無題"/>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2" y="1941365"/>
            <a:ext cx="6224715" cy="333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8"/>
          <p:cNvSpPr txBox="1">
            <a:spLocks noChangeArrowheads="1"/>
          </p:cNvSpPr>
          <p:nvPr/>
        </p:nvSpPr>
        <p:spPr bwMode="auto">
          <a:xfrm>
            <a:off x="1382574" y="3136596"/>
            <a:ext cx="6590109" cy="38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Angsana New"/>
                <a:cs typeface="Angsana New"/>
              </a:defRPr>
            </a:lvl1pPr>
            <a:lvl2pPr marL="742950" indent="-285750">
              <a:spcBef>
                <a:spcPct val="20000"/>
              </a:spcBef>
              <a:buChar char="–"/>
              <a:defRPr sz="2800">
                <a:solidFill>
                  <a:schemeClr val="tx1"/>
                </a:solidFill>
                <a:latin typeface="Arial" panose="020B0604020202020204" pitchFamily="34" charset="0"/>
                <a:ea typeface="Angsana New"/>
                <a:cs typeface="Angsana New"/>
              </a:defRPr>
            </a:lvl2pPr>
            <a:lvl3pPr marL="1143000" indent="-228600">
              <a:spcBef>
                <a:spcPct val="20000"/>
              </a:spcBef>
              <a:buChar char="•"/>
              <a:defRPr sz="2400">
                <a:solidFill>
                  <a:schemeClr val="tx1"/>
                </a:solidFill>
                <a:latin typeface="Arial" panose="020B0604020202020204" pitchFamily="34" charset="0"/>
                <a:ea typeface="Angsana New"/>
                <a:cs typeface="Angsana New"/>
              </a:defRPr>
            </a:lvl3pPr>
            <a:lvl4pPr marL="1600200" indent="-228600">
              <a:spcBef>
                <a:spcPct val="20000"/>
              </a:spcBef>
              <a:buChar char="–"/>
              <a:defRPr sz="2000">
                <a:solidFill>
                  <a:schemeClr val="tx1"/>
                </a:solidFill>
                <a:latin typeface="Arial" panose="020B0604020202020204" pitchFamily="34" charset="0"/>
                <a:ea typeface="Angsana New"/>
                <a:cs typeface="Angsana New"/>
              </a:defRPr>
            </a:lvl4pPr>
            <a:lvl5pPr marL="2057400" indent="-228600">
              <a:spcBef>
                <a:spcPct val="20000"/>
              </a:spcBef>
              <a:buChar char="»"/>
              <a:defRPr sz="2000">
                <a:solidFill>
                  <a:schemeClr val="tx1"/>
                </a:solidFill>
                <a:latin typeface="Arial" panose="020B0604020202020204" pitchFamily="34" charset="0"/>
                <a:ea typeface="Angsana New"/>
                <a:cs typeface="Angsana New"/>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ngsana New"/>
                <a:cs typeface="Angsana New"/>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ngsana New"/>
                <a:cs typeface="Angsana New"/>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ngsana New"/>
                <a:cs typeface="Angsana New"/>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ngsana New"/>
                <a:cs typeface="Angsana New"/>
              </a:defRPr>
            </a:lvl9pPr>
          </a:lstStyle>
          <a:p>
            <a:pPr algn="ctr" fontAlgn="base">
              <a:lnSpc>
                <a:spcPts val="2250"/>
              </a:lnSpc>
              <a:spcBef>
                <a:spcPct val="50000"/>
              </a:spcBef>
              <a:spcAft>
                <a:spcPct val="0"/>
              </a:spcAft>
              <a:buNone/>
              <a:defRPr/>
            </a:pPr>
            <a:r>
              <a:rPr lang="en-US" altLang="ja-JP" sz="2700" b="1" dirty="0">
                <a:solidFill>
                  <a:srgbClr val="000000"/>
                </a:solidFill>
                <a:latin typeface="Meiryo UI" panose="020B0604030504040204" pitchFamily="50" charset="-128"/>
                <a:ea typeface="Meiryo UI" panose="020B0604030504040204" pitchFamily="50" charset="-128"/>
              </a:rPr>
              <a:t>Thank you</a:t>
            </a:r>
          </a:p>
        </p:txBody>
      </p:sp>
    </p:spTree>
    <p:extLst>
      <p:ext uri="{BB962C8B-B14F-4D97-AF65-F5344CB8AC3E}">
        <p14:creationId xmlns:p14="http://schemas.microsoft.com/office/powerpoint/2010/main" val="10403086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1F19F97CD8AC499B851E984802A966" ma:contentTypeVersion="15" ma:contentTypeDescription="Create a new document." ma:contentTypeScope="" ma:versionID="b10ecde6719d407be05d3415d518f72c">
  <xsd:schema xmlns:xsd="http://www.w3.org/2001/XMLSchema" xmlns:xs="http://www.w3.org/2001/XMLSchema" xmlns:p="http://schemas.microsoft.com/office/2006/metadata/properties" xmlns:ns2="65cd3ba2-7082-4371-904b-30edda0f0c08" xmlns:ns3="66909e41-870c-4edd-8ba0-975ea09a82e3" targetNamespace="http://schemas.microsoft.com/office/2006/metadata/properties" ma:root="true" ma:fieldsID="694a9e3761e26aa8cd0233d3442ad6d4" ns2:_="" ns3:_="">
    <xsd:import namespace="65cd3ba2-7082-4371-904b-30edda0f0c08"/>
    <xsd:import namespace="66909e41-870c-4edd-8ba0-975ea09a82e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bjectDetectorVersions" minOccurs="0"/>
                <xsd:element ref="ns3:SharedWithUsers" minOccurs="0"/>
                <xsd:element ref="ns3:SharedWithDetail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cd3ba2-7082-4371-904b-30edda0f0c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200d548-6dcd-4e18-9105-01986e2118c0"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6909e41-870c-4edd-8ba0-975ea09a82e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5a8d15b-5fd2-4b1a-a3e0-392261e18002}" ma:internalName="TaxCatchAll" ma:showField="CatchAllData" ma:web="66909e41-870c-4edd-8ba0-975ea09a82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5cd3ba2-7082-4371-904b-30edda0f0c08">
      <Terms xmlns="http://schemas.microsoft.com/office/infopath/2007/PartnerControls"/>
    </lcf76f155ced4ddcb4097134ff3c332f>
    <TaxCatchAll xmlns="66909e41-870c-4edd-8ba0-975ea09a82e3" xsi:nil="true"/>
  </documentManagement>
</p:properties>
</file>

<file path=customXml/itemProps1.xml><?xml version="1.0" encoding="utf-8"?>
<ds:datastoreItem xmlns:ds="http://schemas.openxmlformats.org/officeDocument/2006/customXml" ds:itemID="{9245CCE1-EE3E-4E1B-8C4A-584E6A388AB5}">
  <ds:schemaRefs>
    <ds:schemaRef ds:uri="http://schemas.microsoft.com/sharepoint/v3/contenttype/forms"/>
  </ds:schemaRefs>
</ds:datastoreItem>
</file>

<file path=customXml/itemProps2.xml><?xml version="1.0" encoding="utf-8"?>
<ds:datastoreItem xmlns:ds="http://schemas.openxmlformats.org/officeDocument/2006/customXml" ds:itemID="{F872E7D4-D2A9-4BE2-A860-A1586C5603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cd3ba2-7082-4371-904b-30edda0f0c08"/>
    <ds:schemaRef ds:uri="66909e41-870c-4edd-8ba0-975ea09a82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7A9C9DA-E75C-42B1-82F7-FE9F41FC8B61}">
  <ds:schemaRefs>
    <ds:schemaRef ds:uri="66909e41-870c-4edd-8ba0-975ea09a82e3"/>
    <ds:schemaRef ds:uri="http://purl.org/dc/elements/1.1/"/>
    <ds:schemaRef ds:uri="http://schemas.microsoft.com/office/infopath/2007/PartnerControls"/>
    <ds:schemaRef ds:uri="http://purl.org/dc/terms/"/>
    <ds:schemaRef ds:uri="65cd3ba2-7082-4371-904b-30edda0f0c08"/>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21723</TotalTime>
  <Words>1608</Words>
  <Application>Microsoft Office PowerPoint</Application>
  <PresentationFormat>On-screen Show (4:3)</PresentationFormat>
  <Paragraphs>210</Paragraphs>
  <Slides>30</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メイリオ</vt:lpstr>
      <vt:lpstr>Meiryo UI</vt:lpstr>
      <vt:lpstr>游ゴシック</vt:lpstr>
      <vt:lpstr>游ゴシック</vt:lpstr>
      <vt:lpstr>Arial</vt:lpstr>
      <vt:lpstr>Calibri</vt:lpstr>
      <vt:lpstr>Calibri Light</vt:lpstr>
      <vt:lpstr>Roboto</vt:lpstr>
      <vt:lpstr>Verdana</vt:lpstr>
      <vt:lpstr>Office 2013 - 2022 Theme</vt:lpstr>
      <vt:lpstr>PowerPoint Presentation</vt:lpstr>
      <vt:lpstr>MONTH-WISE BALLGUIDE CONSUMPTION</vt:lpstr>
      <vt:lpstr>What :-  BALL GUIDE CONSUMPTION IS NOT MANAGE AS PER THE PLANNING  Who:-  SCM PERSON  When:-  DURING RAIL CHANGE  Where :-   SEMI AUTO MACHINE AT SEAT SLIDER ASSY. LINE  Why:- SLIDING FORCE OUT OF SPEC. (14.7 - 50.0 KN)   How :-    VARIATION IN ROLLING FRICTION BETWEEN BALL &amp; RAILS  How Much:-  BALL CONSUMPTION FLUCTUATION 9% TO 21%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Microsoft Office ユーザー</dc:creator>
  <cp:lastModifiedBy>Ankit Saklani</cp:lastModifiedBy>
  <cp:revision>932</cp:revision>
  <cp:lastPrinted>2024-06-12T05:49:27Z</cp:lastPrinted>
  <dcterms:created xsi:type="dcterms:W3CDTF">2018-03-29T18:51:13Z</dcterms:created>
  <dcterms:modified xsi:type="dcterms:W3CDTF">2025-08-23T11:36:37Z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0x010100DE1F19F97CD8AC499B851E984802A966</vt:lpwstr>
  </property>
</Properties>
</file>