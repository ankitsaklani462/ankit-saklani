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drawings/drawing1.xml" ContentType="application/vnd.openxmlformats-officedocument.drawingml.chartshapes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drawings/drawing2.xml" ContentType="application/vnd.openxmlformats-officedocument.drawingml.chartshapes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drawings/drawing3.xml" ContentType="application/vnd.openxmlformats-officedocument.drawingml.chartshape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7" r:id="rId2"/>
    <p:sldId id="258" r:id="rId3"/>
    <p:sldId id="260" r:id="rId4"/>
    <p:sldId id="324" r:id="rId5"/>
    <p:sldId id="334" r:id="rId6"/>
    <p:sldId id="331" r:id="rId7"/>
    <p:sldId id="335" r:id="rId8"/>
    <p:sldId id="332" r:id="rId9"/>
    <p:sldId id="336" r:id="rId10"/>
    <p:sldId id="1638" r:id="rId11"/>
    <p:sldId id="337" r:id="rId12"/>
    <p:sldId id="338" r:id="rId13"/>
    <p:sldId id="340" r:id="rId14"/>
    <p:sldId id="341" r:id="rId15"/>
    <p:sldId id="342" r:id="rId16"/>
    <p:sldId id="343" r:id="rId17"/>
    <p:sldId id="1639" r:id="rId18"/>
    <p:sldId id="1637" r:id="rId19"/>
    <p:sldId id="320" r:id="rId20"/>
    <p:sldId id="1640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64" autoAdjust="0"/>
    <p:restoredTop sz="93419" autoAdjust="0"/>
  </p:normalViewPr>
  <p:slideViewPr>
    <p:cSldViewPr>
      <p:cViewPr varScale="1">
        <p:scale>
          <a:sx n="78" d="100"/>
          <a:sy n="78" d="100"/>
        </p:scale>
        <p:origin x="1762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48" d="100"/>
          <a:sy n="48" d="100"/>
        </p:scale>
        <p:origin x="2752" y="3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production14\Desktop\ball%20guide%20data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production14\Desktop\ball%20guide%20data.xlsx" TargetMode="Externa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chartUserShapes" Target="../drawings/drawing1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production14\Desktop\ball%20guide%20data.xlsx" TargetMode="Externa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chartUserShapes" Target="../drawings/drawing2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production14\Desktop\ball%20guide%20data.xlsx" TargetMode="External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chartUserShapes" Target="../drawings/drawing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600" dirty="0"/>
              <a:t>5.4 MM BALL GUIDE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504838145231846"/>
          <c:y val="0.17171296296296296"/>
          <c:w val="0.78007174103237098"/>
          <c:h val="0.5454093759113444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5.4 MM CONSUMPTION %</c:v>
                </c:pt>
              </c:strCache>
            </c:strRef>
          </c:tx>
          <c:spPr>
            <a:solidFill>
              <a:srgbClr val="92D050"/>
            </a:solidFill>
            <a:ln>
              <a:solidFill>
                <a:schemeClr val="tx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5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Sheet1!$A$2:$A$9</c:f>
              <c:numCache>
                <c:formatCode>mmm\-yy</c:formatCode>
                <c:ptCount val="8"/>
                <c:pt idx="0">
                  <c:v>45383</c:v>
                </c:pt>
                <c:pt idx="1">
                  <c:v>45413</c:v>
                </c:pt>
                <c:pt idx="2">
                  <c:v>45444</c:v>
                </c:pt>
                <c:pt idx="3">
                  <c:v>45474</c:v>
                </c:pt>
                <c:pt idx="4">
                  <c:v>45505</c:v>
                </c:pt>
                <c:pt idx="5">
                  <c:v>45536</c:v>
                </c:pt>
                <c:pt idx="6">
                  <c:v>45566</c:v>
                </c:pt>
                <c:pt idx="7">
                  <c:v>45597</c:v>
                </c:pt>
              </c:numCache>
            </c:numRef>
          </c:cat>
          <c:val>
            <c:numRef>
              <c:f>Sheet1!$B$2:$B$9</c:f>
              <c:numCache>
                <c:formatCode>0.0%</c:formatCode>
                <c:ptCount val="8"/>
                <c:pt idx="0">
                  <c:v>0.41899999999999998</c:v>
                </c:pt>
                <c:pt idx="1">
                  <c:v>0.54700000000000004</c:v>
                </c:pt>
                <c:pt idx="2">
                  <c:v>0.67500000000000004</c:v>
                </c:pt>
                <c:pt idx="3">
                  <c:v>0.189</c:v>
                </c:pt>
                <c:pt idx="4">
                  <c:v>0.28299999999999997</c:v>
                </c:pt>
                <c:pt idx="5">
                  <c:v>0.253</c:v>
                </c:pt>
                <c:pt idx="6">
                  <c:v>0.47199999999999998</c:v>
                </c:pt>
                <c:pt idx="7">
                  <c:v>0.34200000000000003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0DA-4083-96C4-B5CA8AFD7A4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09705232"/>
        <c:axId val="309704752"/>
      </c:barChart>
      <c:dateAx>
        <c:axId val="309705232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5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MONTH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5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mmm\-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09704752"/>
        <c:crosses val="autoZero"/>
        <c:auto val="1"/>
        <c:lblOffset val="100"/>
        <c:baseTimeUnit val="months"/>
      </c:dateAx>
      <c:valAx>
        <c:axId val="309704752"/>
        <c:scaling>
          <c:orientation val="minMax"/>
          <c:max val="1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5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CONSUMPTION %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5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09705232"/>
        <c:crosses val="autoZero"/>
        <c:crossBetween val="between"/>
      </c:valAx>
      <c:spPr>
        <a:noFill/>
        <a:ln>
          <a:solidFill>
            <a:schemeClr val="tx1"/>
          </a:solidFill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9525" cap="flat" cmpd="sng" algn="ctr">
      <a:solidFill>
        <a:schemeClr val="tx1"/>
      </a:solidFill>
      <a:round/>
    </a:ln>
    <a:effectLst/>
  </c:spPr>
  <c:txPr>
    <a:bodyPr/>
    <a:lstStyle/>
    <a:p>
      <a:pPr>
        <a:defRPr sz="1050"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lang="en-US" sz="1600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US" sz="1600" b="0" i="0" u="none" strike="noStrike" kern="1200" spc="0" baseline="0" dirty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rPr>
              <a:t>5.5 MM BALL GUIDE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lang="en-US" sz="1600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504838145231846"/>
          <c:y val="0.17171296296296296"/>
          <c:w val="0.78007174103237098"/>
          <c:h val="0.5454093759113444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Sheet1!$E$1</c:f>
              <c:strCache>
                <c:ptCount val="1"/>
                <c:pt idx="0">
                  <c:v>5.5 MM CONSUMPTION %</c:v>
                </c:pt>
              </c:strCache>
            </c:strRef>
          </c:tx>
          <c:spPr>
            <a:solidFill>
              <a:schemeClr val="bg1">
                <a:lumMod val="50000"/>
              </a:schemeClr>
            </a:solidFill>
            <a:ln>
              <a:solidFill>
                <a:schemeClr val="tx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lang="en-US" sz="105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Sheet1!$A$2:$A$9</c:f>
              <c:numCache>
                <c:formatCode>mmm\-yy</c:formatCode>
                <c:ptCount val="8"/>
                <c:pt idx="0">
                  <c:v>45383</c:v>
                </c:pt>
                <c:pt idx="1">
                  <c:v>45413</c:v>
                </c:pt>
                <c:pt idx="2">
                  <c:v>45444</c:v>
                </c:pt>
                <c:pt idx="3">
                  <c:v>45474</c:v>
                </c:pt>
                <c:pt idx="4">
                  <c:v>45505</c:v>
                </c:pt>
                <c:pt idx="5">
                  <c:v>45536</c:v>
                </c:pt>
                <c:pt idx="6">
                  <c:v>45566</c:v>
                </c:pt>
                <c:pt idx="7">
                  <c:v>45597</c:v>
                </c:pt>
              </c:numCache>
            </c:numRef>
          </c:cat>
          <c:val>
            <c:numRef>
              <c:f>Sheet1!$E$2:$E$9</c:f>
              <c:numCache>
                <c:formatCode>0.0%</c:formatCode>
                <c:ptCount val="8"/>
                <c:pt idx="0">
                  <c:v>0.371</c:v>
                </c:pt>
                <c:pt idx="1">
                  <c:v>0.25700000000000001</c:v>
                </c:pt>
                <c:pt idx="2">
                  <c:v>0.13500000000000001</c:v>
                </c:pt>
                <c:pt idx="3">
                  <c:v>0.71699999999999997</c:v>
                </c:pt>
                <c:pt idx="4">
                  <c:v>0.56699999999999995</c:v>
                </c:pt>
                <c:pt idx="5">
                  <c:v>0.56299999999999994</c:v>
                </c:pt>
                <c:pt idx="6">
                  <c:v>0.47499999999999998</c:v>
                </c:pt>
                <c:pt idx="7">
                  <c:v>0.50800000000000001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E38-4630-9425-A6BFF72E83C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309705232"/>
        <c:axId val="309704752"/>
      </c:barChart>
      <c:dateAx>
        <c:axId val="309705232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lang="en-US" sz="105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MONTH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lang="en-US" sz="105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mmm\-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05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09704752"/>
        <c:crosses val="autoZero"/>
        <c:auto val="1"/>
        <c:lblOffset val="100"/>
        <c:baseTimeUnit val="months"/>
      </c:dateAx>
      <c:valAx>
        <c:axId val="309704752"/>
        <c:scaling>
          <c:orientation val="minMax"/>
          <c:max val="1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lang="en-US" sz="105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CONSUMPTION %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lang="en-US" sz="105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05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09705232"/>
        <c:crosses val="autoZero"/>
        <c:crossBetween val="between"/>
      </c:valAx>
      <c:spPr>
        <a:noFill/>
        <a:ln>
          <a:solidFill>
            <a:schemeClr val="tx1"/>
          </a:solidFill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9525" cap="flat" cmpd="sng" algn="ctr">
      <a:solidFill>
        <a:schemeClr val="tx1"/>
      </a:solidFill>
      <a:round/>
    </a:ln>
    <a:effectLst/>
  </c:spPr>
  <c:txPr>
    <a:bodyPr/>
    <a:lstStyle/>
    <a:p>
      <a:pPr>
        <a:defRPr lang="en-US" sz="1050" b="0" i="0" u="none" strike="noStrike" kern="1200" baseline="0">
          <a:solidFill>
            <a:schemeClr val="tx1"/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  <c:userShapes r:id="rId4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lang="en-US" sz="1600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US" sz="1600" b="0" i="0" u="none" strike="noStrike" kern="1200" spc="0" baseline="0" dirty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rPr>
              <a:t>5.6 MM BALL GUIDE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lang="en-US" sz="1600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504838145231846"/>
          <c:y val="0.17171296296296296"/>
          <c:w val="0.78007174103237098"/>
          <c:h val="0.5454093759113444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Sheet1!$E$1</c:f>
              <c:strCache>
                <c:ptCount val="1"/>
                <c:pt idx="0">
                  <c:v>5.5 MM CONSUMPTION %</c:v>
                </c:pt>
              </c:strCache>
            </c:strRef>
          </c:tx>
          <c:spPr>
            <a:solidFill>
              <a:srgbClr val="FF0000"/>
            </a:solidFill>
            <a:ln>
              <a:solidFill>
                <a:schemeClr val="tx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lang="en-US" sz="105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Sheet1!$A$2:$A$9</c:f>
              <c:numCache>
                <c:formatCode>mmm\-yy</c:formatCode>
                <c:ptCount val="8"/>
                <c:pt idx="0">
                  <c:v>45383</c:v>
                </c:pt>
                <c:pt idx="1">
                  <c:v>45413</c:v>
                </c:pt>
                <c:pt idx="2">
                  <c:v>45444</c:v>
                </c:pt>
                <c:pt idx="3">
                  <c:v>45474</c:v>
                </c:pt>
                <c:pt idx="4">
                  <c:v>45505</c:v>
                </c:pt>
                <c:pt idx="5">
                  <c:v>45536</c:v>
                </c:pt>
                <c:pt idx="6">
                  <c:v>45566</c:v>
                </c:pt>
                <c:pt idx="7">
                  <c:v>45597</c:v>
                </c:pt>
              </c:numCache>
            </c:numRef>
          </c:cat>
          <c:val>
            <c:numRef>
              <c:f>Sheet1!$H$2:$H$9</c:f>
              <c:numCache>
                <c:formatCode>0.0%</c:formatCode>
                <c:ptCount val="8"/>
                <c:pt idx="0">
                  <c:v>0.21</c:v>
                </c:pt>
                <c:pt idx="1">
                  <c:v>0.19500000000000001</c:v>
                </c:pt>
                <c:pt idx="2">
                  <c:v>0.19</c:v>
                </c:pt>
                <c:pt idx="3">
                  <c:v>9.4E-2</c:v>
                </c:pt>
                <c:pt idx="4">
                  <c:v>0.15</c:v>
                </c:pt>
                <c:pt idx="5">
                  <c:v>0.184</c:v>
                </c:pt>
                <c:pt idx="6">
                  <c:v>5.2999999999999999E-2</c:v>
                </c:pt>
                <c:pt idx="7">
                  <c:v>0.15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3BA-482C-BE08-0108A33B5BF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309705232"/>
        <c:axId val="309704752"/>
      </c:barChart>
      <c:dateAx>
        <c:axId val="309705232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lang="en-US" sz="105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MONTH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lang="en-US" sz="105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mmm\-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05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09704752"/>
        <c:crosses val="autoZero"/>
        <c:auto val="1"/>
        <c:lblOffset val="100"/>
        <c:baseTimeUnit val="months"/>
      </c:dateAx>
      <c:valAx>
        <c:axId val="309704752"/>
        <c:scaling>
          <c:orientation val="minMax"/>
          <c:max val="1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lang="en-US" sz="105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CONSUMPTION %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lang="en-US" sz="105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05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09705232"/>
        <c:crosses val="autoZero"/>
        <c:crossBetween val="between"/>
      </c:valAx>
      <c:spPr>
        <a:noFill/>
        <a:ln>
          <a:solidFill>
            <a:schemeClr val="tx1"/>
          </a:solidFill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9525" cap="flat" cmpd="sng" algn="ctr">
      <a:solidFill>
        <a:schemeClr val="tx1"/>
      </a:solidFill>
      <a:round/>
    </a:ln>
    <a:effectLst/>
  </c:spPr>
  <c:txPr>
    <a:bodyPr/>
    <a:lstStyle/>
    <a:p>
      <a:pPr>
        <a:defRPr lang="en-US" sz="1050" b="0" i="0" u="none" strike="noStrike" kern="1200" baseline="0">
          <a:solidFill>
            <a:schemeClr val="tx1"/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  <c:userShapes r:id="rId4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lang="en-US" sz="1600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US" sz="1600" b="0" i="0" u="none" strike="noStrike" kern="1200" spc="0" baseline="0" dirty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rPr>
              <a:t>5.7 MM BALL GUIDE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lang="en-US" sz="1600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504838145231846"/>
          <c:y val="0.17171296296296296"/>
          <c:w val="0.78007174103237098"/>
          <c:h val="0.5454093759113444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Sheet1!$L$1</c:f>
              <c:strCache>
                <c:ptCount val="1"/>
                <c:pt idx="0">
                  <c:v>5.7 MM CONSUMPTION %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solidFill>
                <a:srgbClr val="0070C0"/>
              </a:solidFill>
              <a:ln>
                <a:solidFill>
                  <a:schemeClr val="tx1"/>
                </a:solidFill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lang="en-US" sz="105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Sheet1!$A$2:$A$9</c:f>
              <c:numCache>
                <c:formatCode>mmm\-yy</c:formatCode>
                <c:ptCount val="8"/>
                <c:pt idx="0">
                  <c:v>45383</c:v>
                </c:pt>
                <c:pt idx="1">
                  <c:v>45413</c:v>
                </c:pt>
                <c:pt idx="2">
                  <c:v>45444</c:v>
                </c:pt>
                <c:pt idx="3">
                  <c:v>45474</c:v>
                </c:pt>
                <c:pt idx="4">
                  <c:v>45505</c:v>
                </c:pt>
                <c:pt idx="5">
                  <c:v>45536</c:v>
                </c:pt>
                <c:pt idx="6">
                  <c:v>45566</c:v>
                </c:pt>
                <c:pt idx="7">
                  <c:v>45597</c:v>
                </c:pt>
              </c:numCache>
            </c:numRef>
          </c:cat>
          <c:val>
            <c:numRef>
              <c:f>Sheet1!$L$2:$L$9</c:f>
              <c:numCache>
                <c:formatCode>0.0%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C44-442E-8443-326C3CA747A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309705232"/>
        <c:axId val="309704752"/>
      </c:barChart>
      <c:dateAx>
        <c:axId val="309705232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lang="en-US" sz="105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MONTH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lang="en-US" sz="105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mmm\-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05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09704752"/>
        <c:crosses val="autoZero"/>
        <c:auto val="1"/>
        <c:lblOffset val="100"/>
        <c:baseTimeUnit val="months"/>
      </c:dateAx>
      <c:valAx>
        <c:axId val="309704752"/>
        <c:scaling>
          <c:orientation val="minMax"/>
          <c:max val="1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lang="en-US" sz="105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CONSUMPTION %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lang="en-US" sz="105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05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09705232"/>
        <c:crosses val="autoZero"/>
        <c:crossBetween val="between"/>
      </c:valAx>
      <c:spPr>
        <a:noFill/>
        <a:ln>
          <a:solidFill>
            <a:schemeClr val="tx1"/>
          </a:solidFill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9525" cap="flat" cmpd="sng" algn="ctr">
      <a:solidFill>
        <a:schemeClr val="tx1"/>
      </a:solidFill>
      <a:round/>
    </a:ln>
    <a:effectLst/>
  </c:spPr>
  <c:txPr>
    <a:bodyPr/>
    <a:lstStyle/>
    <a:p>
      <a:pPr>
        <a:defRPr lang="en-US" sz="1050" b="0" i="0" u="none" strike="noStrike" kern="1200" baseline="0">
          <a:solidFill>
            <a:schemeClr val="tx1"/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0.76485</cdr:x>
      <cdr:y>0.03889</cdr:y>
    </cdr:from>
    <cdr:to>
      <cdr:x>0.96485</cdr:x>
      <cdr:y>0.12222</cdr:y>
    </cdr:to>
    <cdr:sp macro="" textlink="">
      <cdr:nvSpPr>
        <cdr:cNvPr id="2" name="Rectangle 1">
          <a:extLst xmlns:a="http://schemas.openxmlformats.org/drawingml/2006/main">
            <a:ext uri="{FF2B5EF4-FFF2-40B4-BE49-F238E27FC236}">
              <a16:creationId xmlns:a16="http://schemas.microsoft.com/office/drawing/2014/main" id="{76963739-2393-7092-CDD2-CD094A07C8C9}"/>
            </a:ext>
          </a:extLst>
        </cdr:cNvPr>
        <cdr:cNvSpPr/>
      </cdr:nvSpPr>
      <cdr:spPr>
        <a:xfrm xmlns:a="http://schemas.openxmlformats.org/drawingml/2006/main">
          <a:off x="3205480" y="106680"/>
          <a:ext cx="838200" cy="228600"/>
        </a:xfrm>
        <a:prstGeom xmlns:a="http://schemas.openxmlformats.org/drawingml/2006/main" prst="rect">
          <a:avLst/>
        </a:prstGeom>
        <a:solidFill xmlns:a="http://schemas.openxmlformats.org/drawingml/2006/main">
          <a:schemeClr val="bg1">
            <a:lumMod val="50000"/>
          </a:schemeClr>
        </a:solidFill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defPPr>
            <a:defRPr lang="en-US"/>
          </a:defPPr>
          <a:lvl1pPr marL="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endParaRPr lang="en-US" dirty="0"/>
        </a:p>
      </cdr:txBody>
    </cdr: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0.75121</cdr:x>
      <cdr:y>0.03299</cdr:y>
    </cdr:from>
    <cdr:to>
      <cdr:x>0.95121</cdr:x>
      <cdr:y>0.11632</cdr:y>
    </cdr:to>
    <cdr:sp macro="" textlink="">
      <cdr:nvSpPr>
        <cdr:cNvPr id="2" name="Rectangle 1">
          <a:extLst xmlns:a="http://schemas.openxmlformats.org/drawingml/2006/main">
            <a:ext uri="{FF2B5EF4-FFF2-40B4-BE49-F238E27FC236}">
              <a16:creationId xmlns:a16="http://schemas.microsoft.com/office/drawing/2014/main" id="{76963739-2393-7092-CDD2-CD094A07C8C9}"/>
            </a:ext>
          </a:extLst>
        </cdr:cNvPr>
        <cdr:cNvSpPr/>
      </cdr:nvSpPr>
      <cdr:spPr>
        <a:xfrm xmlns:a="http://schemas.openxmlformats.org/drawingml/2006/main">
          <a:off x="3148328" y="90488"/>
          <a:ext cx="838200" cy="228600"/>
        </a:xfrm>
        <a:prstGeom xmlns:a="http://schemas.openxmlformats.org/drawingml/2006/main" prst="rect">
          <a:avLst/>
        </a:prstGeom>
        <a:solidFill xmlns:a="http://schemas.openxmlformats.org/drawingml/2006/main">
          <a:srgbClr val="FF0000"/>
        </a:solidFill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defPPr>
            <a:defRPr lang="en-US"/>
          </a:defPPr>
          <a:lvl1pPr marL="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endParaRPr lang="en-US" dirty="0"/>
        </a:p>
      </cdr:txBody>
    </cdr:sp>
  </cdr:relSizeAnchor>
</c:userShapes>
</file>

<file path=ppt/drawings/drawing3.xml><?xml version="1.0" encoding="utf-8"?>
<c:userShapes xmlns:c="http://schemas.openxmlformats.org/drawingml/2006/chart">
  <cdr:relSizeAnchor xmlns:cdr="http://schemas.openxmlformats.org/drawingml/2006/chartDrawing">
    <cdr:from>
      <cdr:x>0.76485</cdr:x>
      <cdr:y>0.03436</cdr:y>
    </cdr:from>
    <cdr:to>
      <cdr:x>0.96485</cdr:x>
      <cdr:y>0.11745</cdr:y>
    </cdr:to>
    <cdr:sp macro="" textlink="">
      <cdr:nvSpPr>
        <cdr:cNvPr id="2" name="Rectangle 1">
          <a:extLst xmlns:a="http://schemas.openxmlformats.org/drawingml/2006/main">
            <a:ext uri="{FF2B5EF4-FFF2-40B4-BE49-F238E27FC236}">
              <a16:creationId xmlns:a16="http://schemas.microsoft.com/office/drawing/2014/main" id="{6008FE4E-79ED-C702-D4BF-E5F1B80A9CC8}"/>
            </a:ext>
          </a:extLst>
        </cdr:cNvPr>
        <cdr:cNvSpPr/>
      </cdr:nvSpPr>
      <cdr:spPr>
        <a:xfrm xmlns:a="http://schemas.openxmlformats.org/drawingml/2006/main">
          <a:off x="3205480" y="94529"/>
          <a:ext cx="838200" cy="228600"/>
        </a:xfrm>
        <a:prstGeom xmlns:a="http://schemas.openxmlformats.org/drawingml/2006/main" prst="rect">
          <a:avLst/>
        </a:prstGeom>
        <a:solidFill xmlns:a="http://schemas.openxmlformats.org/drawingml/2006/main">
          <a:srgbClr val="0070C0"/>
        </a:solidFill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defPPr>
            <a:defRPr lang="en-US"/>
          </a:defPPr>
          <a:lvl1pPr marL="0" indent="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endParaRPr lang="en-US" dirty="0"/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B4C841-5068-4EA4-AA8C-DAD377786DB9}" type="datetimeFigureOut">
              <a:rPr lang="en-US" smtClean="0"/>
              <a:t>2/27/2025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11AB08-AA0C-494A-9CBE-C5E2A3C1AD1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06117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11AB08-AA0C-494A-9CBE-C5E2A3C1AD1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63538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11AB08-AA0C-494A-9CBE-C5E2A3C1AD17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67497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C60ACF-866B-1C1F-C2EE-DBF221605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7CD675-A297-311F-CC89-9190AAB2F2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D88CF6-809C-AB79-EB6F-8B62664766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F0143C-E091-F455-33E9-5AD1C5CD2B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11AB08-AA0C-494A-9CBE-C5E2A3C1AD17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42917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41E0FF-D070-8A8E-34D2-9E40656A0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3C34E3-C9EC-C995-CA22-8D4F5B740E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CE8E54-2971-E5F5-13A7-060350330A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7A1084-4110-FD7A-E0FE-A216895956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11AB08-AA0C-494A-9CBE-C5E2A3C1AD17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27426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A31C3-46BB-C221-2D63-B9C0A9227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2F4E43-C2B3-2442-0B39-EDFFBF8F86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D31C94-6606-2A78-39C3-A9769514C9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46557C-C71E-614B-A243-EA864026B0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11AB08-AA0C-494A-9CBE-C5E2A3C1AD17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602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4B4B9-C0D0-3133-B8EE-C7834A91F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5E5404-DBF9-F530-1C36-42390B431C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BC952B-E3F5-4DE3-6DBB-705905E6C5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185D20-AAA3-D3FA-91E0-25BDC1E425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11AB08-AA0C-494A-9CBE-C5E2A3C1AD17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49529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68864D-E16C-2841-4D2D-EB1B74BA9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B977D4-DC2C-B8AA-E3B2-F05D5F67F0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889F5C-C9AF-65B7-27D9-248F069FA8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084FA7-FF4C-B5E9-9E35-FC3AA2EDA8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11AB08-AA0C-494A-9CBE-C5E2A3C1AD17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89364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4B1689-B14A-2B26-D61E-534B175E6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875A00-6247-E02B-6814-49399E23E1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8A22AE-8A8A-36BA-DB39-5380704205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4DCD83-16AD-B64D-2DA5-499A953B8F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11AB08-AA0C-494A-9CBE-C5E2A3C1AD17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39152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11AB08-AA0C-494A-9CBE-C5E2A3C1AD17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97436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555B7-F0CD-DD7E-4100-01B0D85E9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468225-F55C-940D-1E11-375DB63222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19421D-BC5D-019C-0266-BBC150E0CB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A0C74A-518C-6877-61DB-D3BCBAB068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11AB08-AA0C-494A-9CBE-C5E2A3C1AD17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883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4FF148-BB13-FECC-0ACC-F93AD9B36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BB391A-431D-49C4-6B94-DC2B8E1E36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ABFFFF-D02C-54CC-EA1F-F5E62C0881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7B9114-5610-A8AA-3347-2E47228A60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11AB08-AA0C-494A-9CBE-C5E2A3C1AD17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67670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9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TOYOTA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8CA97-F2C6-465B-8C78-933A13A42472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8CA97-F2C6-465B-8C78-933A13A42472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4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8CA97-F2C6-465B-8C78-933A13A42472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4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4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8CA97-F2C6-465B-8C78-933A13A42472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8CA97-F2C6-465B-8C78-933A13A42472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8CA97-F2C6-465B-8C78-933A13A42472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ANKIT SAKLANI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8CA97-F2C6-465B-8C78-933A13A42472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4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8CA97-F2C6-465B-8C78-933A13A42472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8CA97-F2C6-465B-8C78-933A13A42472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8CA97-F2C6-465B-8C78-933A13A42472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2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2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8CA97-F2C6-465B-8C78-933A13A42472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94074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見出し2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テキスト プレースホルダー 2">
            <a:extLst>
              <a:ext uri="{FF2B5EF4-FFF2-40B4-BE49-F238E27FC236}">
                <a16:creationId xmlns:a16="http://schemas.microsoft.com/office/drawing/2014/main" id="{D42A23B6-0D29-974B-B01F-037DD6CAC3D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32308" y="306000"/>
            <a:ext cx="8480492" cy="612000"/>
          </a:xfrm>
          <a:prstGeom prst="rect">
            <a:avLst/>
          </a:prstGeom>
        </p:spPr>
        <p:txBody>
          <a:bodyPr anchor="t" anchorCtr="0"/>
          <a:lstStyle>
            <a:lvl1pPr marL="0" marR="0" indent="0" algn="l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lang="ja-JP" altLang="en-US" sz="15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  <a:lvl2pPr marL="342891" indent="0">
              <a:spcBef>
                <a:spcPts val="375"/>
              </a:spcBef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2pPr>
            <a:lvl3pPr marL="685783" indent="0">
              <a:spcBef>
                <a:spcPts val="375"/>
              </a:spcBef>
              <a:buNone/>
              <a:defRPr sz="9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3pPr>
            <a:lvl4pPr marL="1028674" indent="0">
              <a:spcBef>
                <a:spcPts val="375"/>
              </a:spcBef>
              <a:buNone/>
              <a:defRPr sz="788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4pPr>
            <a:lvl5pPr marL="1371566" indent="0">
              <a:spcBef>
                <a:spcPts val="375"/>
              </a:spcBef>
              <a:buNone/>
              <a:defRPr sz="675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5pPr>
          </a:lstStyle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5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rPr>
              <a:t>ページ見出し</a:t>
            </a:r>
            <a:r>
              <a:rPr kumimoji="1" lang="en-US" altLang="ja-JP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rPr>
              <a:t> 2</a:t>
            </a:r>
            <a:r>
              <a:rPr kumimoji="1" lang="ja-JP" altLang="en-US" sz="15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rPr>
              <a:t>行</a:t>
            </a:r>
            <a:r>
              <a:rPr kumimoji="1" lang="en-US" altLang="ja-JP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rPr>
              <a:t> </a:t>
            </a:r>
            <a:r>
              <a:rPr kumimoji="1" lang="ja-JP" altLang="en-US" sz="15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rPr>
              <a:t>メイリオ</a:t>
            </a:r>
            <a:r>
              <a:rPr kumimoji="1" lang="en-US" altLang="ja-JP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rPr>
              <a:t>20pt</a:t>
            </a:r>
            <a:endParaRPr kumimoji="1" lang="ja-JP" altLang="en-US" sz="1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  <a:cs typeface="+mn-cs"/>
            </a:endParaRPr>
          </a:p>
        </p:txBody>
      </p:sp>
      <p:sp>
        <p:nvSpPr>
          <p:cNvPr id="6" name="テキスト プレースホルダー 2">
            <a:extLst>
              <a:ext uri="{FF2B5EF4-FFF2-40B4-BE49-F238E27FC236}">
                <a16:creationId xmlns:a16="http://schemas.microsoft.com/office/drawing/2014/main" id="{D36865C0-32FD-6041-BDCE-3C31AE2B383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2308" y="1098000"/>
            <a:ext cx="8480492" cy="53064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351" b="1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  <a:lvl2pPr marL="342891" indent="0">
              <a:spcBef>
                <a:spcPts val="375"/>
              </a:spcBef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2pPr>
            <a:lvl3pPr marL="685783" indent="0">
              <a:spcBef>
                <a:spcPts val="375"/>
              </a:spcBef>
              <a:buNone/>
              <a:defRPr sz="9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3pPr>
            <a:lvl4pPr marL="1028674" indent="0">
              <a:spcBef>
                <a:spcPts val="375"/>
              </a:spcBef>
              <a:buNone/>
              <a:defRPr sz="788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4pPr>
            <a:lvl5pPr marL="1371566" indent="0">
              <a:spcBef>
                <a:spcPts val="375"/>
              </a:spcBef>
              <a:buNone/>
              <a:defRPr sz="675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5pPr>
          </a:lstStyle>
          <a:p>
            <a:pPr lvl="0"/>
            <a:r>
              <a:rPr kumimoji="1" lang="ja-JP" altLang="en-US"/>
              <a:t>本文</a:t>
            </a:r>
            <a:r>
              <a:rPr kumimoji="1" lang="en-US" altLang="ja-JP" dirty="0"/>
              <a:t> </a:t>
            </a:r>
            <a:r>
              <a:rPr kumimoji="1" lang="ja-JP" altLang="en-US"/>
              <a:t>メイリオ</a:t>
            </a:r>
            <a:r>
              <a:rPr kumimoji="1" lang="en-US" altLang="ja-JP" dirty="0"/>
              <a:t>18pt</a:t>
            </a:r>
            <a:endParaRPr kumimoji="1" lang="ja-JP" altLang="en-US" dirty="0"/>
          </a:p>
        </p:txBody>
      </p:sp>
      <p:sp>
        <p:nvSpPr>
          <p:cNvPr id="2" name="日付プレースホルダー 1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C5A8CEA9-5C7F-414C-9A9B-A62FE33E9582}" type="datetime4">
              <a:rPr lang="en-US" altLang="ja-JP" smtClean="0"/>
              <a:t>February 27, 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89580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C3635-136E-FE84-4A56-7DCE03DE1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8B625A-117F-94C5-798E-43FB4195C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ABAC5C-2FB7-4F07-7E86-2A15B2920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16BD9C-B2CC-4D16-00EB-6DDB55BA3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8CA97-F2C6-465B-8C78-933A13A4247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0204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4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4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B8CA97-F2C6-465B-8C78-933A13A42472}" type="slidenum">
              <a:rPr lang="en-US" smtClean="0"/>
              <a:pPr/>
              <a:t>‹#›</a:t>
            </a:fld>
            <a:r>
              <a:rPr lang="en-US" dirty="0"/>
              <a:t>TOYOTA</a:t>
            </a:r>
          </a:p>
          <a:p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hdr="0" ftr="0" dt="0"/>
  <p:txStyles>
    <p:titleStyle>
      <a:lvl1pPr algn="ctr" defTabSz="914377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1" indent="-342891" algn="l" defTabSz="914377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2" indent="-285744" algn="l" defTabSz="914377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228600" y="152400"/>
            <a:ext cx="8686800" cy="381000"/>
            <a:chOff x="144" y="576"/>
            <a:chExt cx="5472" cy="288"/>
          </a:xfrm>
        </p:grpSpPr>
        <p:sp>
          <p:nvSpPr>
            <p:cNvPr id="2053" name="AutoShape 5"/>
            <p:cNvSpPr>
              <a:spLocks noChangeArrowheads="1"/>
            </p:cNvSpPr>
            <p:nvPr/>
          </p:nvSpPr>
          <p:spPr bwMode="auto">
            <a:xfrm>
              <a:off x="144" y="576"/>
              <a:ext cx="1152" cy="288"/>
            </a:xfrm>
            <a:prstGeom prst="chevron">
              <a:avLst>
                <a:gd name="adj" fmla="val 100000"/>
              </a:avLst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sz="1200" dirty="0">
                  <a:solidFill>
                    <a:srgbClr val="000000"/>
                  </a:solidFill>
                  <a:latin typeface="Verdana" pitchFamily="34" charset="0"/>
                </a:rPr>
                <a:t>     DEFINE</a:t>
              </a:r>
            </a:p>
          </p:txBody>
        </p:sp>
        <p:sp>
          <p:nvSpPr>
            <p:cNvPr id="2054" name="AutoShape 6"/>
            <p:cNvSpPr>
              <a:spLocks noChangeArrowheads="1"/>
            </p:cNvSpPr>
            <p:nvPr/>
          </p:nvSpPr>
          <p:spPr bwMode="auto">
            <a:xfrm>
              <a:off x="1200" y="576"/>
              <a:ext cx="1152" cy="288"/>
            </a:xfrm>
            <a:prstGeom prst="chevron">
              <a:avLst>
                <a:gd name="adj" fmla="val 10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sz="1200" dirty="0">
                  <a:solidFill>
                    <a:srgbClr val="000000"/>
                  </a:solidFill>
                  <a:latin typeface="Verdana" pitchFamily="34" charset="0"/>
                </a:rPr>
                <a:t>      MEASURE</a:t>
              </a:r>
            </a:p>
          </p:txBody>
        </p:sp>
        <p:sp>
          <p:nvSpPr>
            <p:cNvPr id="2055" name="AutoShape 7"/>
            <p:cNvSpPr>
              <a:spLocks noChangeArrowheads="1"/>
            </p:cNvSpPr>
            <p:nvPr/>
          </p:nvSpPr>
          <p:spPr bwMode="auto">
            <a:xfrm>
              <a:off x="2256" y="576"/>
              <a:ext cx="1152" cy="288"/>
            </a:xfrm>
            <a:prstGeom prst="chevron">
              <a:avLst>
                <a:gd name="adj" fmla="val 10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sz="1200" dirty="0">
                  <a:solidFill>
                    <a:srgbClr val="000000"/>
                  </a:solidFill>
                  <a:latin typeface="Verdana" pitchFamily="34" charset="0"/>
                </a:rPr>
                <a:t>     ANALYZE</a:t>
              </a:r>
            </a:p>
          </p:txBody>
        </p:sp>
        <p:sp>
          <p:nvSpPr>
            <p:cNvPr id="2056" name="AutoShape 8"/>
            <p:cNvSpPr>
              <a:spLocks noChangeArrowheads="1"/>
            </p:cNvSpPr>
            <p:nvPr/>
          </p:nvSpPr>
          <p:spPr bwMode="auto">
            <a:xfrm>
              <a:off x="3360" y="576"/>
              <a:ext cx="1152" cy="288"/>
            </a:xfrm>
            <a:prstGeom prst="chevron">
              <a:avLst>
                <a:gd name="adj" fmla="val 10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sz="1200" dirty="0">
                  <a:solidFill>
                    <a:srgbClr val="000000"/>
                  </a:solidFill>
                  <a:latin typeface="Verdana" pitchFamily="34" charset="0"/>
                </a:rPr>
                <a:t>     IMPROVE</a:t>
              </a:r>
            </a:p>
          </p:txBody>
        </p:sp>
        <p:sp>
          <p:nvSpPr>
            <p:cNvPr id="2057" name="AutoShape 9"/>
            <p:cNvSpPr>
              <a:spLocks noChangeArrowheads="1"/>
            </p:cNvSpPr>
            <p:nvPr/>
          </p:nvSpPr>
          <p:spPr bwMode="auto">
            <a:xfrm>
              <a:off x="4464" y="576"/>
              <a:ext cx="1152" cy="288"/>
            </a:xfrm>
            <a:prstGeom prst="chevron">
              <a:avLst>
                <a:gd name="adj" fmla="val 10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sz="1200" dirty="0">
                  <a:solidFill>
                    <a:srgbClr val="000000"/>
                  </a:solidFill>
                  <a:latin typeface="Verdana" pitchFamily="34" charset="0"/>
                </a:rPr>
                <a:t>      CONTROL</a:t>
              </a:r>
            </a:p>
          </p:txBody>
        </p:sp>
      </p:grpSp>
      <p:sp>
        <p:nvSpPr>
          <p:cNvPr id="2062" name="Line 14"/>
          <p:cNvSpPr>
            <a:spLocks noChangeShapeType="1"/>
          </p:cNvSpPr>
          <p:nvPr/>
        </p:nvSpPr>
        <p:spPr bwMode="auto">
          <a:xfrm>
            <a:off x="4495800" y="609600"/>
            <a:ext cx="0" cy="60198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dirty="0"/>
          </a:p>
        </p:txBody>
      </p:sp>
      <p:sp>
        <p:nvSpPr>
          <p:cNvPr id="2063" name="Line 15"/>
          <p:cNvSpPr>
            <a:spLocks noChangeShapeType="1"/>
          </p:cNvSpPr>
          <p:nvPr/>
        </p:nvSpPr>
        <p:spPr bwMode="auto">
          <a:xfrm>
            <a:off x="76200" y="3505200"/>
            <a:ext cx="89154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dirty="0"/>
          </a:p>
        </p:txBody>
      </p:sp>
      <p:sp>
        <p:nvSpPr>
          <p:cNvPr id="2064" name="Text Box 16"/>
          <p:cNvSpPr txBox="1">
            <a:spLocks noChangeArrowheads="1"/>
          </p:cNvSpPr>
          <p:nvPr/>
        </p:nvSpPr>
        <p:spPr bwMode="auto">
          <a:xfrm>
            <a:off x="4483770" y="606192"/>
            <a:ext cx="4507833" cy="22894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1200" b="1" dirty="0">
                <a:solidFill>
                  <a:srgbClr val="000000"/>
                </a:solidFill>
                <a:latin typeface="Verdana" pitchFamily="34" charset="0"/>
              </a:rPr>
              <a:t>MASTER BLACK BELT : MR. ALOK SHARMA</a:t>
            </a:r>
          </a:p>
          <a:p>
            <a:pPr eaLnBrk="0" hangingPunct="0">
              <a:spcBef>
                <a:spcPct val="50000"/>
              </a:spcBef>
            </a:pPr>
            <a:r>
              <a:rPr lang="en-US" sz="1200" b="1" dirty="0">
                <a:solidFill>
                  <a:srgbClr val="000000"/>
                </a:solidFill>
                <a:latin typeface="Verdana" pitchFamily="34" charset="0"/>
              </a:rPr>
              <a:t>CHAMPION : MR. LATESH GOYAL (PLANT HEAD)</a:t>
            </a:r>
          </a:p>
          <a:p>
            <a:pPr eaLnBrk="0" hangingPunct="0">
              <a:spcBef>
                <a:spcPct val="50000"/>
              </a:spcBef>
            </a:pPr>
            <a:r>
              <a:rPr lang="en-US" sz="1200" b="1" dirty="0">
                <a:solidFill>
                  <a:srgbClr val="000000"/>
                </a:solidFill>
                <a:latin typeface="Verdana" pitchFamily="34" charset="0"/>
              </a:rPr>
              <a:t>GREEN BELT : ANKIT SAKLANI, GAURAV SHARMA, ANKIT (Project Leader)</a:t>
            </a:r>
          </a:p>
          <a:p>
            <a:pPr eaLnBrk="0" hangingPunct="0">
              <a:spcBef>
                <a:spcPct val="50000"/>
              </a:spcBef>
            </a:pPr>
            <a:r>
              <a:rPr lang="en-US" sz="1151" b="1" dirty="0">
                <a:solidFill>
                  <a:srgbClr val="000000"/>
                </a:solidFill>
                <a:latin typeface="Verdana" pitchFamily="34" charset="0"/>
              </a:rPr>
              <a:t>COMPANY : TOYOTA BOSHOKU DEVICE INDIA PVT LTD.</a:t>
            </a:r>
          </a:p>
          <a:p>
            <a:pPr eaLnBrk="0" hangingPunct="0">
              <a:spcBef>
                <a:spcPct val="50000"/>
              </a:spcBef>
            </a:pPr>
            <a:r>
              <a:rPr lang="en-US" sz="1200" b="1" dirty="0">
                <a:solidFill>
                  <a:srgbClr val="000000"/>
                </a:solidFill>
                <a:latin typeface="Verdana" pitchFamily="34" charset="0"/>
              </a:rPr>
              <a:t>BUSINESS : SEAT SLIDER, SEAT RECLINER</a:t>
            </a:r>
          </a:p>
          <a:p>
            <a:pPr eaLnBrk="0" hangingPunct="0">
              <a:spcBef>
                <a:spcPct val="50000"/>
              </a:spcBef>
            </a:pPr>
            <a:r>
              <a:rPr lang="en-US" sz="1200" b="1" dirty="0">
                <a:solidFill>
                  <a:srgbClr val="000000"/>
                </a:solidFill>
                <a:latin typeface="Verdana" pitchFamily="34" charset="0"/>
              </a:rPr>
              <a:t>SUPPORT TEAM MEMBERS :</a:t>
            </a:r>
          </a:p>
          <a:p>
            <a:pPr eaLnBrk="0" hangingPunct="0">
              <a:spcBef>
                <a:spcPct val="50000"/>
              </a:spcBef>
            </a:pPr>
            <a:endParaRPr lang="en-US" sz="1200" b="1" dirty="0">
              <a:solidFill>
                <a:srgbClr val="000000"/>
              </a:solidFill>
              <a:latin typeface="Verdana" pitchFamily="34" charset="0"/>
            </a:endParaRPr>
          </a:p>
        </p:txBody>
      </p:sp>
      <p:sp>
        <p:nvSpPr>
          <p:cNvPr id="2065" name="Text Box 17"/>
          <p:cNvSpPr txBox="1">
            <a:spLocks noChangeArrowheads="1"/>
          </p:cNvSpPr>
          <p:nvPr/>
        </p:nvSpPr>
        <p:spPr bwMode="auto">
          <a:xfrm>
            <a:off x="228600" y="685800"/>
            <a:ext cx="4191000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1200" b="1" dirty="0">
                <a:solidFill>
                  <a:srgbClr val="000000"/>
                </a:solidFill>
                <a:latin typeface="Verdana" pitchFamily="34" charset="0"/>
              </a:rPr>
              <a:t>PROBLEM STATEMENT</a:t>
            </a:r>
          </a:p>
          <a:p>
            <a:pPr eaLnBrk="0" hangingPunct="0">
              <a:spcBef>
                <a:spcPct val="50000"/>
              </a:spcBef>
            </a:pPr>
            <a:r>
              <a:rPr lang="en-US" sz="1200" b="1" dirty="0">
                <a:solidFill>
                  <a:srgbClr val="000000"/>
                </a:solidFill>
                <a:latin typeface="Verdana" pitchFamily="34" charset="0"/>
              </a:rPr>
              <a:t>BIG Y: BALL GUIDE CONSUMPTION NOT MANAGED AS PER PLANNING</a:t>
            </a:r>
            <a:endParaRPr lang="en-US" sz="1600" b="1" dirty="0">
              <a:solidFill>
                <a:srgbClr val="000000"/>
              </a:solidFill>
              <a:latin typeface="Verdana" pitchFamily="34" charset="0"/>
            </a:endParaRPr>
          </a:p>
        </p:txBody>
      </p:sp>
      <p:sp>
        <p:nvSpPr>
          <p:cNvPr id="2066" name="Text Box 18"/>
          <p:cNvSpPr txBox="1">
            <a:spLocks noChangeArrowheads="1"/>
          </p:cNvSpPr>
          <p:nvPr/>
        </p:nvSpPr>
        <p:spPr bwMode="auto">
          <a:xfrm>
            <a:off x="152400" y="3733801"/>
            <a:ext cx="4191000" cy="1292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1200" b="1" dirty="0">
                <a:solidFill>
                  <a:srgbClr val="000000"/>
                </a:solidFill>
                <a:latin typeface="Verdana" pitchFamily="34" charset="0"/>
              </a:rPr>
              <a:t>TARGET:- </a:t>
            </a:r>
          </a:p>
          <a:p>
            <a:pPr eaLnBrk="0" hangingPunct="0">
              <a:spcBef>
                <a:spcPct val="50000"/>
              </a:spcBef>
            </a:pPr>
            <a:r>
              <a:rPr lang="en-US" sz="1200" dirty="0">
                <a:solidFill>
                  <a:srgbClr val="000000"/>
                </a:solidFill>
                <a:latin typeface="Verdana" pitchFamily="34" charset="0"/>
              </a:rPr>
              <a:t>BALL GUIDE DOES NOT CHANGE EVEN UPPER &amp; LOWER RAIL CHANGE</a:t>
            </a:r>
          </a:p>
          <a:p>
            <a:pPr eaLnBrk="0" hangingPunct="0">
              <a:spcBef>
                <a:spcPct val="50000"/>
              </a:spcBef>
            </a:pPr>
            <a:r>
              <a:rPr lang="en-US" sz="1200" dirty="0">
                <a:solidFill>
                  <a:srgbClr val="000000"/>
                </a:solidFill>
                <a:latin typeface="Verdana" pitchFamily="34" charset="0"/>
              </a:rPr>
              <a:t>SIGMA LEVEL INCREASE –  Min. 1 SIGMA</a:t>
            </a:r>
          </a:p>
          <a:p>
            <a:pPr eaLnBrk="0" hangingPunct="0">
              <a:spcBef>
                <a:spcPct val="50000"/>
              </a:spcBef>
            </a:pPr>
            <a:r>
              <a:rPr lang="en-US" sz="1200" dirty="0">
                <a:solidFill>
                  <a:srgbClr val="000000"/>
                </a:solidFill>
                <a:latin typeface="Verdana" pitchFamily="34" charset="0"/>
              </a:rPr>
              <a:t>CURRENT SIGMA- </a:t>
            </a:r>
          </a:p>
        </p:txBody>
      </p:sp>
      <p:sp>
        <p:nvSpPr>
          <p:cNvPr id="2068" name="Text Box 20"/>
          <p:cNvSpPr txBox="1">
            <a:spLocks noChangeArrowheads="1"/>
          </p:cNvSpPr>
          <p:nvPr/>
        </p:nvSpPr>
        <p:spPr bwMode="auto">
          <a:xfrm>
            <a:off x="4724400" y="3669714"/>
            <a:ext cx="4191000" cy="22159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1200" b="1" dirty="0">
                <a:solidFill>
                  <a:srgbClr val="000000"/>
                </a:solidFill>
                <a:latin typeface="Verdana" pitchFamily="34" charset="0"/>
              </a:rPr>
              <a:t>ACTION START  : 09/12/2024</a:t>
            </a:r>
          </a:p>
          <a:p>
            <a:pPr eaLnBrk="0" hangingPunct="0">
              <a:spcBef>
                <a:spcPct val="50000"/>
              </a:spcBef>
            </a:pPr>
            <a:r>
              <a:rPr lang="en-US" sz="1200" b="1" dirty="0">
                <a:solidFill>
                  <a:srgbClr val="000000"/>
                </a:solidFill>
                <a:latin typeface="Verdana" pitchFamily="34" charset="0"/>
              </a:rPr>
              <a:t>MEASURE: &gt;&gt; 18/12/24 TO 17/01/25</a:t>
            </a:r>
          </a:p>
          <a:p>
            <a:pPr eaLnBrk="0" hangingPunct="0">
              <a:spcBef>
                <a:spcPct val="50000"/>
              </a:spcBef>
            </a:pPr>
            <a:r>
              <a:rPr lang="en-US" sz="1200" b="1" dirty="0">
                <a:solidFill>
                  <a:srgbClr val="000000"/>
                </a:solidFill>
                <a:latin typeface="Verdana" pitchFamily="34" charset="0"/>
              </a:rPr>
              <a:t>ANALYSE: &gt;&gt;  18/01/25 TO 23/02/25</a:t>
            </a:r>
          </a:p>
          <a:p>
            <a:pPr eaLnBrk="0" hangingPunct="0">
              <a:spcBef>
                <a:spcPct val="50000"/>
              </a:spcBef>
            </a:pPr>
            <a:r>
              <a:rPr lang="en-US" sz="1200" b="1" dirty="0">
                <a:solidFill>
                  <a:srgbClr val="000000"/>
                </a:solidFill>
                <a:latin typeface="Verdana" pitchFamily="34" charset="0"/>
              </a:rPr>
              <a:t>IMPROVE: &gt;&gt;  24/02/25 TO </a:t>
            </a:r>
          </a:p>
          <a:p>
            <a:pPr eaLnBrk="0" hangingPunct="0">
              <a:spcBef>
                <a:spcPct val="50000"/>
              </a:spcBef>
            </a:pPr>
            <a:r>
              <a:rPr lang="en-US" sz="1200" b="1" dirty="0">
                <a:solidFill>
                  <a:srgbClr val="000000"/>
                </a:solidFill>
                <a:latin typeface="Verdana" pitchFamily="34" charset="0"/>
              </a:rPr>
              <a:t>CONTROL: &gt;&gt;</a:t>
            </a:r>
          </a:p>
          <a:p>
            <a:pPr eaLnBrk="0" hangingPunct="0">
              <a:spcBef>
                <a:spcPct val="50000"/>
              </a:spcBef>
            </a:pPr>
            <a:r>
              <a:rPr lang="en-US" sz="1200" b="1" dirty="0">
                <a:solidFill>
                  <a:srgbClr val="000000"/>
                </a:solidFill>
                <a:latin typeface="Verdana" pitchFamily="34" charset="0"/>
              </a:rPr>
              <a:t>PROJECT TENTATIVE END DATE     : </a:t>
            </a:r>
          </a:p>
          <a:p>
            <a:pPr eaLnBrk="0" hangingPunct="0">
              <a:spcBef>
                <a:spcPct val="50000"/>
              </a:spcBef>
            </a:pPr>
            <a:endParaRPr lang="en-US" sz="1200" b="1" dirty="0">
              <a:solidFill>
                <a:srgbClr val="000000"/>
              </a:solidFill>
              <a:latin typeface="Verdana" pitchFamily="34" charset="0"/>
            </a:endParaRPr>
          </a:p>
          <a:p>
            <a:pPr eaLnBrk="0" hangingPunct="0">
              <a:spcBef>
                <a:spcPct val="50000"/>
              </a:spcBef>
            </a:pPr>
            <a:endParaRPr lang="en-US" sz="1200" b="1" dirty="0">
              <a:solidFill>
                <a:srgbClr val="000000"/>
              </a:solidFill>
              <a:latin typeface="Verdana" pitchFamily="34" charset="0"/>
            </a:endParaRPr>
          </a:p>
        </p:txBody>
      </p:sp>
      <p:sp>
        <p:nvSpPr>
          <p:cNvPr id="2069" name="Text Box 21"/>
          <p:cNvSpPr txBox="1">
            <a:spLocks noChangeArrowheads="1"/>
          </p:cNvSpPr>
          <p:nvPr/>
        </p:nvSpPr>
        <p:spPr bwMode="auto">
          <a:xfrm>
            <a:off x="4724400" y="5715002"/>
            <a:ext cx="4191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buFontTx/>
              <a:buChar char="-"/>
            </a:pPr>
            <a:endParaRPr lang="en-IN" sz="1600" b="1" dirty="0">
              <a:solidFill>
                <a:srgbClr val="000000"/>
              </a:solidFill>
              <a:latin typeface="Verdana" pitchFamily="34" charset="0"/>
            </a:endParaRPr>
          </a:p>
        </p:txBody>
      </p:sp>
      <p:sp>
        <p:nvSpPr>
          <p:cNvPr id="2070" name="Text Box 22"/>
          <p:cNvSpPr txBox="1">
            <a:spLocks noChangeArrowheads="1"/>
          </p:cNvSpPr>
          <p:nvPr/>
        </p:nvSpPr>
        <p:spPr bwMode="auto">
          <a:xfrm>
            <a:off x="228600" y="2667000"/>
            <a:ext cx="4191000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1200" b="1" dirty="0">
                <a:solidFill>
                  <a:srgbClr val="000000"/>
                </a:solidFill>
                <a:latin typeface="Verdana" pitchFamily="34" charset="0"/>
              </a:rPr>
              <a:t>CRITICAL TO  (QUALITY,COST,DELIVERY, SATISFACTION OF CUSTOMER)  :-</a:t>
            </a:r>
          </a:p>
          <a:p>
            <a:pPr eaLnBrk="0" hangingPunct="0">
              <a:spcBef>
                <a:spcPct val="50000"/>
              </a:spcBef>
            </a:pPr>
            <a:r>
              <a:rPr lang="en-US" sz="1200" dirty="0">
                <a:solidFill>
                  <a:srgbClr val="000000"/>
                </a:solidFill>
                <a:latin typeface="Verdana" pitchFamily="34" charset="0"/>
              </a:rPr>
              <a:t>CRITICAL TO QUALITY / CRITICAL TO COST</a:t>
            </a:r>
          </a:p>
        </p:txBody>
      </p:sp>
      <p:sp>
        <p:nvSpPr>
          <p:cNvPr id="2071" name="Text Box 23"/>
          <p:cNvSpPr txBox="1">
            <a:spLocks noChangeArrowheads="1"/>
          </p:cNvSpPr>
          <p:nvPr/>
        </p:nvSpPr>
        <p:spPr bwMode="auto">
          <a:xfrm>
            <a:off x="152400" y="5043610"/>
            <a:ext cx="4343400" cy="16619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342891" indent="-342891" eaLnBrk="0" hangingPunct="0">
              <a:spcBef>
                <a:spcPct val="50000"/>
              </a:spcBef>
            </a:pPr>
            <a:r>
              <a:rPr lang="en-US" sz="1200" b="1" dirty="0">
                <a:solidFill>
                  <a:srgbClr val="000000"/>
                </a:solidFill>
                <a:latin typeface="Verdana" pitchFamily="34" charset="0"/>
              </a:rPr>
              <a:t>COPQ CALCULATION;</a:t>
            </a:r>
          </a:p>
          <a:p>
            <a:pPr marL="342891" indent="-342891" eaLnBrk="0" hangingPunct="0">
              <a:spcBef>
                <a:spcPct val="50000"/>
              </a:spcBef>
            </a:pPr>
            <a:r>
              <a:rPr lang="en-US" sz="1200" dirty="0">
                <a:solidFill>
                  <a:srgbClr val="000000"/>
                </a:solidFill>
                <a:latin typeface="Verdana" pitchFamily="34" charset="0"/>
              </a:rPr>
              <a:t>PRODUCTION /DAY 	   : 25000 nos.</a:t>
            </a:r>
          </a:p>
          <a:p>
            <a:pPr marL="342891" indent="-342891" eaLnBrk="0" hangingPunct="0">
              <a:spcBef>
                <a:spcPct val="50000"/>
              </a:spcBef>
            </a:pPr>
            <a:r>
              <a:rPr lang="en-US" sz="1200" dirty="0">
                <a:solidFill>
                  <a:srgbClr val="000000"/>
                </a:solidFill>
                <a:latin typeface="Verdana" pitchFamily="34" charset="0"/>
              </a:rPr>
              <a:t>BALL GUIDE USE/ DAY       : 100000 nos.</a:t>
            </a:r>
          </a:p>
          <a:p>
            <a:pPr marL="342891" indent="-342891" eaLnBrk="0" hangingPunct="0">
              <a:spcBef>
                <a:spcPct val="50000"/>
              </a:spcBef>
            </a:pPr>
            <a:r>
              <a:rPr lang="en-US" sz="1200" dirty="0">
                <a:solidFill>
                  <a:srgbClr val="000000"/>
                </a:solidFill>
                <a:latin typeface="Verdana" pitchFamily="34" charset="0"/>
              </a:rPr>
              <a:t>COST OF 1 BALL GUIDE    : </a:t>
            </a:r>
            <a:r>
              <a:rPr lang="en-US" sz="1200" dirty="0">
                <a:solidFill>
                  <a:srgbClr val="71777D"/>
                </a:solidFill>
                <a:latin typeface="Roboto" panose="02000000000000000000" pitchFamily="2" charset="0"/>
              </a:rPr>
              <a:t>₹ </a:t>
            </a:r>
            <a:r>
              <a:rPr lang="en-US" sz="1200" dirty="0">
                <a:solidFill>
                  <a:srgbClr val="000000"/>
                </a:solidFill>
                <a:latin typeface="Verdana" pitchFamily="34" charset="0"/>
              </a:rPr>
              <a:t>2.73 </a:t>
            </a:r>
          </a:p>
          <a:p>
            <a:pPr marL="342891" indent="-342891" eaLnBrk="0" hangingPunct="0">
              <a:spcBef>
                <a:spcPct val="50000"/>
              </a:spcBef>
            </a:pPr>
            <a:r>
              <a:rPr lang="en-US" sz="1200" dirty="0">
                <a:solidFill>
                  <a:srgbClr val="000000"/>
                </a:solidFill>
                <a:latin typeface="Verdana" pitchFamily="34" charset="0"/>
              </a:rPr>
              <a:t>NO OF DAYS OF EXCESS INVENTORY : 15 DAYS</a:t>
            </a:r>
          </a:p>
          <a:p>
            <a:pPr marL="342891" indent="-342891" eaLnBrk="0" hangingPunct="0">
              <a:spcBef>
                <a:spcPct val="50000"/>
              </a:spcBef>
            </a:pPr>
            <a:r>
              <a:rPr lang="en-US" sz="1200" dirty="0">
                <a:solidFill>
                  <a:srgbClr val="000000"/>
                </a:solidFill>
                <a:latin typeface="Verdana" pitchFamily="34" charset="0"/>
              </a:rPr>
              <a:t>COST TO COMPANY	   : </a:t>
            </a:r>
            <a:r>
              <a:rPr lang="en-US" sz="1200" dirty="0">
                <a:solidFill>
                  <a:srgbClr val="71777D"/>
                </a:solidFill>
                <a:latin typeface="Roboto" panose="02000000000000000000" pitchFamily="2" charset="0"/>
              </a:rPr>
              <a:t>₹ </a:t>
            </a:r>
            <a:r>
              <a:rPr lang="en-US" sz="1200" dirty="0">
                <a:solidFill>
                  <a:srgbClr val="000000"/>
                </a:solidFill>
                <a:latin typeface="Verdana" pitchFamily="34" charset="0"/>
              </a:rPr>
              <a:t>40.95 Lakh</a:t>
            </a:r>
          </a:p>
        </p:txBody>
      </p:sp>
      <p:sp>
        <p:nvSpPr>
          <p:cNvPr id="18" name="Text Box 17"/>
          <p:cNvSpPr txBox="1">
            <a:spLocks noChangeArrowheads="1"/>
          </p:cNvSpPr>
          <p:nvPr/>
        </p:nvSpPr>
        <p:spPr bwMode="auto">
          <a:xfrm>
            <a:off x="152400" y="1435586"/>
            <a:ext cx="4191000" cy="1477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1200" b="1" dirty="0">
                <a:solidFill>
                  <a:srgbClr val="000000"/>
                </a:solidFill>
                <a:latin typeface="Verdana" pitchFamily="34" charset="0"/>
              </a:rPr>
              <a:t>TECH Y (NARROWED PROBLEM STATEMENT):</a:t>
            </a:r>
          </a:p>
          <a:p>
            <a:pPr eaLnBrk="0" hangingPunct="0">
              <a:spcBef>
                <a:spcPct val="50000"/>
              </a:spcBef>
            </a:pPr>
            <a:r>
              <a:rPr lang="en-US" sz="1200" b="1" dirty="0">
                <a:solidFill>
                  <a:srgbClr val="000000"/>
                </a:solidFill>
                <a:latin typeface="Verdana" pitchFamily="34" charset="0"/>
              </a:rPr>
              <a:t>BALL GUIDE CHANGE AFTER UPPER &amp; LOWER RAIL CHANGE IN ASSY. LINE</a:t>
            </a:r>
          </a:p>
          <a:p>
            <a:pPr eaLnBrk="0" hangingPunct="0">
              <a:spcBef>
                <a:spcPct val="50000"/>
              </a:spcBef>
            </a:pPr>
            <a:r>
              <a:rPr lang="en-US" sz="1200" b="1" dirty="0">
                <a:solidFill>
                  <a:srgbClr val="000000"/>
                </a:solidFill>
                <a:latin typeface="Verdana" pitchFamily="34" charset="0"/>
              </a:rPr>
              <a:t>CTP: AT DURING BALL GUIDE INSERT IN SEAT TRACK MACHINE</a:t>
            </a:r>
          </a:p>
          <a:p>
            <a:pPr eaLnBrk="0" hangingPunct="0">
              <a:spcBef>
                <a:spcPct val="50000"/>
              </a:spcBef>
            </a:pPr>
            <a:endParaRPr lang="en-US" sz="1200" b="1" dirty="0">
              <a:solidFill>
                <a:srgbClr val="000000"/>
              </a:solidFill>
              <a:latin typeface="Verdana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8CA97-F2C6-465B-8C78-933A13A42472}" type="slidenum">
              <a:rPr lang="en-US" smtClean="0"/>
              <a:t>1</a:t>
            </a:fld>
            <a:endParaRPr lang="en-US" dirty="0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-8823"/>
            <a:ext cx="8229600" cy="563562"/>
          </a:xfrm>
        </p:spPr>
        <p:txBody>
          <a:bodyPr>
            <a:noAutofit/>
          </a:bodyPr>
          <a:lstStyle/>
          <a:p>
            <a:r>
              <a:rPr lang="en-IN" sz="2800" dirty="0"/>
              <a:t>MONTH WISE BALLGUIDE CONSUMPTION</a:t>
            </a:r>
          </a:p>
        </p:txBody>
      </p:sp>
      <p:sp>
        <p:nvSpPr>
          <p:cNvPr id="8" name="AutoShape 5"/>
          <p:cNvSpPr>
            <a:spLocks noChangeArrowheads="1"/>
          </p:cNvSpPr>
          <p:nvPr/>
        </p:nvSpPr>
        <p:spPr bwMode="auto">
          <a:xfrm>
            <a:off x="27274" y="70119"/>
            <a:ext cx="1732547" cy="484620"/>
          </a:xfrm>
          <a:prstGeom prst="chevron">
            <a:avLst>
              <a:gd name="adj" fmla="val 10000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1600" b="1" dirty="0">
                <a:solidFill>
                  <a:srgbClr val="000000"/>
                </a:solidFill>
                <a:latin typeface="Verdana" pitchFamily="34" charset="0"/>
              </a:rPr>
              <a:t>     DEFINE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8CA97-F2C6-465B-8C78-933A13A42472}" type="slidenum">
              <a:rPr lang="en-US" smtClean="0"/>
              <a:t>2</a:t>
            </a:fld>
            <a:endParaRPr lang="en-US" dirty="0"/>
          </a:p>
        </p:txBody>
      </p: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EDE5D525-DD33-04E1-271F-72A49FD90F6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61287315"/>
              </p:ext>
            </p:extLst>
          </p:nvPr>
        </p:nvGraphicFramePr>
        <p:xfrm>
          <a:off x="209552" y="731520"/>
          <a:ext cx="4191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60978C79-83BD-4B16-9088-142FB388EB7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47584401"/>
              </p:ext>
            </p:extLst>
          </p:nvPr>
        </p:nvGraphicFramePr>
        <p:xfrm>
          <a:off x="4795520" y="731520"/>
          <a:ext cx="4191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F9150BDD-02B8-49D8-B8A5-51EC7FD3FE2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61154721"/>
              </p:ext>
            </p:extLst>
          </p:nvPr>
        </p:nvGraphicFramePr>
        <p:xfrm>
          <a:off x="209552" y="3795712"/>
          <a:ext cx="4191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7AF89754-93D5-4A57-94DF-52B2DD51709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35894732"/>
              </p:ext>
            </p:extLst>
          </p:nvPr>
        </p:nvGraphicFramePr>
        <p:xfrm>
          <a:off x="4795520" y="3791672"/>
          <a:ext cx="4191000" cy="27512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7" name="Rectangle 16">
            <a:extLst>
              <a:ext uri="{FF2B5EF4-FFF2-40B4-BE49-F238E27FC236}">
                <a16:creationId xmlns:a16="http://schemas.microsoft.com/office/drawing/2014/main" id="{76963739-2393-7092-CDD2-CD094A07C8C9}"/>
              </a:ext>
            </a:extLst>
          </p:cNvPr>
          <p:cNvSpPr/>
          <p:nvPr/>
        </p:nvSpPr>
        <p:spPr>
          <a:xfrm>
            <a:off x="3352800" y="838200"/>
            <a:ext cx="838200" cy="2286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08189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0" y="762000"/>
            <a:ext cx="9220200" cy="6095999"/>
          </a:xfrm>
        </p:spPr>
        <p:txBody>
          <a:bodyPr>
            <a:noAutofit/>
          </a:bodyPr>
          <a:lstStyle/>
          <a:p>
            <a:pPr algn="l"/>
            <a:r>
              <a:rPr lang="en-US" sz="1600" b="1" u="sng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</a:t>
            </a:r>
            <a:r>
              <a:rPr lang="en-US" sz="16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:- </a:t>
            </a:r>
            <a:b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BALL GUIDE CONSUMPTION IS NOT MANAGE AS PER THE PLANNING</a:t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b="1" u="sng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Who:- </a:t>
            </a:r>
            <a:b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SCM PERSON</a:t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b="1" u="sng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When:-</a:t>
            </a:r>
            <a:b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DURING RAIL CHANGE</a:t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b="1" u="sng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Where :- </a:t>
            </a:r>
            <a:b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SEMI AUTO MACHINE AT SEAT SLIDER ASSY. LINE</a:t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b="1" u="sng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Why:-</a:t>
            </a:r>
            <a:b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SLIDING FORCE OUT OF SPEC. (14.7 - 50.0 KN) </a:t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b="1" u="sng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:-   </a:t>
            </a:r>
            <a:br>
              <a:rPr lang="en-US" sz="1600" b="1" u="sng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VARIATION IN ROLLING FRICTION BETWEEN BALL &amp; RAILS</a:t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b="1" u="sng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Much:-</a:t>
            </a:r>
            <a:r>
              <a:rPr lang="en-US" sz="1800" b="1" u="sng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US" sz="1800" b="1" u="sng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BALL CONSUMPTION FLUCTUATION 9% TO 21%</a:t>
            </a:r>
            <a:br>
              <a:rPr lang="en-US" sz="1600" b="1" u="sng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33457" y="152401"/>
            <a:ext cx="1732547" cy="484620"/>
          </a:xfrm>
          <a:prstGeom prst="chevron">
            <a:avLst>
              <a:gd name="adj" fmla="val 10000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1600" b="1" dirty="0">
                <a:solidFill>
                  <a:srgbClr val="000000"/>
                </a:solidFill>
                <a:latin typeface="Verdana" pitchFamily="34" charset="0"/>
              </a:rPr>
              <a:t>     DEFINE</a:t>
            </a:r>
          </a:p>
        </p:txBody>
      </p:sp>
      <p:pic>
        <p:nvPicPr>
          <p:cNvPr id="2050" name="Picture 2" descr="Lean Six Sigma Input Map Online Training with Certification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355"/>
          <a:stretch/>
        </p:blipFill>
        <p:spPr bwMode="auto">
          <a:xfrm>
            <a:off x="6781801" y="2057400"/>
            <a:ext cx="2135899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Oval 2"/>
          <p:cNvSpPr/>
          <p:nvPr/>
        </p:nvSpPr>
        <p:spPr>
          <a:xfrm>
            <a:off x="7164525" y="1693284"/>
            <a:ext cx="1370451" cy="478277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tx1"/>
                </a:solidFill>
              </a:rPr>
              <a:t>BIG-Y</a:t>
            </a:r>
          </a:p>
        </p:txBody>
      </p:sp>
      <p:sp>
        <p:nvSpPr>
          <p:cNvPr id="6" name="Oval 5"/>
          <p:cNvSpPr/>
          <p:nvPr/>
        </p:nvSpPr>
        <p:spPr>
          <a:xfrm>
            <a:off x="7164525" y="4494964"/>
            <a:ext cx="1370451" cy="478277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tx1"/>
                </a:solidFill>
              </a:rPr>
              <a:t>TECH-Y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0" y="4973242"/>
            <a:ext cx="2133600" cy="33236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FORCE VARIATION</a:t>
            </a:r>
          </a:p>
        </p:txBody>
      </p:sp>
    </p:spTree>
    <p:extLst>
      <p:ext uri="{BB962C8B-B14F-4D97-AF65-F5344CB8AC3E}">
        <p14:creationId xmlns:p14="http://schemas.microsoft.com/office/powerpoint/2010/main" val="21052791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71547" y="45224"/>
            <a:ext cx="6510455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/>
              <a:t>WE CONDUCT 30 PART OF YY8 TOOL FOR CHECK FORCE VARIATION IN SAME BALL GUIDE(BALL SIZE-5.5mm)</a:t>
            </a:r>
          </a:p>
        </p:txBody>
      </p:sp>
      <p:sp>
        <p:nvSpPr>
          <p:cNvPr id="3" name="AutoShape 5"/>
          <p:cNvSpPr>
            <a:spLocks noChangeArrowheads="1"/>
          </p:cNvSpPr>
          <p:nvPr/>
        </p:nvSpPr>
        <p:spPr bwMode="auto">
          <a:xfrm>
            <a:off x="1" y="183102"/>
            <a:ext cx="1871547" cy="484620"/>
          </a:xfrm>
          <a:prstGeom prst="chevron">
            <a:avLst>
              <a:gd name="adj" fmla="val 10000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1600" b="1" dirty="0">
                <a:solidFill>
                  <a:srgbClr val="000000"/>
                </a:solidFill>
                <a:latin typeface="Verdana" pitchFamily="34" charset="0"/>
              </a:rPr>
              <a:t>     MEASURE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1EBE6CB-4079-07C2-F0CF-FC903EECE6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914400"/>
            <a:ext cx="8915400" cy="5898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0421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7BFD79-5976-7138-FC7F-19FE38474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DA1B06C-1CC4-4412-7401-CC8157C999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36" y="745159"/>
            <a:ext cx="8990731" cy="296297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9D4C205-6CE8-E9B2-0CE3-A5526718316F}"/>
              </a:ext>
            </a:extLst>
          </p:cNvPr>
          <p:cNvSpPr/>
          <p:nvPr/>
        </p:nvSpPr>
        <p:spPr>
          <a:xfrm>
            <a:off x="2057400" y="85023"/>
            <a:ext cx="57150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YY8 RAIL FORCE DATA AT 5.5 MM BALL GUIDE</a:t>
            </a:r>
          </a:p>
        </p:txBody>
      </p:sp>
      <p:sp>
        <p:nvSpPr>
          <p:cNvPr id="4" name="AutoShape 5">
            <a:extLst>
              <a:ext uri="{FF2B5EF4-FFF2-40B4-BE49-F238E27FC236}">
                <a16:creationId xmlns:a16="http://schemas.microsoft.com/office/drawing/2014/main" id="{249D2498-EFBC-C465-B09E-D962FDE204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54" y="152401"/>
            <a:ext cx="1871547" cy="484620"/>
          </a:xfrm>
          <a:prstGeom prst="chevron">
            <a:avLst>
              <a:gd name="adj" fmla="val 10000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1600" b="1" dirty="0">
                <a:solidFill>
                  <a:srgbClr val="000000"/>
                </a:solidFill>
                <a:latin typeface="Verdana" pitchFamily="34" charset="0"/>
              </a:rPr>
              <a:t>     MEASURE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9DD0CA6-E940-AE82-CF95-9164D1F6D6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76" y="3810000"/>
            <a:ext cx="4492827" cy="296297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466A9A6E-6D60-151B-7A00-2C03A227A0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8203" y="3810000"/>
            <a:ext cx="4431865" cy="296297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3" name="Oval 22">
            <a:extLst>
              <a:ext uri="{FF2B5EF4-FFF2-40B4-BE49-F238E27FC236}">
                <a16:creationId xmlns:a16="http://schemas.microsoft.com/office/drawing/2014/main" id="{59A81606-A48E-1CCF-4104-DC303D56F4A9}"/>
              </a:ext>
            </a:extLst>
          </p:cNvPr>
          <p:cNvSpPr/>
          <p:nvPr/>
        </p:nvSpPr>
        <p:spPr>
          <a:xfrm>
            <a:off x="7541261" y="2105529"/>
            <a:ext cx="762000" cy="242236"/>
          </a:xfrm>
          <a:prstGeom prst="ellipse">
            <a:avLst/>
          </a:prstGeom>
          <a:noFill/>
          <a:ln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4" name="Oval Callout 10">
            <a:extLst>
              <a:ext uri="{FF2B5EF4-FFF2-40B4-BE49-F238E27FC236}">
                <a16:creationId xmlns:a16="http://schemas.microsoft.com/office/drawing/2014/main" id="{36238AF3-56F6-2098-8E1A-35E48C8CA1E7}"/>
              </a:ext>
            </a:extLst>
          </p:cNvPr>
          <p:cNvSpPr/>
          <p:nvPr/>
        </p:nvSpPr>
        <p:spPr>
          <a:xfrm>
            <a:off x="7741922" y="2667000"/>
            <a:ext cx="1132843" cy="838200"/>
          </a:xfrm>
          <a:prstGeom prst="wedgeEllipseCallout">
            <a:avLst>
              <a:gd name="adj1" fmla="val -18207"/>
              <a:gd name="adj2" fmla="val -83249"/>
            </a:avLst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Cpk value is 4.95 </a:t>
            </a:r>
          </a:p>
        </p:txBody>
      </p:sp>
    </p:spTree>
    <p:extLst>
      <p:ext uri="{BB962C8B-B14F-4D97-AF65-F5344CB8AC3E}">
        <p14:creationId xmlns:p14="http://schemas.microsoft.com/office/powerpoint/2010/main" val="15010241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AC06C1-6972-825F-F531-EFAE62845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2E0DD9C-3B6B-7AEB-04C2-E795EEC3CD25}"/>
              </a:ext>
            </a:extLst>
          </p:cNvPr>
          <p:cNvSpPr/>
          <p:nvPr/>
        </p:nvSpPr>
        <p:spPr>
          <a:xfrm>
            <a:off x="1871547" y="45224"/>
            <a:ext cx="6510455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/>
              <a:t>WE CONDUCT 30 PART OF YFG TOOL FOR CHECK FORCE VARIATION IN SAME BALL GUIDE(BALL SIZE-5.5mm)</a:t>
            </a:r>
          </a:p>
        </p:txBody>
      </p:sp>
      <p:sp>
        <p:nvSpPr>
          <p:cNvPr id="3" name="AutoShape 5">
            <a:extLst>
              <a:ext uri="{FF2B5EF4-FFF2-40B4-BE49-F238E27FC236}">
                <a16:creationId xmlns:a16="http://schemas.microsoft.com/office/drawing/2014/main" id="{1FF0552B-F1C9-F328-5E3A-1597D251EA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" y="183102"/>
            <a:ext cx="1871547" cy="484620"/>
          </a:xfrm>
          <a:prstGeom prst="chevron">
            <a:avLst>
              <a:gd name="adj" fmla="val 10000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1600" b="1" dirty="0">
                <a:solidFill>
                  <a:srgbClr val="000000"/>
                </a:solidFill>
                <a:latin typeface="Verdana" pitchFamily="34" charset="0"/>
              </a:rPr>
              <a:t>     MEASURE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993BEF-1F3E-EDA0-DEE8-C7708088B1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1" y="1021303"/>
            <a:ext cx="8953500" cy="565359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72106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3526D5-F918-FD86-7B78-E30947859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3638081-9B99-E212-414D-D2B1D0CFA4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77" y="745159"/>
            <a:ext cx="9000891" cy="296297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C2EEF5A-8E65-0007-CB62-62B901A593F2}"/>
              </a:ext>
            </a:extLst>
          </p:cNvPr>
          <p:cNvSpPr/>
          <p:nvPr/>
        </p:nvSpPr>
        <p:spPr>
          <a:xfrm>
            <a:off x="2057400" y="85023"/>
            <a:ext cx="57150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YFG RAIL FORCE DATA AT 5.5 MM BALL GUIDE</a:t>
            </a:r>
          </a:p>
        </p:txBody>
      </p:sp>
      <p:sp>
        <p:nvSpPr>
          <p:cNvPr id="4" name="AutoShape 5">
            <a:extLst>
              <a:ext uri="{FF2B5EF4-FFF2-40B4-BE49-F238E27FC236}">
                <a16:creationId xmlns:a16="http://schemas.microsoft.com/office/drawing/2014/main" id="{D006E2CB-2A45-D04D-7E18-542C87EF03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54" y="152401"/>
            <a:ext cx="1871547" cy="484620"/>
          </a:xfrm>
          <a:prstGeom prst="chevron">
            <a:avLst>
              <a:gd name="adj" fmla="val 10000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1600" b="1" dirty="0">
                <a:solidFill>
                  <a:srgbClr val="000000"/>
                </a:solidFill>
                <a:latin typeface="Verdana" pitchFamily="34" charset="0"/>
              </a:rPr>
              <a:t>     MEASURE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6C1DB6-B1AC-8336-A977-312B5F6A93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78" y="3810000"/>
            <a:ext cx="4492825" cy="296297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1FA859B-8442-B7AA-3E2E-0C848FADCE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8203" y="3809471"/>
            <a:ext cx="4431865" cy="296297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Oval Callout 10">
            <a:extLst>
              <a:ext uri="{FF2B5EF4-FFF2-40B4-BE49-F238E27FC236}">
                <a16:creationId xmlns:a16="http://schemas.microsoft.com/office/drawing/2014/main" id="{8EFF5091-75F9-95C4-5091-CE7CB29D9487}"/>
              </a:ext>
            </a:extLst>
          </p:cNvPr>
          <p:cNvSpPr/>
          <p:nvPr/>
        </p:nvSpPr>
        <p:spPr>
          <a:xfrm>
            <a:off x="7467602" y="2662323"/>
            <a:ext cx="1132843" cy="838200"/>
          </a:xfrm>
          <a:prstGeom prst="wedgeEllipseCallout">
            <a:avLst>
              <a:gd name="adj1" fmla="val -18207"/>
              <a:gd name="adj2" fmla="val -83249"/>
            </a:avLst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Cpk value is 6.74 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393E782-4869-052F-1FCD-3A14B72553E5}"/>
              </a:ext>
            </a:extLst>
          </p:cNvPr>
          <p:cNvSpPr/>
          <p:nvPr/>
        </p:nvSpPr>
        <p:spPr>
          <a:xfrm>
            <a:off x="7493000" y="2145767"/>
            <a:ext cx="762000" cy="242236"/>
          </a:xfrm>
          <a:prstGeom prst="ellipse">
            <a:avLst/>
          </a:prstGeom>
          <a:noFill/>
          <a:ln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814505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5BF09-5D95-2412-41E5-C75712924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F611875-F7F5-9D69-48F0-FBEC7D213869}"/>
              </a:ext>
            </a:extLst>
          </p:cNvPr>
          <p:cNvSpPr/>
          <p:nvPr/>
        </p:nvSpPr>
        <p:spPr>
          <a:xfrm>
            <a:off x="1871547" y="45224"/>
            <a:ext cx="6510455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/>
              <a:t>WE CONDUCT 30 PART OF YTA TOOL FOR CHECK FORCE VARIATION IN SAME BALL GUIDE(BALL SIZE-5.5mm)</a:t>
            </a:r>
          </a:p>
        </p:txBody>
      </p:sp>
      <p:sp>
        <p:nvSpPr>
          <p:cNvPr id="3" name="AutoShape 5">
            <a:extLst>
              <a:ext uri="{FF2B5EF4-FFF2-40B4-BE49-F238E27FC236}">
                <a16:creationId xmlns:a16="http://schemas.microsoft.com/office/drawing/2014/main" id="{CB97222D-F816-E04E-3B04-265EFCDF89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" y="183102"/>
            <a:ext cx="1871547" cy="484620"/>
          </a:xfrm>
          <a:prstGeom prst="chevron">
            <a:avLst>
              <a:gd name="adj" fmla="val 10000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1600" b="1" dirty="0">
                <a:solidFill>
                  <a:srgbClr val="000000"/>
                </a:solidFill>
                <a:latin typeface="Verdana" pitchFamily="34" charset="0"/>
              </a:rPr>
              <a:t>     MEASURE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C3DA5F-2305-FFEB-E774-FDE5600AAD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1021302"/>
            <a:ext cx="8915400" cy="579147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891414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F37CCD-D67B-978D-181A-BF510B6EB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87A4524-84D5-55A1-B46E-669B7DEED2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77" y="745161"/>
            <a:ext cx="9000891" cy="295510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 descr="I-MR Chart of MIN. FORCE">
            <a:extLst>
              <a:ext uri="{FF2B5EF4-FFF2-40B4-BE49-F238E27FC236}">
                <a16:creationId xmlns:a16="http://schemas.microsoft.com/office/drawing/2014/main" id="{9CCB6F8A-4498-3358-2216-9BFD3F86ED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78" y="3817874"/>
            <a:ext cx="4492825" cy="2955105"/>
          </a:xfrm>
          <a:prstGeom prst="rect">
            <a:avLst/>
          </a:prstGeom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9A6CDB2-D1C9-6CCA-EB9E-FD50920DCC7A}"/>
              </a:ext>
            </a:extLst>
          </p:cNvPr>
          <p:cNvSpPr/>
          <p:nvPr/>
        </p:nvSpPr>
        <p:spPr>
          <a:xfrm>
            <a:off x="2057400" y="85023"/>
            <a:ext cx="57150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YTA RAIL FORCE DATA AT 5.5 MM BALL GUIDE</a:t>
            </a:r>
          </a:p>
        </p:txBody>
      </p:sp>
      <p:sp>
        <p:nvSpPr>
          <p:cNvPr id="4" name="AutoShape 5">
            <a:extLst>
              <a:ext uri="{FF2B5EF4-FFF2-40B4-BE49-F238E27FC236}">
                <a16:creationId xmlns:a16="http://schemas.microsoft.com/office/drawing/2014/main" id="{AB270FF0-1485-A538-FD9D-750F2271E1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54" y="152401"/>
            <a:ext cx="1871547" cy="484620"/>
          </a:xfrm>
          <a:prstGeom prst="chevron">
            <a:avLst>
              <a:gd name="adj" fmla="val 10000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1600" b="1" dirty="0">
                <a:solidFill>
                  <a:srgbClr val="000000"/>
                </a:solidFill>
                <a:latin typeface="Verdana" pitchFamily="34" charset="0"/>
              </a:rPr>
              <a:t>     MEASURE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6780459-4611-4E8E-6889-1CE095DAD3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8203" y="3834870"/>
            <a:ext cx="4431865" cy="293810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D3C017C3-A41C-D29F-3D3C-4431B636EE5B}"/>
              </a:ext>
            </a:extLst>
          </p:cNvPr>
          <p:cNvSpPr/>
          <p:nvPr/>
        </p:nvSpPr>
        <p:spPr>
          <a:xfrm>
            <a:off x="7493000" y="2109803"/>
            <a:ext cx="762000" cy="242236"/>
          </a:xfrm>
          <a:prstGeom prst="ellipse">
            <a:avLst/>
          </a:prstGeom>
          <a:noFill/>
          <a:ln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Oval Callout 10">
            <a:extLst>
              <a:ext uri="{FF2B5EF4-FFF2-40B4-BE49-F238E27FC236}">
                <a16:creationId xmlns:a16="http://schemas.microsoft.com/office/drawing/2014/main" id="{A91B9FDF-649C-0124-CC51-046FA1F43ECB}"/>
              </a:ext>
            </a:extLst>
          </p:cNvPr>
          <p:cNvSpPr/>
          <p:nvPr/>
        </p:nvSpPr>
        <p:spPr>
          <a:xfrm>
            <a:off x="7467602" y="2626360"/>
            <a:ext cx="1132843" cy="838200"/>
          </a:xfrm>
          <a:prstGeom prst="wedgeEllipseCallout">
            <a:avLst>
              <a:gd name="adj1" fmla="val -18207"/>
              <a:gd name="adj2" fmla="val -83249"/>
            </a:avLst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Cpk value is 3.75 </a:t>
            </a:r>
          </a:p>
        </p:txBody>
      </p:sp>
    </p:spTree>
    <p:extLst>
      <p:ext uri="{BB962C8B-B14F-4D97-AF65-F5344CB8AC3E}">
        <p14:creationId xmlns:p14="http://schemas.microsoft.com/office/powerpoint/2010/main" val="18952429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2B1A8-C9AE-43B2-83CD-731B7B687D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12CBC584-3699-7581-DA72-622CEA0443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73" y="762002"/>
            <a:ext cx="9000892" cy="292181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0EE1AA4-FC8B-9131-A86F-5E92B4BD6D89}"/>
              </a:ext>
            </a:extLst>
          </p:cNvPr>
          <p:cNvSpPr/>
          <p:nvPr/>
        </p:nvSpPr>
        <p:spPr>
          <a:xfrm>
            <a:off x="2057400" y="85023"/>
            <a:ext cx="61976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COMBINED FORCE DATA OF ALL RAIL IN 5.5 MM BALL GUIDE</a:t>
            </a:r>
          </a:p>
        </p:txBody>
      </p:sp>
      <p:sp>
        <p:nvSpPr>
          <p:cNvPr id="4" name="AutoShape 5">
            <a:extLst>
              <a:ext uri="{FF2B5EF4-FFF2-40B4-BE49-F238E27FC236}">
                <a16:creationId xmlns:a16="http://schemas.microsoft.com/office/drawing/2014/main" id="{3887FBB3-B9EF-7F25-082C-25F8C9760C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54" y="152401"/>
            <a:ext cx="1871547" cy="484620"/>
          </a:xfrm>
          <a:prstGeom prst="chevron">
            <a:avLst>
              <a:gd name="adj" fmla="val 10000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1600" b="1" dirty="0">
                <a:solidFill>
                  <a:srgbClr val="000000"/>
                </a:solidFill>
                <a:latin typeface="Verdana" pitchFamily="34" charset="0"/>
              </a:rPr>
              <a:t>     MEASURE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215DDC7-AAD3-B9F3-4654-D4CFA99BB0AB}"/>
              </a:ext>
            </a:extLst>
          </p:cNvPr>
          <p:cNvSpPr/>
          <p:nvPr/>
        </p:nvSpPr>
        <p:spPr>
          <a:xfrm>
            <a:off x="7653021" y="2179337"/>
            <a:ext cx="762000" cy="242236"/>
          </a:xfrm>
          <a:prstGeom prst="ellipse">
            <a:avLst/>
          </a:prstGeom>
          <a:noFill/>
          <a:ln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Oval Callout 10">
            <a:extLst>
              <a:ext uri="{FF2B5EF4-FFF2-40B4-BE49-F238E27FC236}">
                <a16:creationId xmlns:a16="http://schemas.microsoft.com/office/drawing/2014/main" id="{A6AFC0CE-9568-7397-0B1F-E7C3EB052A16}"/>
              </a:ext>
            </a:extLst>
          </p:cNvPr>
          <p:cNvSpPr/>
          <p:nvPr/>
        </p:nvSpPr>
        <p:spPr>
          <a:xfrm>
            <a:off x="7772402" y="2743200"/>
            <a:ext cx="1132843" cy="838200"/>
          </a:xfrm>
          <a:prstGeom prst="wedgeEllipseCallout">
            <a:avLst>
              <a:gd name="adj1" fmla="val -18207"/>
              <a:gd name="adj2" fmla="val -83249"/>
            </a:avLst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Cpk value is 3.12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DCBAA8-BEFE-A2EB-2330-322E901A00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74" y="3851157"/>
            <a:ext cx="4416627" cy="292181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B0859D2-078A-455E-E9CF-61F49E0D87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8205" y="3851157"/>
            <a:ext cx="4431861" cy="292181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630511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62F166-434E-9882-84A1-107DDDB79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D1829A1-3A18-6DAD-BA29-E39C2E80AB25}"/>
              </a:ext>
            </a:extLst>
          </p:cNvPr>
          <p:cNvSpPr/>
          <p:nvPr/>
        </p:nvSpPr>
        <p:spPr>
          <a:xfrm>
            <a:off x="1871547" y="45224"/>
            <a:ext cx="6510455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/>
              <a:t>WE CONDUCT 30 PART OF YY8 TOOL FOR CHECK FORCE VARIATION IN SAME BALL GUIDE(BALL SIZE-5.6mm)</a:t>
            </a:r>
          </a:p>
        </p:txBody>
      </p:sp>
      <p:sp>
        <p:nvSpPr>
          <p:cNvPr id="3" name="AutoShape 5">
            <a:extLst>
              <a:ext uri="{FF2B5EF4-FFF2-40B4-BE49-F238E27FC236}">
                <a16:creationId xmlns:a16="http://schemas.microsoft.com/office/drawing/2014/main" id="{6679FC9E-6988-F0EF-B915-AFC395D2D7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" y="183102"/>
            <a:ext cx="1871547" cy="484620"/>
          </a:xfrm>
          <a:prstGeom prst="chevron">
            <a:avLst>
              <a:gd name="adj" fmla="val 10000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1600" b="1" dirty="0">
                <a:solidFill>
                  <a:srgbClr val="000000"/>
                </a:solidFill>
                <a:latin typeface="Verdana" pitchFamily="34" charset="0"/>
              </a:rPr>
              <a:t>     MEASURE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E257EF-96BB-52A2-4759-ECFA4722E8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985744"/>
            <a:ext cx="8915400" cy="5827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80872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7D3B6-C66B-7B4F-D71F-9B0399044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7C073BA-DB3D-E80B-E485-798B6FEED1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35" y="757240"/>
            <a:ext cx="9016132" cy="297656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E8B6757-1A7A-F8CE-1568-51D6119364C8}"/>
              </a:ext>
            </a:extLst>
          </p:cNvPr>
          <p:cNvSpPr/>
          <p:nvPr/>
        </p:nvSpPr>
        <p:spPr>
          <a:xfrm>
            <a:off x="2057400" y="85023"/>
            <a:ext cx="57150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YY8 RAIL FORCE DATA AT 5.6 MM BALL GUIDE</a:t>
            </a:r>
          </a:p>
        </p:txBody>
      </p:sp>
      <p:sp>
        <p:nvSpPr>
          <p:cNvPr id="4" name="AutoShape 5">
            <a:extLst>
              <a:ext uri="{FF2B5EF4-FFF2-40B4-BE49-F238E27FC236}">
                <a16:creationId xmlns:a16="http://schemas.microsoft.com/office/drawing/2014/main" id="{F5DC1392-431F-5FF0-AA46-D936988E0C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54" y="152401"/>
            <a:ext cx="1871547" cy="484620"/>
          </a:xfrm>
          <a:prstGeom prst="chevron">
            <a:avLst>
              <a:gd name="adj" fmla="val 10000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1600" b="1" dirty="0">
                <a:solidFill>
                  <a:srgbClr val="000000"/>
                </a:solidFill>
                <a:latin typeface="Verdana" pitchFamily="34" charset="0"/>
              </a:rPr>
              <a:t>     MEASURE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100B422B-27AB-0C03-10FE-984D5B21846D}"/>
              </a:ext>
            </a:extLst>
          </p:cNvPr>
          <p:cNvSpPr/>
          <p:nvPr/>
        </p:nvSpPr>
        <p:spPr>
          <a:xfrm>
            <a:off x="7500621" y="2124401"/>
            <a:ext cx="762000" cy="242236"/>
          </a:xfrm>
          <a:prstGeom prst="ellipse">
            <a:avLst/>
          </a:prstGeom>
          <a:noFill/>
          <a:ln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4" name="Oval Callout 10">
            <a:extLst>
              <a:ext uri="{FF2B5EF4-FFF2-40B4-BE49-F238E27FC236}">
                <a16:creationId xmlns:a16="http://schemas.microsoft.com/office/drawing/2014/main" id="{F66DA81E-F30A-270A-C1A9-DFDA06423A45}"/>
              </a:ext>
            </a:extLst>
          </p:cNvPr>
          <p:cNvSpPr/>
          <p:nvPr/>
        </p:nvSpPr>
        <p:spPr>
          <a:xfrm>
            <a:off x="7696202" y="2641279"/>
            <a:ext cx="1132843" cy="838200"/>
          </a:xfrm>
          <a:prstGeom prst="wedgeEllipseCallout">
            <a:avLst>
              <a:gd name="adj1" fmla="val -18207"/>
              <a:gd name="adj2" fmla="val -83249"/>
            </a:avLst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Cpk value is 2.77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5886ADC-E340-A72A-F6BB-89D8BB65E1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38" y="3834871"/>
            <a:ext cx="4543359" cy="270469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352C3ED-7F5F-B5DE-8076-0D49495F58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9974" y="3834870"/>
            <a:ext cx="4410095" cy="270469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487788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4BAC5-059E-07C7-6B38-76E8D39ED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82E336E-0F1F-6CDA-9948-E317740DAC77}"/>
              </a:ext>
            </a:extLst>
          </p:cNvPr>
          <p:cNvSpPr/>
          <p:nvPr/>
        </p:nvSpPr>
        <p:spPr>
          <a:xfrm>
            <a:off x="1871547" y="45224"/>
            <a:ext cx="6510455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/>
              <a:t>WE CONDUCT 30 PART OF YFG TOOL FOR CHECK FORCE VARIATION IN SAME BALL GUIDE(BALL SIZE-5.6mm)</a:t>
            </a:r>
          </a:p>
        </p:txBody>
      </p:sp>
      <p:sp>
        <p:nvSpPr>
          <p:cNvPr id="3" name="AutoShape 5">
            <a:extLst>
              <a:ext uri="{FF2B5EF4-FFF2-40B4-BE49-F238E27FC236}">
                <a16:creationId xmlns:a16="http://schemas.microsoft.com/office/drawing/2014/main" id="{A2ABCB16-C58E-3D7C-2CCC-6B6FCDBF3C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" y="183102"/>
            <a:ext cx="1871547" cy="484620"/>
          </a:xfrm>
          <a:prstGeom prst="chevron">
            <a:avLst>
              <a:gd name="adj" fmla="val 10000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1600" b="1" dirty="0">
                <a:solidFill>
                  <a:srgbClr val="000000"/>
                </a:solidFill>
                <a:latin typeface="Verdana" pitchFamily="34" charset="0"/>
              </a:rPr>
              <a:t>     MEASURE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A7C5BF-695E-B4B6-153E-4C63314902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010418"/>
            <a:ext cx="8915400" cy="5802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2163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AA7FA-76CE-E4EB-2D0E-2D7113140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CF6FC8A-FEE9-CBB9-09D7-B4F5B171F7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2" y="757240"/>
            <a:ext cx="9003865" cy="297366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505840D-5892-2ACE-16D0-B1683AAEB68C}"/>
              </a:ext>
            </a:extLst>
          </p:cNvPr>
          <p:cNvSpPr/>
          <p:nvPr/>
        </p:nvSpPr>
        <p:spPr>
          <a:xfrm>
            <a:off x="2057400" y="85023"/>
            <a:ext cx="57150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YFG RAIL FORCE DATA AT 5.6 MM BALL GUIDE</a:t>
            </a:r>
          </a:p>
        </p:txBody>
      </p:sp>
      <p:sp>
        <p:nvSpPr>
          <p:cNvPr id="4" name="AutoShape 5">
            <a:extLst>
              <a:ext uri="{FF2B5EF4-FFF2-40B4-BE49-F238E27FC236}">
                <a16:creationId xmlns:a16="http://schemas.microsoft.com/office/drawing/2014/main" id="{E881C922-7423-8279-EE19-9779E73ABE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54" y="152401"/>
            <a:ext cx="1871547" cy="484620"/>
          </a:xfrm>
          <a:prstGeom prst="chevron">
            <a:avLst>
              <a:gd name="adj" fmla="val 10000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1600" b="1" dirty="0">
                <a:solidFill>
                  <a:srgbClr val="000000"/>
                </a:solidFill>
                <a:latin typeface="Verdana" pitchFamily="34" charset="0"/>
              </a:rPr>
              <a:t>     MEASURE</a:t>
            </a:r>
          </a:p>
        </p:txBody>
      </p:sp>
      <p:sp>
        <p:nvSpPr>
          <p:cNvPr id="11" name="Oval Callout 10">
            <a:extLst>
              <a:ext uri="{FF2B5EF4-FFF2-40B4-BE49-F238E27FC236}">
                <a16:creationId xmlns:a16="http://schemas.microsoft.com/office/drawing/2014/main" id="{673971E7-E914-F8A2-C83C-2B540846B5F8}"/>
              </a:ext>
            </a:extLst>
          </p:cNvPr>
          <p:cNvSpPr/>
          <p:nvPr/>
        </p:nvSpPr>
        <p:spPr>
          <a:xfrm>
            <a:off x="7467602" y="2650157"/>
            <a:ext cx="1132843" cy="838200"/>
          </a:xfrm>
          <a:prstGeom prst="wedgeEllipseCallout">
            <a:avLst>
              <a:gd name="adj1" fmla="val -18207"/>
              <a:gd name="adj2" fmla="val -83249"/>
            </a:avLst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Cpk value is 6.38 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AC49EB4-CA4E-B194-09E2-888CF8D23ADE}"/>
              </a:ext>
            </a:extLst>
          </p:cNvPr>
          <p:cNvSpPr/>
          <p:nvPr/>
        </p:nvSpPr>
        <p:spPr>
          <a:xfrm>
            <a:off x="7493000" y="2133601"/>
            <a:ext cx="762000" cy="242236"/>
          </a:xfrm>
          <a:prstGeom prst="ellipse">
            <a:avLst/>
          </a:prstGeom>
          <a:noFill/>
          <a:ln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C60811E-62AC-E31B-471D-3138E9327B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" y="3834870"/>
            <a:ext cx="4495800" cy="297366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670A2FA-0FB7-708D-C349-323002EE3C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7883" y="3834870"/>
            <a:ext cx="4452185" cy="293810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4251080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BA36A0-EC0E-740D-8179-947E296C7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901FFC-64B0-FADF-03A6-A1276A588BBC}"/>
              </a:ext>
            </a:extLst>
          </p:cNvPr>
          <p:cNvSpPr/>
          <p:nvPr/>
        </p:nvSpPr>
        <p:spPr>
          <a:xfrm>
            <a:off x="1871547" y="45224"/>
            <a:ext cx="6510455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/>
              <a:t>WE CONDUCT 30 PART OF YTA TOOL FOR CHECK FORCE VARIATION IN SAME BALL GUIDE(BALL SIZE-5.6mm)</a:t>
            </a:r>
          </a:p>
        </p:txBody>
      </p:sp>
      <p:sp>
        <p:nvSpPr>
          <p:cNvPr id="3" name="AutoShape 5">
            <a:extLst>
              <a:ext uri="{FF2B5EF4-FFF2-40B4-BE49-F238E27FC236}">
                <a16:creationId xmlns:a16="http://schemas.microsoft.com/office/drawing/2014/main" id="{1A03655A-100A-848C-B707-26D8C71049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" y="183102"/>
            <a:ext cx="1871547" cy="484620"/>
          </a:xfrm>
          <a:prstGeom prst="chevron">
            <a:avLst>
              <a:gd name="adj" fmla="val 10000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1600" b="1" dirty="0">
                <a:solidFill>
                  <a:srgbClr val="000000"/>
                </a:solidFill>
                <a:latin typeface="Verdana" pitchFamily="34" charset="0"/>
              </a:rPr>
              <a:t>     MEASURE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28F090B-8095-A52C-17A7-E5B86DAD8B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1021304"/>
            <a:ext cx="8915400" cy="5791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2557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1B1409-4566-0ED7-D76D-A6A4A41D4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F098E04-C76B-5671-8C7A-FCCE84A0FD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59" y="757240"/>
            <a:ext cx="9031509" cy="296377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9EC84F8-D66D-1FE6-F60D-74E37098EBD1}"/>
              </a:ext>
            </a:extLst>
          </p:cNvPr>
          <p:cNvSpPr/>
          <p:nvPr/>
        </p:nvSpPr>
        <p:spPr>
          <a:xfrm>
            <a:off x="2057400" y="85023"/>
            <a:ext cx="57150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YTA RAIL FORCE DATA AT 5.6 MM BALL GUIDE</a:t>
            </a:r>
          </a:p>
        </p:txBody>
      </p:sp>
      <p:sp>
        <p:nvSpPr>
          <p:cNvPr id="4" name="AutoShape 5">
            <a:extLst>
              <a:ext uri="{FF2B5EF4-FFF2-40B4-BE49-F238E27FC236}">
                <a16:creationId xmlns:a16="http://schemas.microsoft.com/office/drawing/2014/main" id="{3DB6CC88-9328-DEEA-5EB0-906E7069CE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54" y="152401"/>
            <a:ext cx="1871547" cy="484620"/>
          </a:xfrm>
          <a:prstGeom prst="chevron">
            <a:avLst>
              <a:gd name="adj" fmla="val 10000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1600" b="1" dirty="0">
                <a:solidFill>
                  <a:srgbClr val="000000"/>
                </a:solidFill>
                <a:latin typeface="Verdana" pitchFamily="34" charset="0"/>
              </a:rPr>
              <a:t>     MEASURE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8CABA2C-7EF6-6C4D-8056-AB597D971946}"/>
              </a:ext>
            </a:extLst>
          </p:cNvPr>
          <p:cNvSpPr/>
          <p:nvPr/>
        </p:nvSpPr>
        <p:spPr>
          <a:xfrm>
            <a:off x="7493000" y="2150443"/>
            <a:ext cx="762000" cy="242236"/>
          </a:xfrm>
          <a:prstGeom prst="ellipse">
            <a:avLst/>
          </a:prstGeom>
          <a:noFill/>
          <a:ln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Oval Callout 10">
            <a:extLst>
              <a:ext uri="{FF2B5EF4-FFF2-40B4-BE49-F238E27FC236}">
                <a16:creationId xmlns:a16="http://schemas.microsoft.com/office/drawing/2014/main" id="{7E66E4F1-E35F-EF99-54A9-DEA9E40FD276}"/>
              </a:ext>
            </a:extLst>
          </p:cNvPr>
          <p:cNvSpPr/>
          <p:nvPr/>
        </p:nvSpPr>
        <p:spPr>
          <a:xfrm>
            <a:off x="7467602" y="2667000"/>
            <a:ext cx="1132843" cy="838200"/>
          </a:xfrm>
          <a:prstGeom prst="wedgeEllipseCallout">
            <a:avLst>
              <a:gd name="adj1" fmla="val -18207"/>
              <a:gd name="adj2" fmla="val -83249"/>
            </a:avLst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Cpk value is 2.27 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5132A98-1ECF-087D-BCA4-1740203B7A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8200" y="3834871"/>
            <a:ext cx="4431867" cy="29637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3A02DEF-9BE5-2893-229B-B0C077BBAF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60" y="3834867"/>
            <a:ext cx="4523443" cy="296377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679622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D23AB7-928B-4C2E-BCBD-B68C1B201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C9317B96-6A46-B3DC-4FDF-719CB40AC7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83" y="762000"/>
            <a:ext cx="8998583" cy="28956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BCA53B8-F23B-4F48-F0D6-9607605DCDAF}"/>
              </a:ext>
            </a:extLst>
          </p:cNvPr>
          <p:cNvSpPr/>
          <p:nvPr/>
        </p:nvSpPr>
        <p:spPr>
          <a:xfrm>
            <a:off x="2057400" y="85023"/>
            <a:ext cx="61976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COMBINED FORCE DATA OF ALL RAIL IN 5.6 MM BALL GUIDE</a:t>
            </a:r>
          </a:p>
        </p:txBody>
      </p:sp>
      <p:sp>
        <p:nvSpPr>
          <p:cNvPr id="4" name="AutoShape 5">
            <a:extLst>
              <a:ext uri="{FF2B5EF4-FFF2-40B4-BE49-F238E27FC236}">
                <a16:creationId xmlns:a16="http://schemas.microsoft.com/office/drawing/2014/main" id="{3C3B2F75-355B-7583-CDE1-9227028FBA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54" y="152401"/>
            <a:ext cx="1871547" cy="484620"/>
          </a:xfrm>
          <a:prstGeom prst="chevron">
            <a:avLst>
              <a:gd name="adj" fmla="val 10000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1600" b="1" dirty="0">
                <a:solidFill>
                  <a:srgbClr val="000000"/>
                </a:solidFill>
                <a:latin typeface="Verdana" pitchFamily="34" charset="0"/>
              </a:rPr>
              <a:t>     MEASURE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8C79DFD-5A8C-8B2B-05BE-F17C0E96F46B}"/>
              </a:ext>
            </a:extLst>
          </p:cNvPr>
          <p:cNvSpPr/>
          <p:nvPr/>
        </p:nvSpPr>
        <p:spPr>
          <a:xfrm>
            <a:off x="7688579" y="2133601"/>
            <a:ext cx="762000" cy="242236"/>
          </a:xfrm>
          <a:prstGeom prst="ellipse">
            <a:avLst/>
          </a:prstGeom>
          <a:noFill/>
          <a:ln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Oval Callout 10">
            <a:extLst>
              <a:ext uri="{FF2B5EF4-FFF2-40B4-BE49-F238E27FC236}">
                <a16:creationId xmlns:a16="http://schemas.microsoft.com/office/drawing/2014/main" id="{960A36AC-06E4-1A84-EA6E-E526F49B1CA5}"/>
              </a:ext>
            </a:extLst>
          </p:cNvPr>
          <p:cNvSpPr/>
          <p:nvPr/>
        </p:nvSpPr>
        <p:spPr>
          <a:xfrm>
            <a:off x="7929678" y="2667000"/>
            <a:ext cx="1132843" cy="838200"/>
          </a:xfrm>
          <a:prstGeom prst="wedgeEllipseCallout">
            <a:avLst>
              <a:gd name="adj1" fmla="val -18207"/>
              <a:gd name="adj2" fmla="val -83249"/>
            </a:avLst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Cpk value is 2.29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D2BDB29-D0A3-03DE-1FEA-293B73C11D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76" y="3790875"/>
            <a:ext cx="4381467" cy="298210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4F3A49D-231C-1BAB-B527-AD9B00F682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8600" y="3790875"/>
            <a:ext cx="4381467" cy="298210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1907937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32404C73-EB6B-584B-EDF3-3D28D12C6D2B}"/>
              </a:ext>
            </a:extLst>
          </p:cNvPr>
          <p:cNvCxnSpPr>
            <a:cxnSpLocks/>
            <a:endCxn id="50" idx="0"/>
          </p:cNvCxnSpPr>
          <p:nvPr/>
        </p:nvCxnSpPr>
        <p:spPr>
          <a:xfrm>
            <a:off x="5526952" y="1939400"/>
            <a:ext cx="0" cy="26781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16A03FAD-66E5-92BE-E3DE-AB7945755836}"/>
              </a:ext>
            </a:extLst>
          </p:cNvPr>
          <p:cNvGrpSpPr/>
          <p:nvPr/>
        </p:nvGrpSpPr>
        <p:grpSpPr>
          <a:xfrm>
            <a:off x="381002" y="685800"/>
            <a:ext cx="8541643" cy="3015632"/>
            <a:chOff x="945903" y="3019980"/>
            <a:chExt cx="8541643" cy="3015632"/>
          </a:xfrm>
        </p:grpSpPr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203E6753-F57C-DADE-C6AD-2B3AB2864904}"/>
                </a:ext>
              </a:extLst>
            </p:cNvPr>
            <p:cNvCxnSpPr>
              <a:cxnSpLocks/>
            </p:cNvCxnSpPr>
            <p:nvPr/>
          </p:nvCxnSpPr>
          <p:spPr>
            <a:xfrm>
              <a:off x="4117886" y="4240756"/>
              <a:ext cx="11856" cy="25492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0E6E2543-EBB7-B92D-384E-B48B8B29F7D5}"/>
                </a:ext>
              </a:extLst>
            </p:cNvPr>
            <p:cNvGrpSpPr/>
            <p:nvPr/>
          </p:nvGrpSpPr>
          <p:grpSpPr>
            <a:xfrm>
              <a:off x="945903" y="3019980"/>
              <a:ext cx="8541643" cy="3015632"/>
              <a:chOff x="945903" y="3019980"/>
              <a:chExt cx="8541643" cy="3015632"/>
            </a:xfrm>
          </p:grpSpPr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0482646D-CD5B-D37C-DA21-005B355DB12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63939" y="3367880"/>
                <a:ext cx="0" cy="18125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1" name="Straight Arrow Connector 30">
                <a:extLst>
                  <a:ext uri="{FF2B5EF4-FFF2-40B4-BE49-F238E27FC236}">
                    <a16:creationId xmlns:a16="http://schemas.microsoft.com/office/drawing/2014/main" id="{DF3554A8-4C49-A7E8-38C4-9A4C829617C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49000" y="3571614"/>
                <a:ext cx="0" cy="18900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B213FE15-5DE0-FE06-2B07-27D642A16EB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58000" y="3571614"/>
                <a:ext cx="0" cy="21600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22C8B036-6BCE-36A4-B2E5-D2FFE315BFE9}"/>
                  </a:ext>
                </a:extLst>
              </p:cNvPr>
              <p:cNvGrpSpPr/>
              <p:nvPr/>
            </p:nvGrpSpPr>
            <p:grpSpPr>
              <a:xfrm>
                <a:off x="945903" y="3019980"/>
                <a:ext cx="8541643" cy="3015632"/>
                <a:chOff x="818307" y="2722111"/>
                <a:chExt cx="8541643" cy="3015632"/>
              </a:xfrm>
            </p:grpSpPr>
            <p:cxnSp>
              <p:nvCxnSpPr>
                <p:cNvPr id="95" name="Straight Connector 94">
                  <a:extLst>
                    <a:ext uri="{FF2B5EF4-FFF2-40B4-BE49-F238E27FC236}">
                      <a16:creationId xmlns:a16="http://schemas.microsoft.com/office/drawing/2014/main" id="{AEE4B110-0FC5-1A3A-0B19-9A561CAC697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291212" y="3761426"/>
                  <a:ext cx="0" cy="189000"/>
                </a:xfrm>
                <a:prstGeom prst="line">
                  <a:avLst/>
                </a:prstGeom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7" name="Group 6">
                  <a:extLst>
                    <a:ext uri="{FF2B5EF4-FFF2-40B4-BE49-F238E27FC236}">
                      <a16:creationId xmlns:a16="http://schemas.microsoft.com/office/drawing/2014/main" id="{E340FE26-2716-C591-5727-CD7023F5F319}"/>
                    </a:ext>
                  </a:extLst>
                </p:cNvPr>
                <p:cNvGrpSpPr/>
                <p:nvPr/>
              </p:nvGrpSpPr>
              <p:grpSpPr>
                <a:xfrm>
                  <a:off x="818307" y="2722111"/>
                  <a:ext cx="8541643" cy="3015632"/>
                  <a:chOff x="969910" y="1280870"/>
                  <a:chExt cx="8541643" cy="3015632"/>
                </a:xfrm>
              </p:grpSpPr>
              <p:cxnSp>
                <p:nvCxnSpPr>
                  <p:cNvPr id="38" name="Straight Arrow Connector 37">
                    <a:extLst>
                      <a:ext uri="{FF2B5EF4-FFF2-40B4-BE49-F238E27FC236}">
                        <a16:creationId xmlns:a16="http://schemas.microsoft.com/office/drawing/2014/main" id="{2903DB73-4865-E979-9D5A-9DA148FEA07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807319" y="2515358"/>
                    <a:ext cx="0" cy="243000"/>
                  </a:xfrm>
                  <a:prstGeom prst="straightConnector1">
                    <a:avLst/>
                  </a:prstGeom>
                  <a:ln w="19050"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" name="Straight Arrow Connector 38">
                    <a:extLst>
                      <a:ext uri="{FF2B5EF4-FFF2-40B4-BE49-F238E27FC236}">
                        <a16:creationId xmlns:a16="http://schemas.microsoft.com/office/drawing/2014/main" id="{BEFBC53D-9842-1581-8DD7-093BEB86F29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255611" y="2515358"/>
                    <a:ext cx="0" cy="243000"/>
                  </a:xfrm>
                  <a:prstGeom prst="straightConnector1">
                    <a:avLst/>
                  </a:prstGeom>
                  <a:ln w="19050"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5" name="Straight Arrow Connector 44">
                    <a:extLst>
                      <a:ext uri="{FF2B5EF4-FFF2-40B4-BE49-F238E27FC236}">
                        <a16:creationId xmlns:a16="http://schemas.microsoft.com/office/drawing/2014/main" id="{4580AE12-35F7-4B2B-48C6-E29312D1F8E8}"/>
                      </a:ext>
                    </a:extLst>
                  </p:cNvPr>
                  <p:cNvCxnSpPr>
                    <a:cxnSpLocks/>
                    <a:endCxn id="52" idx="0"/>
                  </p:cNvCxnSpPr>
                  <p:nvPr/>
                </p:nvCxnSpPr>
                <p:spPr>
                  <a:xfrm>
                    <a:off x="7692105" y="2544326"/>
                    <a:ext cx="0" cy="257952"/>
                  </a:xfrm>
                  <a:prstGeom prst="straightConnector1">
                    <a:avLst/>
                  </a:prstGeom>
                  <a:ln w="19050"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9" name="Straight Arrow Connector 48">
                    <a:extLst>
                      <a:ext uri="{FF2B5EF4-FFF2-40B4-BE49-F238E27FC236}">
                        <a16:creationId xmlns:a16="http://schemas.microsoft.com/office/drawing/2014/main" id="{C6F303CC-5EE3-4126-3E96-CAE8B66B359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8959889" y="2544326"/>
                    <a:ext cx="0" cy="288079"/>
                  </a:xfrm>
                  <a:prstGeom prst="straightConnector1">
                    <a:avLst/>
                  </a:prstGeom>
                  <a:ln w="19050"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5" name="Group 4">
                    <a:extLst>
                      <a:ext uri="{FF2B5EF4-FFF2-40B4-BE49-F238E27FC236}">
                        <a16:creationId xmlns:a16="http://schemas.microsoft.com/office/drawing/2014/main" id="{0B637B50-6AD5-B237-ABF1-B8E535E50435}"/>
                      </a:ext>
                    </a:extLst>
                  </p:cNvPr>
                  <p:cNvGrpSpPr/>
                  <p:nvPr/>
                </p:nvGrpSpPr>
                <p:grpSpPr>
                  <a:xfrm>
                    <a:off x="969910" y="1280870"/>
                    <a:ext cx="8541643" cy="3015632"/>
                    <a:chOff x="969910" y="1280870"/>
                    <a:chExt cx="8541643" cy="3015632"/>
                  </a:xfrm>
                </p:grpSpPr>
                <p:sp>
                  <p:nvSpPr>
                    <p:cNvPr id="33" name="Rectangle 32">
                      <a:extLst>
                        <a:ext uri="{FF2B5EF4-FFF2-40B4-BE49-F238E27FC236}">
                          <a16:creationId xmlns:a16="http://schemas.microsoft.com/office/drawing/2014/main" id="{616ACF5B-DAE7-4C7B-E8A7-D470F8D0607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9910" y="2769128"/>
                      <a:ext cx="1229302" cy="1051449"/>
                    </a:xfrm>
                    <a:prstGeom prst="rect">
                      <a:avLst/>
                    </a:prstGeom>
                    <a:solidFill>
                      <a:srgbClr val="FFC000"/>
                    </a:solidFill>
                    <a:ln w="28575">
                      <a:solidFill>
                        <a:srgbClr val="FFC000"/>
                      </a:solidFill>
                      <a:prstDash val="sysDot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r>
                        <a:rPr lang="en-US" sz="1200" b="1" u="sng" dirty="0">
                          <a:solidFill>
                            <a:schemeClr val="tx1"/>
                          </a:solidFill>
                        </a:rPr>
                        <a:t>BOP &amp; Child Parts</a:t>
                      </a:r>
                    </a:p>
                    <a:p>
                      <a:r>
                        <a:rPr lang="en-US" sz="975" b="1" dirty="0">
                          <a:solidFill>
                            <a:schemeClr val="tx1"/>
                          </a:solidFill>
                        </a:rPr>
                        <a:t>1 Guide </a:t>
                      </a:r>
                      <a:endParaRPr lang="en-US" sz="975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sz="975" b="1" dirty="0">
                          <a:solidFill>
                            <a:schemeClr val="tx1"/>
                          </a:solidFill>
                        </a:rPr>
                        <a:t>2 Lower Rail  </a:t>
                      </a:r>
                      <a:endParaRPr lang="en-US" sz="975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sz="975" b="1" dirty="0">
                          <a:solidFill>
                            <a:schemeClr val="tx1"/>
                          </a:solidFill>
                        </a:rPr>
                        <a:t>3 Upper Rail  </a:t>
                      </a:r>
                      <a:br>
                        <a:rPr lang="en-US" sz="1051" b="1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125" u="sng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en-IN" sz="1125" u="sng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24" name="Rectangle 23">
                      <a:extLst>
                        <a:ext uri="{FF2B5EF4-FFF2-40B4-BE49-F238E27FC236}">
                          <a16:creationId xmlns:a16="http://schemas.microsoft.com/office/drawing/2014/main" id="{6385671E-7BCB-95BC-D208-84C92027436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42815" y="1280870"/>
                      <a:ext cx="4026258" cy="312650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b="1" u="sng" dirty="0">
                          <a:solidFill>
                            <a:srgbClr val="FFFF00"/>
                          </a:solidFill>
                        </a:rPr>
                        <a:t>Key Process Input Variables (KPIV)</a:t>
                      </a:r>
                      <a:endParaRPr lang="en-IN" b="1" u="sng" dirty="0">
                        <a:solidFill>
                          <a:srgbClr val="FFFF00"/>
                        </a:solidFill>
                      </a:endParaRPr>
                    </a:p>
                  </p:txBody>
                </p:sp>
                <p:sp>
                  <p:nvSpPr>
                    <p:cNvPr id="26" name="Rectangle 25">
                      <a:extLst>
                        <a:ext uri="{FF2B5EF4-FFF2-40B4-BE49-F238E27FC236}">
                          <a16:creationId xmlns:a16="http://schemas.microsoft.com/office/drawing/2014/main" id="{C9DED5A4-ED66-C627-3551-935EE4141AF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832294" y="2049713"/>
                      <a:ext cx="1134000" cy="276645"/>
                    </a:xfrm>
                    <a:prstGeom prst="rect">
                      <a:avLst/>
                    </a:prstGeom>
                    <a:solidFill>
                      <a:srgbClr val="FFC000"/>
                    </a:solidFill>
                    <a:ln w="28575">
                      <a:solidFill>
                        <a:srgbClr val="4BC3FF"/>
                      </a:solidFill>
                      <a:prstDash val="sysDot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351" b="1" u="sng" dirty="0">
                          <a:solidFill>
                            <a:schemeClr val="tx1"/>
                          </a:solidFill>
                        </a:rPr>
                        <a:t>INCOMING </a:t>
                      </a:r>
                      <a:endParaRPr lang="en-IN" sz="1351" b="1" u="sng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27" name="Rectangle 26">
                      <a:extLst>
                        <a:ext uri="{FF2B5EF4-FFF2-40B4-BE49-F238E27FC236}">
                          <a16:creationId xmlns:a16="http://schemas.microsoft.com/office/drawing/2014/main" id="{1D2A14F9-F5C7-36DB-B6F1-ED87BA169BF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341583" y="2002987"/>
                      <a:ext cx="1944229" cy="381932"/>
                    </a:xfrm>
                    <a:prstGeom prst="rect">
                      <a:avLst/>
                    </a:prstGeom>
                    <a:solidFill>
                      <a:srgbClr val="00B050"/>
                    </a:solidFill>
                    <a:ln w="44450" cap="rnd">
                      <a:prstDash val="sysDot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351" b="1" u="sng" dirty="0">
                          <a:solidFill>
                            <a:srgbClr val="FFFF00"/>
                          </a:solidFill>
                        </a:rPr>
                        <a:t>PROCESS PARAMETERS</a:t>
                      </a:r>
                      <a:endParaRPr lang="en-IN" sz="1351" b="1" u="sng" dirty="0">
                        <a:solidFill>
                          <a:srgbClr val="FFFF00"/>
                        </a:solidFill>
                      </a:endParaRPr>
                    </a:p>
                  </p:txBody>
                </p:sp>
                <p:cxnSp>
                  <p:nvCxnSpPr>
                    <p:cNvPr id="30" name="Straight Connector 29">
                      <a:extLst>
                        <a:ext uri="{FF2B5EF4-FFF2-40B4-BE49-F238E27FC236}">
                          <a16:creationId xmlns:a16="http://schemas.microsoft.com/office/drawing/2014/main" id="{A34FB5EA-0DC8-7FC6-D7DE-CF7B2F74DBE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2373401" y="1832504"/>
                      <a:ext cx="4509000" cy="0"/>
                    </a:xfrm>
                    <a:prstGeom prst="line">
                      <a:avLst/>
                    </a:prstGeom>
                  </p:spPr>
                  <p:style>
                    <a:lnRef idx="3">
                      <a:schemeClr val="dk1"/>
                    </a:lnRef>
                    <a:fillRef idx="0">
                      <a:schemeClr val="dk1"/>
                    </a:fillRef>
                    <a:effectRef idx="2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34" name="Rectangle 33">
                      <a:extLst>
                        <a:ext uri="{FF2B5EF4-FFF2-40B4-BE49-F238E27FC236}">
                          <a16:creationId xmlns:a16="http://schemas.microsoft.com/office/drawing/2014/main" id="{7895D013-F431-9962-283F-A48995D100A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237693" y="2758357"/>
                      <a:ext cx="1270940" cy="1494223"/>
                    </a:xfrm>
                    <a:prstGeom prst="rect">
                      <a:avLst/>
                    </a:prstGeom>
                    <a:solidFill>
                      <a:srgbClr val="FFC000"/>
                    </a:solidFill>
                    <a:ln w="28575">
                      <a:solidFill>
                        <a:srgbClr val="4BC3FF"/>
                      </a:solidFill>
                      <a:prstDash val="sysDot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t"/>
                    <a:lstStyle/>
                    <a:p>
                      <a:r>
                        <a:rPr lang="en-US" sz="1200" b="1" u="sng" dirty="0">
                          <a:solidFill>
                            <a:schemeClr val="tx1"/>
                          </a:solidFill>
                        </a:rPr>
                        <a:t>Previous Process Output</a:t>
                      </a:r>
                    </a:p>
                    <a:p>
                      <a:r>
                        <a:rPr lang="en-US" sz="1125" dirty="0">
                          <a:solidFill>
                            <a:schemeClr val="tx1"/>
                          </a:solidFill>
                        </a:rPr>
                        <a:t>1. After welding upper rail deformation</a:t>
                      </a:r>
                    </a:p>
                    <a:p>
                      <a:r>
                        <a:rPr lang="en-US" sz="1125" dirty="0">
                          <a:solidFill>
                            <a:schemeClr val="tx1"/>
                          </a:solidFill>
                        </a:rPr>
                        <a:t>2. After Tab bending lower rail deformation</a:t>
                      </a:r>
                    </a:p>
                  </p:txBody>
                </p:sp>
                <p:cxnSp>
                  <p:nvCxnSpPr>
                    <p:cNvPr id="37" name="Straight Connector 36">
                      <a:extLst>
                        <a:ext uri="{FF2B5EF4-FFF2-40B4-BE49-F238E27FC236}">
                          <a16:creationId xmlns:a16="http://schemas.microsoft.com/office/drawing/2014/main" id="{99C5F1F0-622F-C3BD-A321-A2713098270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807319" y="2515358"/>
                      <a:ext cx="1458000" cy="0"/>
                    </a:xfrm>
                    <a:prstGeom prst="line">
                      <a:avLst/>
                    </a:prstGeom>
                  </p:spPr>
                  <p:style>
                    <a:lnRef idx="3">
                      <a:schemeClr val="dk1"/>
                    </a:lnRef>
                    <a:fillRef idx="0">
                      <a:schemeClr val="dk1"/>
                    </a:fillRef>
                    <a:effectRef idx="2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0" name="Straight Connector 39">
                      <a:extLst>
                        <a:ext uri="{FF2B5EF4-FFF2-40B4-BE49-F238E27FC236}">
                          <a16:creationId xmlns:a16="http://schemas.microsoft.com/office/drawing/2014/main" id="{BA6AC6AA-8AE1-8DC9-CBDB-7D9F16C09DF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132186" y="2501646"/>
                      <a:ext cx="4818478" cy="21529"/>
                    </a:xfrm>
                    <a:prstGeom prst="line">
                      <a:avLst/>
                    </a:prstGeom>
                  </p:spPr>
                  <p:style>
                    <a:lnRef idx="3">
                      <a:schemeClr val="dk1"/>
                    </a:lnRef>
                    <a:fillRef idx="0">
                      <a:schemeClr val="dk1"/>
                    </a:fillRef>
                    <a:effectRef idx="2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43" name="Rectangle 42">
                      <a:extLst>
                        <a:ext uri="{FF2B5EF4-FFF2-40B4-BE49-F238E27FC236}">
                          <a16:creationId xmlns:a16="http://schemas.microsoft.com/office/drawing/2014/main" id="{6F94F4E3-A28F-9D4A-AEC5-1F8F86ECC73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05740" y="2774143"/>
                      <a:ext cx="1654174" cy="1494224"/>
                    </a:xfrm>
                    <a:prstGeom prst="rect">
                      <a:avLst/>
                    </a:prstGeom>
                    <a:solidFill>
                      <a:srgbClr val="00B050"/>
                    </a:solidFill>
                    <a:ln w="44450" cap="rnd">
                      <a:prstDash val="sysDot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endParaRPr lang="en-US" sz="1200" b="1" u="sng" dirty="0">
                        <a:solidFill>
                          <a:schemeClr val="tx1"/>
                        </a:solidFill>
                      </a:endParaRPr>
                    </a:p>
                    <a:p>
                      <a:endParaRPr lang="en-US" sz="1200" b="1" u="sng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sz="1200" b="1" u="sng" dirty="0">
                          <a:solidFill>
                            <a:srgbClr val="FFFF00"/>
                          </a:solidFill>
                        </a:rPr>
                        <a:t>Machine</a:t>
                      </a:r>
                    </a:p>
                    <a:p>
                      <a:r>
                        <a:rPr lang="en-US" sz="1200" dirty="0">
                          <a:solidFill>
                            <a:srgbClr val="FFFF00"/>
                          </a:solidFill>
                        </a:rPr>
                        <a:t>1</a:t>
                      </a:r>
                      <a:r>
                        <a:rPr lang="en-US" sz="1125" dirty="0">
                          <a:solidFill>
                            <a:srgbClr val="FFFF00"/>
                          </a:solidFill>
                        </a:rPr>
                        <a:t>. Rod cylinder Air pressure more</a:t>
                      </a:r>
                    </a:p>
                    <a:p>
                      <a:r>
                        <a:rPr lang="en-US" sz="1125" dirty="0">
                          <a:solidFill>
                            <a:srgbClr val="FFFF00"/>
                          </a:solidFill>
                        </a:rPr>
                        <a:t>2 . Rod alignment not ok.</a:t>
                      </a:r>
                    </a:p>
                    <a:p>
                      <a:r>
                        <a:rPr lang="en-US" sz="1125" dirty="0">
                          <a:solidFill>
                            <a:srgbClr val="FFFF00"/>
                          </a:solidFill>
                        </a:rPr>
                        <a:t>3. Rod surface wear-out</a:t>
                      </a:r>
                    </a:p>
                    <a:p>
                      <a:r>
                        <a:rPr lang="en-US" sz="1125" dirty="0">
                          <a:solidFill>
                            <a:srgbClr val="FFFF00"/>
                          </a:solidFill>
                        </a:rPr>
                        <a:t>4. Guide holding  clamp air pressure  more/less.</a:t>
                      </a:r>
                    </a:p>
                    <a:p>
                      <a:endParaRPr lang="en-US" sz="1125" dirty="0">
                        <a:solidFill>
                          <a:schemeClr val="tx1"/>
                        </a:solidFill>
                      </a:endParaRPr>
                    </a:p>
                    <a:p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  <a:p>
                      <a:endParaRPr lang="en-IN" sz="1351" b="1" u="sng" dirty="0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50" name="Rectangle 49">
                      <a:extLst>
                        <a:ext uri="{FF2B5EF4-FFF2-40B4-BE49-F238E27FC236}">
                          <a16:creationId xmlns:a16="http://schemas.microsoft.com/office/drawing/2014/main" id="{7E220B12-3060-9C90-7336-E43CABC2077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349717" y="2802278"/>
                      <a:ext cx="1532290" cy="1494224"/>
                    </a:xfrm>
                    <a:prstGeom prst="rect">
                      <a:avLst/>
                    </a:prstGeom>
                    <a:solidFill>
                      <a:srgbClr val="00B050"/>
                    </a:solidFill>
                    <a:ln w="57150" cap="rnd">
                      <a:solidFill>
                        <a:schemeClr val="accent1">
                          <a:lumMod val="75000"/>
                        </a:schemeClr>
                      </a:solidFill>
                      <a:prstDash val="sysDot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endParaRPr lang="en-US" sz="1200" b="1" u="sng" dirty="0">
                        <a:solidFill>
                          <a:srgbClr val="FFFF00"/>
                        </a:solidFill>
                      </a:endParaRPr>
                    </a:p>
                    <a:p>
                      <a:endParaRPr lang="en-US" sz="1200" b="1" u="sng" dirty="0">
                        <a:solidFill>
                          <a:srgbClr val="FFFF00"/>
                        </a:solidFill>
                      </a:endParaRPr>
                    </a:p>
                    <a:p>
                      <a:r>
                        <a:rPr lang="en-US" sz="1200" b="1" u="sng" dirty="0">
                          <a:solidFill>
                            <a:srgbClr val="FFFF00"/>
                          </a:solidFill>
                        </a:rPr>
                        <a:t>Tools/Jig/Fixture</a:t>
                      </a:r>
                      <a:endParaRPr lang="en-US" sz="1125" dirty="0">
                        <a:solidFill>
                          <a:srgbClr val="FFFF00"/>
                        </a:solidFill>
                      </a:endParaRPr>
                    </a:p>
                    <a:p>
                      <a:r>
                        <a:rPr lang="en-US" sz="1051" dirty="0">
                          <a:solidFill>
                            <a:srgbClr val="FFFF00"/>
                          </a:solidFill>
                        </a:rPr>
                        <a:t>1. Ball guide holding clamp loose.</a:t>
                      </a:r>
                    </a:p>
                    <a:p>
                      <a:r>
                        <a:rPr lang="en-US" sz="1051" dirty="0">
                          <a:solidFill>
                            <a:srgbClr val="FFFF00"/>
                          </a:solidFill>
                        </a:rPr>
                        <a:t>2. Ball guide holding clamp magnet weak.</a:t>
                      </a:r>
                    </a:p>
                    <a:p>
                      <a:r>
                        <a:rPr lang="en-US" sz="1051" dirty="0">
                          <a:solidFill>
                            <a:srgbClr val="FFFF00"/>
                          </a:solidFill>
                        </a:rPr>
                        <a:t>3. Upper rail holding block wear-out</a:t>
                      </a:r>
                    </a:p>
                    <a:p>
                      <a:r>
                        <a:rPr lang="en-US" sz="1051" dirty="0">
                          <a:solidFill>
                            <a:srgbClr val="FFFF00"/>
                          </a:solidFill>
                        </a:rPr>
                        <a:t>4. Greasing not proper on jig sliding area</a:t>
                      </a:r>
                    </a:p>
                    <a:p>
                      <a:endParaRPr lang="en-US" sz="1125" dirty="0"/>
                    </a:p>
                    <a:p>
                      <a:endParaRPr lang="en-IN" sz="1351" b="1" u="sng" dirty="0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51" name="Rectangle 50">
                      <a:extLst>
                        <a:ext uri="{FF2B5EF4-FFF2-40B4-BE49-F238E27FC236}">
                          <a16:creationId xmlns:a16="http://schemas.microsoft.com/office/drawing/2014/main" id="{979E9EC2-8EE6-417A-FF17-868259ACE70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88043" y="2834431"/>
                      <a:ext cx="1023510" cy="375154"/>
                    </a:xfrm>
                    <a:prstGeom prst="rect">
                      <a:avLst/>
                    </a:prstGeom>
                    <a:solidFill>
                      <a:srgbClr val="00B050"/>
                    </a:solidFill>
                    <a:ln w="44450" cap="rnd">
                      <a:prstDash val="sysDot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r>
                        <a:rPr lang="en-US" sz="1200" b="1" u="sng" dirty="0">
                          <a:solidFill>
                            <a:srgbClr val="FFFF00"/>
                          </a:solidFill>
                        </a:rPr>
                        <a:t>Environment</a:t>
                      </a:r>
                    </a:p>
                    <a:p>
                      <a:pPr algn="ctr"/>
                      <a:r>
                        <a:rPr lang="en-US" sz="1051" b="1" u="sng" dirty="0">
                          <a:solidFill>
                            <a:srgbClr val="FFFF00"/>
                          </a:solidFill>
                        </a:rPr>
                        <a:t>N/A</a:t>
                      </a:r>
                    </a:p>
                  </p:txBody>
                </p:sp>
                <p:sp>
                  <p:nvSpPr>
                    <p:cNvPr id="52" name="Rectangle 51">
                      <a:extLst>
                        <a:ext uri="{FF2B5EF4-FFF2-40B4-BE49-F238E27FC236}">
                          <a16:creationId xmlns:a16="http://schemas.microsoft.com/office/drawing/2014/main" id="{7D61FCFB-AB05-ABEC-D4E9-C91F927774B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948096" y="2802278"/>
                      <a:ext cx="1488017" cy="1445288"/>
                    </a:xfrm>
                    <a:prstGeom prst="rect">
                      <a:avLst/>
                    </a:prstGeom>
                    <a:solidFill>
                      <a:srgbClr val="00B050"/>
                    </a:solidFill>
                    <a:ln w="44450" cap="rnd">
                      <a:prstDash val="sysDot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endParaRPr lang="en-US" sz="1200" b="1" u="sng" dirty="0">
                        <a:solidFill>
                          <a:srgbClr val="FFFF00"/>
                        </a:solidFill>
                      </a:endParaRPr>
                    </a:p>
                    <a:p>
                      <a:r>
                        <a:rPr lang="en-US" sz="1200" b="1" u="sng" dirty="0">
                          <a:solidFill>
                            <a:srgbClr val="FFFF00"/>
                          </a:solidFill>
                        </a:rPr>
                        <a:t>Human Variation</a:t>
                      </a:r>
                    </a:p>
                    <a:p>
                      <a:pPr marL="257168" indent="-257168">
                        <a:buAutoNum type="arabicPeriod"/>
                      </a:pPr>
                      <a:r>
                        <a:rPr lang="en-US" sz="1051" dirty="0">
                          <a:solidFill>
                            <a:srgbClr val="FFFF00"/>
                          </a:solidFill>
                        </a:rPr>
                        <a:t>Area sensor fault during guide interstation</a:t>
                      </a:r>
                    </a:p>
                    <a:p>
                      <a:pPr marL="257168" indent="-257168">
                        <a:buAutoNum type="arabicPeriod"/>
                      </a:pPr>
                      <a:r>
                        <a:rPr lang="en-US" sz="1051" dirty="0">
                          <a:solidFill>
                            <a:srgbClr val="FFFF00"/>
                          </a:solidFill>
                        </a:rPr>
                        <a:t>Guide Assy not properly placing on the clamp</a:t>
                      </a:r>
                    </a:p>
                    <a:p>
                      <a:endParaRPr lang="en-US" sz="1200" dirty="0">
                        <a:solidFill>
                          <a:srgbClr val="FFFF00"/>
                        </a:solidFill>
                      </a:endParaRPr>
                    </a:p>
                    <a:p>
                      <a:pPr algn="ctr"/>
                      <a:endParaRPr lang="en-IN" sz="1351" b="1" u="sng" dirty="0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</p:grpSp>
          </p:grpSp>
        </p:grp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DA493E47-16BB-FC7A-9BF2-4FCB3B98D8E8}"/>
              </a:ext>
            </a:extLst>
          </p:cNvPr>
          <p:cNvSpPr/>
          <p:nvPr/>
        </p:nvSpPr>
        <p:spPr>
          <a:xfrm>
            <a:off x="2133600" y="71895"/>
            <a:ext cx="4724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PROCESS MAPPING</a:t>
            </a:r>
          </a:p>
        </p:txBody>
      </p:sp>
      <p:sp>
        <p:nvSpPr>
          <p:cNvPr id="4" name="AutoShape 5">
            <a:extLst>
              <a:ext uri="{FF2B5EF4-FFF2-40B4-BE49-F238E27FC236}">
                <a16:creationId xmlns:a16="http://schemas.microsoft.com/office/drawing/2014/main" id="{5749ECD6-D435-B3AF-207C-3C9E513324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-7219" y="17647"/>
            <a:ext cx="1871547" cy="484620"/>
          </a:xfrm>
          <a:prstGeom prst="chevron">
            <a:avLst>
              <a:gd name="adj" fmla="val 10000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1600" b="1" dirty="0">
                <a:solidFill>
                  <a:srgbClr val="000000"/>
                </a:solidFill>
                <a:latin typeface="Verdana" pitchFamily="34" charset="0"/>
              </a:rPr>
              <a:t>     ANALYSIS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9D1467C-24BE-88F5-4931-0D5463B4A1D5}"/>
              </a:ext>
            </a:extLst>
          </p:cNvPr>
          <p:cNvSpPr/>
          <p:nvPr/>
        </p:nvSpPr>
        <p:spPr>
          <a:xfrm>
            <a:off x="3832138" y="3812918"/>
            <a:ext cx="1327329" cy="3126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u="sng" dirty="0">
                <a:solidFill>
                  <a:srgbClr val="FFFF00"/>
                </a:solidFill>
              </a:rPr>
              <a:t>PROCESS</a:t>
            </a:r>
            <a:endParaRPr lang="en-IN" b="1" u="sng" dirty="0">
              <a:solidFill>
                <a:srgbClr val="FFFF00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C51E0EB-7C28-9FD3-002D-F376200B83E2}"/>
              </a:ext>
            </a:extLst>
          </p:cNvPr>
          <p:cNvSpPr/>
          <p:nvPr/>
        </p:nvSpPr>
        <p:spPr>
          <a:xfrm>
            <a:off x="2751283" y="5958422"/>
            <a:ext cx="3938868" cy="3126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u="sng" dirty="0">
                <a:solidFill>
                  <a:srgbClr val="FFFF00"/>
                </a:solidFill>
              </a:rPr>
              <a:t>Key Process Output Variables (KPOV) </a:t>
            </a:r>
            <a:endParaRPr lang="en-IN" b="1" u="sng" dirty="0">
              <a:solidFill>
                <a:srgbClr val="FFFF00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F504876-15ED-CE72-5375-DDB26E6A2147}"/>
              </a:ext>
            </a:extLst>
          </p:cNvPr>
          <p:cNvSpPr/>
          <p:nvPr/>
        </p:nvSpPr>
        <p:spPr>
          <a:xfrm>
            <a:off x="3493198" y="6431197"/>
            <a:ext cx="2320467" cy="341529"/>
          </a:xfrm>
          <a:prstGeom prst="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1" dirty="0">
              <a:solidFill>
                <a:schemeClr val="tx1"/>
              </a:solidFill>
            </a:endParaRPr>
          </a:p>
          <a:p>
            <a:pPr algn="ctr"/>
            <a:r>
              <a:rPr lang="en-US" sz="1400" b="1" dirty="0">
                <a:solidFill>
                  <a:schemeClr val="tx1"/>
                </a:solidFill>
              </a:rPr>
              <a:t>Min. &amp; Max. sliding force </a:t>
            </a:r>
            <a:br>
              <a:rPr lang="en-US" sz="1100" b="1" dirty="0">
                <a:solidFill>
                  <a:schemeClr val="tx1"/>
                </a:solidFill>
              </a:rPr>
            </a:br>
            <a:r>
              <a:rPr lang="en-US" sz="1200" dirty="0">
                <a:solidFill>
                  <a:schemeClr val="tx1"/>
                </a:solidFill>
              </a:rPr>
              <a:t> </a:t>
            </a:r>
            <a:endParaRPr lang="en-IN" sz="1200" dirty="0">
              <a:solidFill>
                <a:schemeClr val="tx1"/>
              </a:solidFill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16D2931-8D18-BAF0-B509-283D7B53E332}"/>
              </a:ext>
            </a:extLst>
          </p:cNvPr>
          <p:cNvCxnSpPr>
            <a:cxnSpLocks/>
          </p:cNvCxnSpPr>
          <p:nvPr/>
        </p:nvCxnSpPr>
        <p:spPr>
          <a:xfrm>
            <a:off x="4572000" y="6271072"/>
            <a:ext cx="0" cy="1890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30508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CCEC9CE4-0123-E263-9926-834B292A21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0512" y="814051"/>
            <a:ext cx="4417291" cy="2976228"/>
          </a:xfrm>
          <a:prstGeom prst="rect">
            <a:avLst/>
          </a:prstGeom>
          <a:ln>
            <a:solidFill>
              <a:schemeClr val="tx2">
                <a:lumMod val="75000"/>
              </a:schemeClr>
            </a:solidFill>
          </a:ln>
        </p:spPr>
      </p:pic>
      <p:sp>
        <p:nvSpPr>
          <p:cNvPr id="2" name="Rectangle 1"/>
          <p:cNvSpPr/>
          <p:nvPr/>
        </p:nvSpPr>
        <p:spPr>
          <a:xfrm>
            <a:off x="2057400" y="93846"/>
            <a:ext cx="6477000" cy="5919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FORCE COMPRESSION OF ALL RAIL in 5.5 mm BALL GUIDE</a:t>
            </a:r>
          </a:p>
        </p:txBody>
      </p:sp>
      <p:sp>
        <p:nvSpPr>
          <p:cNvPr id="3" name="AutoShape 5"/>
          <p:cNvSpPr>
            <a:spLocks noChangeArrowheads="1"/>
          </p:cNvSpPr>
          <p:nvPr/>
        </p:nvSpPr>
        <p:spPr bwMode="auto">
          <a:xfrm>
            <a:off x="-7219" y="17647"/>
            <a:ext cx="1871547" cy="484620"/>
          </a:xfrm>
          <a:prstGeom prst="chevron">
            <a:avLst>
              <a:gd name="adj" fmla="val 10000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1600" b="1" dirty="0">
                <a:solidFill>
                  <a:srgbClr val="000000"/>
                </a:solidFill>
                <a:latin typeface="Verdana" pitchFamily="34" charset="0"/>
              </a:rPr>
              <a:t>     ANALYSIS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1F156A1-D597-2D6A-F410-38870627EE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312" y="816361"/>
            <a:ext cx="4417291" cy="2976229"/>
          </a:xfrm>
          <a:prstGeom prst="rect">
            <a:avLst/>
          </a:prstGeom>
          <a:ln>
            <a:solidFill>
              <a:schemeClr val="tx2">
                <a:lumMod val="75000"/>
              </a:schemeClr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48D8A9F-EC45-5B96-8F30-A93B190E9C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310" y="3886201"/>
            <a:ext cx="4417291" cy="2877955"/>
          </a:xfrm>
          <a:prstGeom prst="rect">
            <a:avLst/>
          </a:prstGeom>
          <a:ln>
            <a:solidFill>
              <a:schemeClr val="tx2">
                <a:lumMod val="75000"/>
              </a:schemeClr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A65C37B-642F-9E39-297F-A434DB3016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8201" y="3886201"/>
            <a:ext cx="4417291" cy="287795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7158696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3941BB-A59C-A254-12D2-0EBF72BC5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84DCD07-70CD-72F0-3C9D-4520576659A5}"/>
              </a:ext>
            </a:extLst>
          </p:cNvPr>
          <p:cNvSpPr/>
          <p:nvPr/>
        </p:nvSpPr>
        <p:spPr>
          <a:xfrm>
            <a:off x="2057400" y="93846"/>
            <a:ext cx="6477000" cy="5919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FORCE COMPRESSION OF ALL RAIL in 5.6 mm BALL GUIDE</a:t>
            </a:r>
          </a:p>
        </p:txBody>
      </p:sp>
      <p:sp>
        <p:nvSpPr>
          <p:cNvPr id="3" name="AutoShape 5">
            <a:extLst>
              <a:ext uri="{FF2B5EF4-FFF2-40B4-BE49-F238E27FC236}">
                <a16:creationId xmlns:a16="http://schemas.microsoft.com/office/drawing/2014/main" id="{EFA9E4DD-BF79-A197-553D-15CCDF9A50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-7219" y="17647"/>
            <a:ext cx="1871547" cy="484620"/>
          </a:xfrm>
          <a:prstGeom prst="chevron">
            <a:avLst>
              <a:gd name="adj" fmla="val 10000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1600" b="1" dirty="0">
                <a:solidFill>
                  <a:srgbClr val="000000"/>
                </a:solidFill>
                <a:latin typeface="Verdana" pitchFamily="34" charset="0"/>
              </a:rPr>
              <a:t>     ANALYSIS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BF826B-4852-A16A-7A39-70A656E5B7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310" y="807126"/>
            <a:ext cx="4417291" cy="298315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4C43ABC-A394-9D84-26AF-57C67C50C6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0510" y="787817"/>
            <a:ext cx="4364185" cy="300246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5565616-5F58-FFA7-F1EB-3CE8E2FA6B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000" y="3911603"/>
            <a:ext cx="4417291" cy="285255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58CA055-6333-F9AC-155B-C4F3DA39D7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0510" y="3886201"/>
            <a:ext cx="4417291" cy="287795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1354757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2578</TotalTime>
  <Words>794</Words>
  <Application>Microsoft Office PowerPoint</Application>
  <PresentationFormat>On-screen Show (4:3)</PresentationFormat>
  <Paragraphs>143</Paragraphs>
  <Slides>20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メイリオ</vt:lpstr>
      <vt:lpstr>Arial</vt:lpstr>
      <vt:lpstr>Calibri</vt:lpstr>
      <vt:lpstr>Roboto</vt:lpstr>
      <vt:lpstr>Verdana</vt:lpstr>
      <vt:lpstr>Office Theme</vt:lpstr>
      <vt:lpstr>PowerPoint Presentation</vt:lpstr>
      <vt:lpstr>MONTH WISE BALLGUIDE CONSUMPTION</vt:lpstr>
      <vt:lpstr>What :-  BALL GUIDE CONSUMPTION IS NOT MANAGE AS PER THE PLANNING  Who:-  SCM PERSON  When:-  DURING RAIL CHANGE  Where :-   SEMI AUTO MACHINE AT SEAT SLIDER ASSY. LINE  Why:- SLIDING FORCE OUT OF SPEC. (14.7 - 50.0 KN)   How :-    VARIATION IN ROLLING FRICTION BETWEEN BALL &amp; RAILS  How Much:-  BALL CONSUMPTION FLUCTUATION 9% TO 21%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sony</dc:creator>
  <cp:lastModifiedBy>Ankit Saklani</cp:lastModifiedBy>
  <cp:revision>247</cp:revision>
  <dcterms:created xsi:type="dcterms:W3CDTF">2019-02-18T08:42:24Z</dcterms:created>
  <dcterms:modified xsi:type="dcterms:W3CDTF">2025-02-27T12:51:42Z</dcterms:modified>
</cp:coreProperties>
</file>